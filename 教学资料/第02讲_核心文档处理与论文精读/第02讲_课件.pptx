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0116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核心文档处理</a:t>
            </a:r>
            <a:br/>
            <a:r>
              <a:t>与论文精读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40680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143000"/>
            <a:ext cx="80010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900" b="1">
                <a:solidFill>
                  <a:srgbClr val="1F2933"/>
                </a:solidFill>
                <a:latin typeface="Microsoft YaHei"/>
              </a:defRPr>
            </a:pPr>
            <a:r>
              <a:t>把混乱文件变成可复用科研资产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3552" y="1901952"/>
            <a:ext cx="78638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5B6770"/>
                </a:solidFill>
                <a:latin typeface="Microsoft YaHei"/>
              </a:defRPr>
            </a:pPr>
            <a:r>
              <a:t>PDF / DOCX / XLSX / PPTX / Markdown · 文件盘点 · 论文卡片 · 表格抽取 · 人工核验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盘点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4672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7824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预检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68368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3224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6376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转换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6920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51775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抽取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5471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20327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3479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卡片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74023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88879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62031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核验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42575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46120" y="4251960"/>
            <a:ext cx="8001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4251960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0712" y="4389120"/>
            <a:ext cx="7744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4818888"/>
            <a:ext cx="770839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file_inventory.xlsx、converted/*.md、paper_cards/*.md、extracted/tables/*.xlsx、manual_verification_checklist.md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这节课解决什么科研问题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394960" cy="31089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文件混乱：PDF、Word、PPT、Excel、扫描件散落在不同位置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抽取不可靠：PDF 断行、OCR 错字、表格错位、公式丢失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读完不沉淀：只有“看过了”，没有论文卡片和阅读矩阵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来源不可追踪：总结内容没有页码、表号、图号和原始文件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后续污染：错误抽取进入综述、理论、变量和写作流程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00200"/>
            <a:ext cx="4663440" cy="160020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600200"/>
            <a:ext cx="73152" cy="1600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1737360"/>
            <a:ext cx="44074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本讲目标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167128"/>
            <a:ext cx="4370831" cy="941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建立一条标准生产线：文件盘点 → 质量预检 → Markdown 转换 → 表格/图注抽取 → 论文卡片 → 人工核验。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703320"/>
            <a:ext cx="4663440" cy="132588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3703320"/>
            <a:ext cx="73152" cy="1325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3840480"/>
            <a:ext cx="44074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课堂底线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4270248"/>
            <a:ext cx="4370831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不要一上来就让 Agent 总结。先盘点、再抽取、再核验，最后才概括和沉淀。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本讲固定模板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8412480"/>
              </a:tblGrid>
              <a:tr h="56007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第二讲怎么落实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科研问题和需求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把混乱文件转成可复用科研资产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需要哪些 Skills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pdf、docx、xlsx、pptx、markitdown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输入材料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 论文、Word、Excel、PPT、扫描件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 怎么执行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先盘点文件，再转换、抽取、制卡、核验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输出文件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file_inventory、converted、paper_cards、tables、qc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人工核验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OCR、表格、公式、图注、引用、隐私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课后作业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处理 5 个文件，提交卡片、矩阵、核验表和日志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989320"/>
            <a:ext cx="9966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  <a:latin typeface="Microsoft YaHei"/>
              </a:defRPr>
            </a:pPr>
            <a:r>
              <a:t>这节课的评价标准是“可追踪、可复核、可复用”，不是总结文字越多越好。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文档处理生产线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文件盘点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1136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质量预检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84831" y="1737360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22191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格式转换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75887" y="1737360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13248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内容抽取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66944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04304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7456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论文卡片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59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1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人工核验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49055" y="1737360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86415" y="1417320"/>
            <a:ext cx="1426464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9567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知识沉淀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40111" y="1737360"/>
            <a:ext cx="128017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7240" y="2697480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2697480"/>
            <a:ext cx="73152" cy="1188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834640"/>
            <a:ext cx="3127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3264408"/>
            <a:ext cx="3090672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PDF 论文、Word 草稿、Excel 数据、PPT 课件、扫描件。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2697480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269748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2834640"/>
            <a:ext cx="3127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中间格式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1" y="3264408"/>
            <a:ext cx="3090672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Markdown 文本、抽取表格、图注索引、元数据。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2697480"/>
            <a:ext cx="33832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2697480"/>
            <a:ext cx="73152" cy="1188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2834640"/>
            <a:ext cx="3127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输出资产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3264408"/>
            <a:ext cx="3090672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论文卡片、阅读矩阵、核验清单、研究日志。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Microsoft YaHei"/>
              </a:defRPr>
            </a:pPr>
            <a:r>
              <a:t>从第二讲开始，所有资料都必须进入工作区结构，而不是堆在桌面或聊天窗口。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709160"/>
                <a:gridCol w="4983480"/>
              </a:tblGrid>
              <a:tr h="662939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主要能力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课堂任务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文本、表格、图片、元数据、OCR、拆分合并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论文正文、表格、图注、页码来源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docx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Word 读取、生成、编辑、样式、批注、修订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草稿、读书报告、卡片导出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xlsx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Excel/CSV 读取、清洗、公式、格式化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文件盘点表、阅读矩阵、抽取表格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pptx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PPT 读取、生成、检查、转 Markdown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课程课件、讲者备注、汇报结构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markitdown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多格式转 Markdown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统一中间格式，便于 Agent 处理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669280"/>
            <a:ext cx="10515600" cy="5943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copy_skill_to_workspace.ps1 -SkillName pdf,docx,xlsx,pptx,markitdown -Workspace "D:\AI科研训练营\第02讲_文档处理工作区"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输入材料怎么准备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34440"/>
                <a:gridCol w="7589520"/>
              </a:tblGrid>
              <a:tr h="581297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要求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 论文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3 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1 篇含表格，最好 1 篇含复杂公式或图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Word 文档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 个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论文草稿、读书笔记或课程资料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Excel 表格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 个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文献表、实验数据或课程名单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PPT 课件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 个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用于抽取结构和讲者备注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扫描件/图片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可选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用于演示 OCR 风险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研究主题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 个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决定哪些信息值得抽取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0644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输入文件命名要服务追踪：年份_第一作者_关键词.pdf，而不是“下载.pdf”。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标准工作区结构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4983480" cy="49377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第02讲_文档处理工作区/</a:t>
            </a:r>
            <a:br/>
            <a:r>
              <a:t>├─ AGENTS.md</a:t>
            </a:r>
            <a:br/>
            <a:r>
              <a:t>├─ skills/</a:t>
            </a:r>
            <a:br/>
            <a:r>
              <a:t>├─ input/</a:t>
            </a:r>
            <a:br/>
            <a:r>
              <a:t>│  ├─ papers/</a:t>
            </a:r>
            <a:br/>
            <a:r>
              <a:t>│  ├─ word/</a:t>
            </a:r>
            <a:br/>
            <a:r>
              <a:t>│  ├─ slides/</a:t>
            </a:r>
            <a:br/>
            <a:r>
              <a:t>│  ├─ spreadsheets/</a:t>
            </a:r>
            <a:br/>
            <a:r>
              <a:t>│  └─ scans/</a:t>
            </a:r>
            <a:br/>
            <a:r>
              <a:t>├─ converted/</a:t>
            </a:r>
            <a:br/>
            <a:r>
              <a:t>├─ extracted/</a:t>
            </a:r>
            <a:br/>
            <a:r>
              <a:t>│  ├─ tables/</a:t>
            </a:r>
            <a:br/>
            <a:r>
              <a:t>│  ├─ figures/</a:t>
            </a:r>
            <a:br/>
            <a:r>
              <a:t>│  └─ metadata/</a:t>
            </a:r>
            <a:br/>
            <a:r>
              <a:t>├─ paper_cards/</a:t>
            </a:r>
            <a:br/>
            <a:r>
              <a:t>├─ reading_matrix/</a:t>
            </a:r>
            <a:br/>
            <a:r>
              <a:t>├─ qc/</a:t>
            </a:r>
            <a:br/>
            <a:r>
              <a:t>└─ output/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28346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input：原始材料，只读不覆盖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converted：Markdown 中间结果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extracted：表格、图注、元数据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paper_cards：单篇论文精读卡片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reading_matrix：多篇论文比较表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qc：人工核验清单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892040"/>
            <a:ext cx="4846320" cy="82296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892040"/>
            <a:ext cx="73152" cy="822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5029200"/>
            <a:ext cx="45902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关键原则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5458968"/>
            <a:ext cx="4553712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每个输出都能追溯到原始文件、页码、表号或幻灯片编号。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第一步：文件盘点表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92440"/>
              </a:tblGrid>
              <a:tr h="56007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file_id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给每个文件一个唯一编号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file_name / file_type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记录原始文件名和格式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source / research_use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记录来源和科研用途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need_ocr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判断是否扫描件或图片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has_tables / has_figures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判断是否需要抽表或图注索引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process_status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未处理 / 已转换 / 已抽取 / 已核验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verification_notes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人工核验备注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600" b="1">
                <a:solidFill>
                  <a:srgbClr val="B91C1C"/>
                </a:solidFill>
                <a:latin typeface="Microsoft YaHei"/>
              </a:defRPr>
            </a:pPr>
            <a:r>
              <a:t>没有 file_inventory，就没有可追踪的文档处理流程。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第二步：质量预检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5448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3136392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是否扫描件、是否加密、是否断行、是否包含跨页表、是否有图注和公式。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55448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84248"/>
            <a:ext cx="3136392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是否有修订、批注、样式混乱、图片嵌入、表格和脚注。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417320"/>
            <a:ext cx="73152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55448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984248"/>
            <a:ext cx="3136392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是否有隐藏列、合并单元格、公式错误、单位混乱、表头错位。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29000"/>
            <a:ext cx="34290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42900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56616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PPT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995928"/>
            <a:ext cx="3136392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是否有讲者备注、图片文字、复杂图表、嵌入对象、页码结构。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29000"/>
            <a:ext cx="34290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429000"/>
            <a:ext cx="73152" cy="13258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56616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扫描件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995928"/>
            <a:ext cx="3136392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OCR 语言、分辨率、倾斜、表格边框、手写批注。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429000"/>
            <a:ext cx="3429000" cy="132588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3429000"/>
            <a:ext cx="73152" cy="13258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3566160"/>
            <a:ext cx="3172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995928"/>
            <a:ext cx="3136392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未公开数据、被试隐私、企业数据不能直接上传外部模型。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第三步：转换为 Markdown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212080" cy="24231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Markdown 是 Agent 友好的中间格式，不是最终事实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转换后必须保留原始文件名、工具、时间、核验状态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标题层级、页码、图注和表格位置要尽量保留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不要在转换阶段改写论文主张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4937760" cy="18288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# 每个 Markdown 文件开头</a:t>
            </a:r>
            <a:br/>
            <a:r>
              <a:t>---</a:t>
            </a:r>
            <a:br/>
            <a:r>
              <a:t>source_file: 2024_Zhang_AI_agent.pdf</a:t>
            </a:r>
            <a:br/>
            <a:r>
              <a:t>conversion_tool: markitdown/pdf</a:t>
            </a:r>
            <a:br/>
            <a:r>
              <a:t>conversion_time: 2026-05-16</a:t>
            </a:r>
            <a:br/>
            <a:r>
              <a:t>verification_status: 未核验</a:t>
            </a:r>
            <a:br/>
            <a:r>
              <a:t>---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34840"/>
            <a:ext cx="10241280" cy="82296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434840"/>
            <a:ext cx="73152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572000"/>
            <a:ext cx="9985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课堂判断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001768"/>
            <a:ext cx="9948672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转换结果越干净，后续卡片越稳定；转换结果越脏，后续综述越容易被污染。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第四步：论文精读卡片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41080"/>
              </a:tblGrid>
              <a:tr h="577215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必须抽取什么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基本信息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题名、作者、年份、期刊、DOI/URL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研究问题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问题、重要性、与自己研究的关系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理论如何解释变量关系，不只列理论名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变量与构念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自变量、因变量、中介、调节、控制变量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样本与数据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样本量、来源、情境、时间范围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方法与结果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模型、检验、主要发现、证据位置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启发与局限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可复用点、边界条件、必须核验项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08076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论文卡片不是摘要，而是后续综述、选题、变量设计和写作的结构化原料。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第五步：表格抽取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166360" cy="28346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PDF 表格抽取最容易出现错位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跨页表、合并单元格、多层表头需要特别标注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统计显著性星号和表注不能丢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不要自动补全缺失数值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每张表记录来源文件、页码、表号、表题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600200"/>
          <a:ext cx="4892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632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处理方式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表头错位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标注需人工核验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跨页表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拆分后回原文核验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星号/表注丢失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保留原始注释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变量名换行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不要自动猜测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55080" y="4343400"/>
            <a:ext cx="4892040" cy="91440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4343400"/>
            <a:ext cx="73152" cy="914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4480560"/>
            <a:ext cx="46360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4910328"/>
            <a:ext cx="4599431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宁可留下“需人工核验”，不要让 Agent 猜出一个看似整齐但错误的表。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第六步：图注和图表索引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53035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</a:tblGrid>
              <a:tr h="535577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source_file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来源文件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page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页码或幻灯片编号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figure_or_table_id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Figure 1 / Table 2 等编号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caption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图题或表题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related_section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相关正文部分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verification_status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未核验 / 部分核验 / 已核验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691640"/>
            <a:ext cx="4663440" cy="21945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图表索引不是替代原图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索引用于后续写作、复盘和快速定位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图号、表号和正文引用必须一致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不要把正文普通句子误判成图注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89120"/>
            <a:ext cx="4663440" cy="86868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3891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4526280"/>
            <a:ext cx="440740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后续用途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956048"/>
            <a:ext cx="4370831" cy="21031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第 13 讲做科研 PPT、论文图和海报时，图表索引会直接复用。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第七步：文献阅读矩阵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09560"/>
              </a:tblGrid>
              <a:tr h="5232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title/authors/year/journal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文献基本信息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research_question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综述中的问题线索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theory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理论建构素材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variables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变量设计和假设来源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method/sample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方法对比和可行性判断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key_findings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结果综合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limitations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研究缺口来源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reusable_insights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自己的选题启发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08076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阅读矩阵是第 05 讲文献综述和研究问题生成的直接输入。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第八步：人工核验清单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41080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核验方法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OCR 错字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回到原 PDF 页面或图片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 断行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检查摘要、理论段落、结果段落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表格错位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对照原始表格行列和表注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公式/统计符号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检查希腊字母、上下标、p、N、t、F、β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图注与图号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检查编号和正文引用是否一致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参考文献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下一讲用 DOI/数据库核验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Excel 公式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检查 #REF!、#DIV/0!、隐藏列、合并单元格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数据隐私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未公开数据不能上传外部模型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Agent 执行任务卡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806440" cy="498348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050">
                <a:solidFill>
                  <a:srgbClr val="EBEFF5"/>
                </a:solidFill>
                <a:latin typeface="Courier New"/>
              </a:defRPr>
            </a:pPr>
            <a:r>
              <a:t># 今日 Agent 任务：核心文档处理</a:t>
            </a:r>
            <a:br/>
            <a:br/>
            <a:r>
              <a:t>## 目标</a:t>
            </a:r>
            <a:br/>
            <a:r>
              <a:t>把 input/ 中的论文和课程材料转成 Markdown、表格和论文卡片。</a:t>
            </a:r>
            <a:br/>
            <a:br/>
            <a:r>
              <a:t>## 可用 Skills</a:t>
            </a:r>
            <a:br/>
            <a:r>
              <a:t>pdf, docx, xlsx, pptx, markitdown</a:t>
            </a:r>
            <a:br/>
            <a:br/>
            <a:r>
              <a:t>## 执行要求</a:t>
            </a:r>
            <a:br/>
            <a:r>
              <a:t>- 先生成 file_inventory.xlsx，不要直接总结</a:t>
            </a:r>
            <a:br/>
            <a:r>
              <a:t>- 所有抽取内容记录来源文件和页码/幻灯片编号</a:t>
            </a:r>
            <a:br/>
            <a:r>
              <a:t>- 表格无法确认时标注“需人工核验”</a:t>
            </a:r>
            <a:br/>
            <a:r>
              <a:t>- 不要补全缺失 DOI 或改写论文主张</a:t>
            </a:r>
            <a:br/>
            <a:br/>
            <a:r>
              <a:t>## 输出</a:t>
            </a:r>
            <a:br/>
            <a:r>
              <a:t>reading_matrix/file_inventory.xlsx</a:t>
            </a:r>
            <a:br/>
            <a:r>
              <a:t>converted/*.md</a:t>
            </a:r>
            <a:br/>
            <a:r>
              <a:t>extracted/tables/*.xlsx</a:t>
            </a:r>
            <a:br/>
            <a:r>
              <a:t>paper_cards/*.md</a:t>
            </a:r>
            <a:br/>
            <a:r>
              <a:t>qc/manual_verification_checklist.md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737360"/>
            <a:ext cx="4114800" cy="21488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任务卡先规定输入、工具、输出和核验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每一步都要落到文件路径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失败项必须进入 qc 或 research_log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输出越结构化，后续课程越省力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4480560"/>
            <a:ext cx="4114800" cy="82296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4480560"/>
            <a:ext cx="73152" cy="8229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4617720"/>
            <a:ext cx="38587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课堂口令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5047488"/>
            <a:ext cx="3822191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1F2933"/>
                </a:solidFill>
                <a:latin typeface="Microsoft YaHei"/>
              </a:defRPr>
            </a:pPr>
            <a:r>
              <a:t>先盘点，不总结；先核验，不写作。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972800" cy="246888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New-Item -ItemType Directory -Force -Path "D:\AI科研训练营\第02讲_文档处理工作区"</a:t>
            </a:r>
            <a:br/>
            <a:r>
              <a:t>cd "D:\AI科研训练营\第02讲_文档处理工作区"</a:t>
            </a:r>
            <a:br/>
            <a:br/>
            <a:r>
              <a:t>New-Item -ItemType Directory -Force -Path skills,input,converted,extracted,paper_cards,reading_matrix,qc,output</a:t>
            </a:r>
            <a:br/>
            <a:r>
              <a:t>New-Item -ItemType Directory -Force -Path input\papers,input\word,input\slides,input\spreadsheets,input\scans</a:t>
            </a:r>
            <a:br/>
            <a:r>
              <a:t>New-Item -ItemType Directory -Force -Path extracted\tables,extracted\figures,extracted\metadata</a:t>
            </a:r>
            <a:br/>
            <a:r>
              <a:t>New-Item -ItemType File -Force -Path AGENTS.md,research_log.md,project_status.md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241280" cy="10972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把 PDF 放入 input/papers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把 Word 放入 input/word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把 PPT 放入 input/slides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把 Excel 放入 input/spreadsheets</a:t>
            </a:r>
          </a:p>
        </p:txBody>
      </p:sp>
    </p:spTree>
  </p:cSld>
  <p:clrMapOvr>
    <a:masterClrMapping/>
  </p:clrMapOvr>
</p:sld>
</file>

<file path=ppt/slides/slide18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7F8F5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F76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45720"/><a:ext cx="1463040" cy="201168"/></a:xfrm><a:prstGeom prst="rect"><a:avLst/></a:prstGeom><a:noFill/></p:spPr><p:txBody><a:bodyPr wrap="square" lIns="45720" rIns="45720" tIns="27432" bIns="27432" anchor="t"><a:spAutoFit/></a:bodyPr><a:lstStyle/><a:p><a:pPr algn="l"><a:defRPr sz="800" b="1"><a:solidFill><a:srgbClr val="FFFFFF"/></a:solidFill><a:latin typeface="Microsoft YaHei"/></a:defRPr></a:pPr><a:r><a:t>第 02 讲</a:t></a:r></a:p></p:txBody></p:sp><p:sp><p:nvSpPr><p:cNvPr id="4" name="TextBox 3"/><p:cNvSpPr txBox="1"/><p:nvPr/></p:nvSpPr><p:spPr><a:xfrm><a:off x="11018520" y="36576"/><a:ext cx="640080" cy="228600"/></a:xfrm><a:prstGeom prst="rect"><a:avLst/></a:prstGeom><a:noFill/></p:spPr><p:txBody><a:bodyPr wrap="square" lIns="45720" rIns="45720" tIns="27432" bIns="27432" anchor="t"><a:spAutoFit/></a:bodyPr><a:lstStyle/><a:p><a:pPr algn="r"><a:defRPr sz="1000" b="1"><a:solidFill><a:srgbClr val="FFFFFF"/></a:solidFill><a:latin typeface="Microsoft YaHei"/></a:defRPr></a:pPr><a:r><a:t>18</a:t></a:r></a:p></p:txBody></p:sp><p:sp><p:nvSpPr><p:cNvPr id="5" name="TextBox 4"/><p:cNvSpPr txBox="1"/><p:nvPr/></p:nvSpPr><p:spPr><a:xfrm><a:off x="502920" y="566928"/><a:ext cx="10789920" cy="502920"/></a:xfrm><a:prstGeom prst="rect"><a:avLst/></a:prstGeom><a:noFill/></p:spPr><p:txBody><a:bodyPr wrap="square" lIns="45720" rIns="45720" tIns="27432" bIns="27432" anchor="t"><a:spAutoFit/></a:bodyPr><a:lstStyle/><a:p><a:pPr algn="l"><a:defRPr sz="2500" b="1"><a:solidFill><a:srgbClr val="1F2933"/></a:solidFill><a:latin typeface="Microsoft YaHei"/></a:defRPr></a:pPr><a:r><a:t>课堂实操 2：复制 Skills</a:t></a:r></a:p></p:txBody></p:sp><p:sp><p:nvSpPr><p:cNvPr id="6" name="Rectangle 5"/><p:cNvSpPr/><p:nvPr/></p:nvSpPr><p:spPr><a:xfrm><a:off x="502920" y="1106424"/><a:ext cx="1005840" cy="54864"/></a:xfrm><a:prstGeom prst="rect"><a:avLst/></a:prstGeom><a:solidFill><a:srgbClr val="B4530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77240" y="1417320"/><a:ext cx="10789920" cy="2240280"/></a:xfrm><a:prstGeom prst="roundRect"><a:avLst/></a:prstGeom><a:solidFill><a:srgbClr val="212B36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lIns="137160" rIns="137160" tIns="109728" bIns="73152" wrap="square"/><a:lstStyle/><a:p><a:pPr algn="ctr"><a:defRPr sz="1200"><a:solidFill><a:srgbClr val="EBEFF5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pdf,docx,xlsx,pptx,markitdown `</a:t></a:r><a:br/><a:r><a:t>  -Workspace "D:\AI科研训练营\第02讲_文档处理工作区"</a:t></a:r><a:br/><a:br/><a:r><a:t>Get-ChildItem "D:\AI科研训练营\第02讲_文档处理工作区\skills" -Directory</a:t></a:r></a:p></p:txBody></p:sp><p:sp><p:nvSpPr><p:cNvPr id="8" name="Rounded Rectangle 7"/><p:cNvSpPr/><p:nvPr/></p:nvSpPr><p:spPr><a:xfrm><a:off x="914400" y="4251960"/><a:ext cx="10149840" cy="868680"/></a:xfrm><a:prstGeom prst="roundRect"><a:avLst/></a:prstGeom><a:solidFill><a:srgbClr val="E2EBFF"/></a:solidFill><a:ln w="10160"><a:solidFill><a:srgbClr val="D2D7DC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Rectangle 8"/><p:cNvSpPr/><p:nvPr/></p:nvSpPr><p:spPr><a:xfrm><a:off x="914400" y="4251960"/><a:ext cx="73152" cy="868680"/></a:xfrm><a:prstGeom prst="rect"><a:avLst/></a:prstGeom><a:solidFill><a:srgbClr val="2563E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1078992" y="4389120"/><a:ext cx="9893808" cy="320040"/></a:xfrm><a:prstGeom prst="rect"><a:avLst/></a:prstGeom><a:noFill/></p:spPr><p:txBody><a:bodyPr wrap="square" lIns="45720" rIns="45720" tIns="27432" bIns="27432" anchor="t"><a:spAutoFit/></a:bodyPr><a:lstStyle/><a:p><a:pPr algn="l"><a:defRPr sz="1500" b="1"><a:solidFill><a:srgbClr val="2563EB"/></a:solidFill><a:latin typeface="Microsoft YaHei"/></a:defRPr></a:pPr><a:r><a:t>检查点</a:t></a:r></a:p></p:txBody></p:sp><p:sp><p:nvSpPr><p:cNvPr id="11" name="TextBox 10"/><p:cNvSpPr txBox="1"/><p:nvPr/></p:nvSpPr><p:spPr><a:xfrm><a:off x="1078992" y="4818888"/><a:ext cx="9857232" cy="210311"/></a:xfrm><a:prstGeom prst="rect"><a:avLst/></a:prstGeom><a:noFill/></p:spPr><p:txBody><a:bodyPr wrap="square" lIns="45720" rIns="45720" tIns="27432" bIns="27432" anchor="t"><a:spAutoFit/></a:bodyPr><a:lstStyle/><a:p><a:pPr algn="l"><a:defRPr sz="1400" b="0"><a:solidFill><a:srgbClr val="1F2933"/></a:solidFill><a:latin typeface="Microsoft YaHei"/></a:defRPr></a:pPr><a:r><a:t>skills 文件夹下应出现 pdf、docx、xlsx、pptx、markitdown，每个目录至少包含 SKILL.md。</a:t></a:r></a:p></p:txBody></p:sp></p:spTree></p:cSld><p:clrMapOvr><a:masterClrMapping/></p:clrMapOvr>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3：生成 file_inventory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6002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请扫描 input/ 下所有文件，先不要总结内容。</a:t>
            </a:r>
            <a:br/>
            <a:r>
              <a:t>请生成 reading_matrix/file_inventory.xlsx，字段包括：</a:t>
            </a:r>
            <a:br/>
            <a:r>
              <a:t>file_id, file_name, file_type, source, research_use, need_ocr, has_tables, has_figures, process_status, output_path, verification_notes。</a:t>
            </a:r>
            <a:br/>
            <a:r>
              <a:t>如果无法判断某项，请写“需人工核验”。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520440"/>
          <a:ext cx="107899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498079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人工检查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每个输入文件都有一行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不能漏文件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文件类型正确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PDF/DOCX/PPTX/XLSX/Image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OCR/表格/图标注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不确定写需人工核验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输出路径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指向 converted/extracted/paper_cards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4：转换 Markdown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41732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请把 input/papers、input/word、input/slides 中的文件转换为 Markdown。</a:t>
            </a:r>
            <a:br/>
            <a:r>
              <a:t>输出到 converted/。</a:t>
            </a:r>
            <a:br/>
            <a:r>
              <a:t>每个 Markdown 文件开头保留：原始文件名、转换时间、转换工具、人工核验状态。</a:t>
            </a:r>
            <a:br/>
            <a:r>
              <a:t>不要改写原文主张。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846320" cy="16916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检查标题层级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检查摘要完整性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检查表格是否被误拆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检查图注是否丢失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检查中文乱码和英文断行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4572000" cy="77724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474720"/>
            <a:ext cx="73152" cy="777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611879"/>
            <a:ext cx="4315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041648"/>
            <a:ext cx="4279392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1F2933"/>
                </a:solidFill>
                <a:latin typeface="Microsoft YaHei"/>
              </a:defRPr>
            </a:pPr>
            <a:r>
              <a:t>converted/*.md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5：生成论文卡片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41732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请基于 converted/ 中的论文 Markdown，按 paper_card_template.md 生成论文精读卡片。</a:t>
            </a:r>
            <a:br/>
            <a:r>
              <a:t>每张卡片输出到 paper_cards/。</a:t>
            </a:r>
            <a:br/>
            <a:r>
              <a:t>每个结论都要保留来源位置或段落线索。</a:t>
            </a:r>
            <a:br/>
            <a:r>
              <a:t>无法确认的内容写“需人工核验”，不要猜。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337560"/>
          <a:ext cx="107899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0"/>
              </a:tblGrid>
              <a:tr h="37338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卡片模块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必须有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不能只列理论名，要写机制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类型、操作化、测量来源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研究设计、模型、样本、数据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证据位置和支持情况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启发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对自己研究可复用的具体点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6：抽取表格和图注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5087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请从 PDF 或 Markdown 中识别表格和图注。</a:t>
            </a:r>
            <a:br/>
            <a:r>
              <a:t>表格输出为 extracted/tables/*.xlsx。</a:t>
            </a:r>
            <a:br/>
            <a:r>
              <a:t>图注索引输出为 extracted/figures/figure_index.md。</a:t>
            </a:r>
            <a:br/>
            <a:r>
              <a:t>每个条目必须记录来源文件和页码；无法确认页码时标注“需人工核验”。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16459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表格：保留表号、表题、表注、页码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图注：保留 Figure/Table 编号和相关章节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跨页表：优先标注风险，再人工核验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不自动补全任何数值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课堂实操 7：生成核验清单和日志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8288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请生成 qc/manual_verification_checklist.md。</a:t>
            </a:r>
            <a:br/>
            <a:r>
              <a:t>按文件列出 OCR、表格、公式、统计符号、参考文献、页码、图注、Excel 公式的核验任务。</a:t>
            </a:r>
            <a:br/>
            <a:r>
              <a:t>不要把未核验内容写成已确认。</a:t>
            </a:r>
            <a:br/>
            <a:br/>
            <a:r>
              <a:t>随后更新 research_log.md，写清输入、Skills、执行步骤、输出路径、未核验项和人工核验结果。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69080"/>
            <a:ext cx="10149840" cy="91440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069080"/>
            <a:ext cx="73152" cy="914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206240"/>
            <a:ext cx="989380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提交标准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636008"/>
            <a:ext cx="985723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能复现的科研流程一定有日志；没有日志的自动化输出不能进入论文写作。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本讲提交物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543800"/>
              </a:tblGrid>
              <a:tr h="5334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提交物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最低要求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file_inventory.xlsx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每个输入文件一行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converted/*.md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3 个转换结果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paper_cards/*.md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3 张论文卡片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extracted/tables/*.xlsx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1 个抽取表格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figure_index.md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图表标题、页码、核验状态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literature_reading_matrix.xlsx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每篇论文一行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manual_verification_checklist.md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具体列出风险和核验任务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research_log.md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执行过程和未核验项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评分标准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60120"/>
                <a:gridCol w="7772400"/>
              </a:tblGrid>
              <a:tr h="542925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分值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工作区结构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输入、转换、抽取、卡片、核验目录清楚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文件盘点表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每个文件有记录，状态和风险标注清楚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Markdown 转换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转换完整，保留来源和核验状态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论文卡片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结构完整，能服务综述和选题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表格/图注抽取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有来源、页码和人工核验标注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核验清单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能指出具体风险，不空泛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日志与反思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过程可追踪，反思具体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常见错误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703320"/>
                <a:gridCol w="4480560"/>
              </a:tblGrid>
              <a:tr h="662939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直接总结 PDF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来源不可追踪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先做 file_inventory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OCR 不核验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错字进入综述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回原文页面核验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表格抽取后直接使用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行列错位导致数据错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对照原表核验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卡片只写摘要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不能服务选题和综述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按理论/变量/方法/结果结构化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引用信息不核验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可能产生假引用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第三讲用 DOI/数据库核验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760720"/>
            <a:ext cx="10424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700" b="1">
                <a:solidFill>
                  <a:srgbClr val="B91C1C"/>
                </a:solidFill>
                <a:latin typeface="Microsoft YaHei"/>
              </a:defRPr>
            </a:pPr>
            <a:r>
              <a:t>第二讲最重要的能力：把 Agent 输出当作待核验材料，而不是最终事实。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与后续课程的连接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543800"/>
              </a:tblGrid>
              <a:tr h="60742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后续课程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会复用第二讲什么产出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03 讲 文献检索与引用核验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file_inventory、论文基本信息、未核验引用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04 讲 Zotero/Obsidian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paper_cards、reading_matrix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05 讲 文献综述与研究问题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理论、变量、方法、局限、启发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08 讲 数据分析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抽取表格、变量字典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12 讲 论文写作与排版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论文卡片、图表索引、参考文献信息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 13 讲 PPT/海报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图表索引、课程 PPT 结构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600" b="1">
                <a:solidFill>
                  <a:srgbClr val="0F766E"/>
                </a:solidFill>
                <a:latin typeface="Microsoft YaHei"/>
              </a:defRPr>
            </a:pPr>
            <a:r>
              <a:t>第二讲的输出质量，直接决定后续综述、选题和写作的质量。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02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本讲一句话总结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005840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3000" b="1">
                <a:solidFill>
                  <a:srgbClr val="1F2933"/>
                </a:solidFill>
                <a:latin typeface="Microsoft YaHei"/>
              </a:defRPr>
            </a:pPr>
            <a:r>
              <a:t>文档处理不是“帮我总结”，</a:t>
            </a:r>
            <a:br/>
            <a:r>
              <a:t>而是把每个文件变成有来源、有结构、有核验状态的科研资产。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文件清楚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6742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9894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来源清楚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0438" y="450342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9044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2196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结构清楚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2740" y="450342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21347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4499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风险清楚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75043" y="450342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83649" y="416052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6801" y="428853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用途清楚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37345" y="450342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