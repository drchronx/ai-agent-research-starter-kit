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554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第 08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554480"/>
            <a:ext cx="205740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数据分析</a:t>
            </a:r>
            <a:br/>
            <a:r>
              <a:t>高级统计</a:t>
            </a:r>
            <a:br/>
            <a:r>
              <a:t>因果推断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57784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从结果到可发表解释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005840"/>
            <a:ext cx="80010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700" b="1">
                <a:solidFill>
                  <a:srgbClr val="202A36"/>
                </a:solidFill>
                <a:latin typeface="Microsoft YaHei"/>
              </a:defRPr>
            </a:pPr>
            <a:r>
              <a:t>变量字典、模型选择、机制检验、因果识别与结果汇报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783080"/>
            <a:ext cx="8001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50" b="0">
                <a:solidFill>
                  <a:srgbClr val="586572"/>
                </a:solidFill>
                <a:latin typeface="Microsoft YaHei"/>
              </a:defRPr>
            </a:pPr>
            <a:r>
              <a:t>Statistics · PROCESS · SEM/CFA · Multilevel · DID/PSM/IV/RDD/DML · Tables · Claims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7111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3687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变量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16526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42381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8957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假设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41797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67652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4228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模型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67068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92923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9499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诊断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92339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8194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4770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结果表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17611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43465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0041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论文解释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42882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468736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05312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40" b="1">
                <a:solidFill>
                  <a:srgbClr val="202A36"/>
                </a:solidFill>
                <a:latin typeface="Microsoft YaHei"/>
              </a:defRPr>
            </a:pPr>
            <a:r>
              <a:t>因果边界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368153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91840" y="4069080"/>
            <a:ext cx="7973568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4069080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197096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581144"/>
            <a:ext cx="7671816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variable_dictionary、hypothesis_model_map、model_selection、causal_identification_audit、analysis_plan、results_tables、result_writeup、statistical_claims_audit。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5413248"/>
            <a:ext cx="7973568" cy="78638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5413248"/>
            <a:ext cx="73152" cy="78638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5541264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925312"/>
            <a:ext cx="7671816" cy="2011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不改数值、不伪造显著性、不隐藏非显著结果、不把关联写成因果。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本讲解决什么问题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440680" cy="2852928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会跑回归，但不知道模型是否匹配研究问题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会做中介/调节，但不知道什么能说成机制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看到显著结果就想写因果，忽略设计边界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不知道 SEM/CFA、多层模型、DID、IV、RDD、DML 的适用条件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结果表、结果段落和附录无法追踪到原始模型输出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稳健性检验、模型诊断、因果识别被混在一起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72768"/>
            <a:ext cx="4663440" cy="111556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72768"/>
            <a:ext cx="73152" cy="11155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00784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本讲不做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84832"/>
            <a:ext cx="4361688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不教学生追求“高级模型感”；不根据显著性临时换模型；不让 Agent 猜统计结果。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063240"/>
            <a:ext cx="4663440" cy="1115568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3063240"/>
            <a:ext cx="73152" cy="1115568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191256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本讲要做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75304"/>
            <a:ext cx="4361688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建立从数据、假设、模型、诊断、结果表到论文解释的一条可审计链路。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变量字典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66989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3565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模型选择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66405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65299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1875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机制检验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64715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63609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185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识别审计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63025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61918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8494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结果表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61334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60228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6804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结果段落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59644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58538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95114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声称边界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57954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本讲最终产出文件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35024"/>
          <a:ext cx="10927080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526280"/>
                <a:gridCol w="4983480"/>
              </a:tblGrid>
              <a:tr h="569214"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analysis/variable_dictionary.xlsx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变量名、类型、角色、编码、来源、缺失和转换规则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数据审计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analysis/data_audit.md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样本量、缺失、异常、重复、排除和版本记录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假设映射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analysis/hypothesis_model_map.xlsx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每个假设对应 X/Y/M/W、模型、诊断和表格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模型选择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analysis/model_selection.md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说明为什么用回归、PROCESS、SEM、多层或因果模型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因果审计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analysis/causal_identification_audit.md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DAG、混淆、坏控制、识别假设和可说边界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结果交付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analysis/results_tables.xlsx / result_writeup.md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结果表、图形计划和论文段落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质量控制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qc/statistical_claims_audit.md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检查数值一致、显著性、效应量、因果语言和遗漏结果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925312"/>
            <a:ext cx="10561320" cy="51206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925312"/>
            <a:ext cx="73152" cy="5120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53328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提交底线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37376"/>
            <a:ext cx="10259568" cy="-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任何数值都必须来自真实模型输出；任何因果表述都必须有设计或识别假设支撑。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需要哪些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298448"/>
          <a:ext cx="109728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480560"/>
                <a:gridCol w="5120640"/>
              </a:tblGrid>
              <a:tr h="513080">
                <a:tc>
                  <a:txBody>
                    <a:bodyPr/>
                    <a:lstStyle/>
                    <a:p>
                      <a:pPr algn="l">
                        <a:defRPr sz="9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Skills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基础统计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statistical-analysis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 检验、ANOVA、回归、假设检验、效应量和 APA 报告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机制/边界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process-mediation-moderation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中介、调节、调节中介、bootstrap、simple slopes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SEM/CFA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sem-cfa-path-latent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潜变量、测量模型、结构路径、拟合指标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多层纵向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multilevel-longitudinal-modeling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嵌套、重复测量、随机效应、中心化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因果推断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did-psm-iv-rdd-dml-event-study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DID、event study、PSM、IV、RDD、DML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因果审计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causal-inference-design-audit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DAG、混淆、坏控制、识别假设和声称边界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结果表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statistical-results-tables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主效应、机制、稳健性、附录表和结果段落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脚本/可视化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empirical-analysis-skill-python / data-visualization-analysis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分析脚本、诊断图、交互图和事件研究图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943600"/>
            <a:ext cx="10561320" cy="475488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943600"/>
            <a:ext cx="73152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71616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配套模板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55664"/>
            <a:ext cx="10259568" cy="-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本讲提供 5 个 Excel 模板：变量字典、假设模型映射、结果表、诊断清单、分析运行日志。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1：创建分析工作区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52760" cy="2267712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New-Item -ItemType Directory -Force -Path "D:\AI科研训练营\第08讲_数据分析高级统计与因果推断工作区"</a:t>
            </a:r>
            <a:br/>
            <a:r>
              <a:t>cd "D:\AI科研训练营\第08讲_数据分析高级统计与因果推断工作区"</a:t>
            </a:r>
            <a:br/>
            <a:br/>
            <a:r>
              <a:t>New-Item -ItemType Directory -Force -Path data,analysis,analysis\scripts,analysis\figures,qc,output,skills</a:t>
            </a:r>
            <a:br/>
            <a:r>
              <a:t>New-Item -ItemType Directory -Force -Path input\lesson05_outputs,input\lesson07_outputs,input\target_journal_tables</a:t>
            </a:r>
            <a:br/>
            <a:r>
              <a:t>New-Item -ItemType File -Force -Path AGENTS.md,research_log.md,analysis\model_selection.md,analysis\analysis_plan.md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041648"/>
            <a:ext cx="5120640" cy="9601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041648"/>
            <a:ext cx="73152" cy="9601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69663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检查标准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53712"/>
            <a:ext cx="481888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工作区至少包含 data、analysis、qc、output、skills；原始数据进入 data/raw，只读备份。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041648"/>
            <a:ext cx="5120640" cy="96012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4041648"/>
            <a:ext cx="73152" cy="96012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69663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输入来源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553712"/>
            <a:ext cx="481888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第 05 讲提供假设和理论机制；第 07 讲提供实验设计、量表和数据字典草稿。</a:t>
            </a:r>
          </a:p>
        </p:txBody>
      </p:sp>
    </p:spTree>
  </p:cSld>
  <p:clrMapOvr>
    <a:masterClrMapping/>
  </p:clrMapOvr>
</p:sld>
</file>

<file path=ppt/slides/slide6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8F9F7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D74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50292"/><a:ext cx="2926080" cy="201168"/></a:xfrm><a:prstGeom prst="rect"><a:avLst/></a:prstGeom><a:noFill/></p:spPr><p:txBody><a:bodyPr wrap="square" lIns="45720" rIns="45720" tIns="18288" bIns="18288" anchor="t"><a:spAutoFit/></a:bodyPr><a:lstStyle/><a:p><a:pPr algn="l"><a:defRPr sz="850" b="1"><a:solidFill><a:srgbClr val="FFFFFF"/></a:solidFill><a:latin typeface="Microsoft YaHei"/></a:defRPr></a:pPr><a:r><a:t>第 08 讲 · 高级统计与因果推断</a:t></a:r></a:p></p:txBody></p:sp><p:sp><p:nvSpPr><p:cNvPr id="4" name="TextBox 3"/><p:cNvSpPr txBox="1"/><p:nvPr/></p:nvSpPr><p:spPr><a:xfrm><a:off x="11155680" y="45720"/><a:ext cx="502920" cy="201168"/></a:xfrm><a:prstGeom prst="rect"><a:avLst/></a:prstGeom><a:noFill/></p:spPr><p:txBody><a:bodyPr wrap="square" lIns="45720" rIns="45720" tIns="18288" bIns="18288" anchor="t"><a:spAutoFit/></a:bodyPr><a:lstStyle/><a:p><a:pPr algn="r"><a:defRPr sz="900" b="1"><a:solidFill><a:srgbClr val="FFFFFF"/></a:solidFill><a:latin typeface="Microsoft YaHei"/></a:defRPr></a:pPr><a:r><a:t>06</a:t></a:r></a:p></p:txBody></p:sp><p:sp><p:nvSpPr><p:cNvPr id="5" name="TextBox 4"/><p:cNvSpPr txBox="1"/><p:nvPr/></p:nvSpPr><p:spPr><a:xfrm><a:off x="530352" y="548640"/><a:ext cx="10789920" cy="502920"/></a:xfrm><a:prstGeom prst="rect"><a:avLst/></a:prstGeom><a:noFill/></p:spPr><p:txBody><a:bodyPr wrap="square" lIns="45720" rIns="45720" tIns="18288" bIns="18288" anchor="t"><a:spAutoFit/></a:bodyPr><a:lstStyle/><a:p><a:pPr algn="l"><a:defRPr sz="2400" b="1"><a:solidFill><a:srgbClr val="202A36"/></a:solidFill><a:latin typeface="Microsoft YaHei"/></a:defRPr></a:pPr><a:r><a:t>实操 2：复制本讲 Skills</a:t></a:r></a:p></p:txBody></p:sp><p:sp><p:nvSpPr><p:cNvPr id="6" name="Rectangle 5"/><p:cNvSpPr/><p:nvPr/></p:nvSpPr><p:spPr><a:xfrm><a:off x="530352" y="1097280"/><a:ext cx="960120" cy="54864"/></a:xfrm><a:prstGeom prst="rect"><a:avLst/></a:prstGeom><a:solidFill><a:srgbClr val="B55D0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731520" y="1353312"/><a:ext cx="10744200" cy="2578608"/></a:xfrm><a:prstGeom prst="roundRect"><a:avLst/></a:prstGeom><a:solidFill><a:srgbClr val="1F2937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wrap="square" lIns="128016" rIns="109728" tIns="91440" bIns="73152"/><a:lstStyle/><a:p><a:pPr algn="ctr"><a:lnSpc><a:spcPct val="100000"/></a:lnSpc><a:defRPr sz="869"><a:solidFill><a:srgbClr val="EEF2F7"/></a:solidFill><a:latin typeface="Courier New"/></a:defRPr></a:pPr><a:r><a:t>cd "<本项目路径>\本地Skills功能分类库"</a:t></a:r><a:br/><a:br/><a:r><a:t>powershell -ExecutionPolicy Bypass -File .\00_工具脚本\copy_skill_to_workspace.ps1 `</a:t></a:r><a:br/><a:r><a:t>  -SkillName statistical-analysis,process-mediation-moderation,sem-cfa-path-latent,multilevel-longitudinal-modeling,did-psm-iv-rdd-dml-event-study,causal-inference-design-audit,statistical-results-tables,empirical-analysis-skill-python,data-visualization-analysis `</a:t></a:r><a:br/><a:r><a:t>  -Workspace "D:\AI科研训练营\第08讲_数据分析高级统计与因果推断工作区"</a:t></a:r></a:p></p:txBody></p:sp><p:sp><p:nvSpPr><p:cNvPr id="8" name="TextBox 7"/><p:cNvSpPr txBox="1"/><p:nvPr/></p:nvSpPr><p:spPr><a:xfrm><a:off x="868680" y="4343400"/><a:ext cx="10149840" cy="914400"/></a:xfrm><a:prstGeom prst="rect"><a:avLst/></a:prstGeom><a:noFill/></p:spPr><p:txBody><a:bodyPr wrap="square" lIns="73152" rIns="45720" tIns="18288" bIns="18288"><a:spAutoFit/></a:bodyPr><a:lstStyle/><a:p><a:pPr><a:lnSpc><a:spcPct val="105000"/></a:lnSpc><a:spcAft><a:spcPts val="300"/></a:spcAft><a:defRPr sz="1500"><a:solidFill><a:srgbClr val="202A36"/></a:solidFill><a:latin typeface="Microsoft YaHei"/></a:defRPr></a:pPr><a:r><a:t>复制后检查 skills/ 文件夹。</a:t></a:r></a:p><a:p><a:pPr><a:lnSpc><a:spcPct val="105000"/></a:lnSpc><a:spcAft><a:spcPts val="300"/></a:spcAft><a:defRPr sz="1500"><a:solidFill><a:srgbClr val="202A36"/></a:solidFill><a:latin typeface="Microsoft YaHei"/></a:defRPr></a:pPr><a:r><a:t>Skills 放工作区，不放 Codex 根目录。</a:t></a:r></a:p><a:p><a:pPr><a:lnSpc><a:spcPct val="105000"/></a:lnSpc><a:spcAft><a:spcPts val="300"/></a:spcAft><a:defRPr sz="1500"><a:solidFill><a:srgbClr val="202A36"/></a:solidFill><a:latin typeface="Microsoft YaHei"/></a:defRPr></a:pPr><a:r><a:t>缺失 Skill 写入 research_log.md，并用现有 Skills 临时替代。</a:t></a:r></a:p></p:txBody></p:sp><p:sp><p:nvSpPr><p:cNvPr id="9" name="Rounded Rectangle 8"/><p:cNvSpPr/><p:nvPr/></p:nvSpPr><p:spPr><a:xfrm><a:off x="868680" y="5532120"/><a:ext cx="10149840" cy="594360"/></a:xfrm><a:prstGeom prst="roundRect"><a:avLst/></a:prstGeom><a:solidFill><a:srgbClr val="FFE5E5"/></a:solidFill><a:ln w="10160"><a:solidFill><a:srgbClr val="D2D8DE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Rectangle 9"/><p:cNvSpPr/><p:nvPr/></p:nvSpPr><p:spPr><a:xfrm><a:off x="868680" y="5532120"/><a:ext cx="73152" cy="594360"/></a:xfrm><a:prstGeom prst="rect"><a:avLst/></a:prstGeom><a:solidFill><a:srgbClr val="B91C1C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1" name="TextBox 10"/><p:cNvSpPr txBox="1"/><p:nvPr/></p:nvSpPr><p:spPr><a:xfrm><a:off x="1051560" y="5660136"/><a:ext cx="9875519" cy="292608"/></a:xfrm><a:prstGeom prst="rect"><a:avLst/></a:prstGeom><a:noFill/></p:spPr><p:txBody><a:bodyPr wrap="square" lIns="45720" rIns="45720" tIns="18288" bIns="18288" anchor="t"><a:spAutoFit/></a:bodyPr><a:lstStyle/><a:p><a:pPr algn="l"><a:defRPr sz="1400" b="1"><a:solidFill><a:srgbClr val="B91C1C"/></a:solidFill><a:latin typeface="Microsoft YaHei"/></a:defRPr></a:pPr><a:r><a:t>课堂提醒</a:t></a:r></a:p></p:txBody></p:sp><p:sp><p:nvSpPr><p:cNvPr id="12" name="TextBox 11"/><p:cNvSpPr txBox="1"/><p:nvPr/></p:nvSpPr><p:spPr><a:xfrm><a:off x="1051560" y="6044183"/><a:ext cx="9848088" cy="9144"/></a:xfrm><a:prstGeom prst="rect"><a:avLst/></a:prstGeom><a:noFill/></p:spPr><p:txBody><a:bodyPr wrap="square" lIns="45720" rIns="45720" tIns="18288" bIns="18288" anchor="t"><a:spAutoFit/></a:bodyPr><a:lstStyle/><a:p><a:pPr algn="l"><a:defRPr sz="1230" b="0"><a:solidFill><a:srgbClr val="202A36"/></a:solidFill><a:latin typeface="Microsoft YaHei"/></a:defRPr></a:pPr><a:r><a:t>统计和因果任务可以交给 Agent 起草流程，但模型假设、变量编码和因果声称必须人工核验。</a:t></a:r></a:p></p:txBody></p:sp></p:spTree></p:cSld><p:clrMapOvr><a:masterClrMapping/></p:clrMapOvr>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3：写 AGENTS.md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897880" cy="3200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60">
                <a:solidFill>
                  <a:srgbClr val="EEF2F7"/>
                </a:solidFill>
                <a:latin typeface="Courier New"/>
              </a:defRPr>
            </a:pPr>
            <a:r>
              <a:t># 第08讲工作区 Agent 指令</a:t>
            </a:r>
            <a:br/>
            <a:br/>
            <a:r>
              <a:t>你是数据分析、高级统计与因果推断助手。</a:t>
            </a:r>
            <a:br/>
            <a:br/>
            <a:r>
              <a:t>原则：</a:t>
            </a:r>
            <a:br/>
            <a:r>
              <a:t>- 禁止编造、修改或平滑任何统计数值。</a:t>
            </a:r>
            <a:br/>
            <a:r>
              <a:t>- 禁止隐藏非显著结果。</a:t>
            </a:r>
            <a:br/>
            <a:r>
              <a:t>- 不得把横截面相关写成因果。</a:t>
            </a:r>
            <a:br/>
            <a:r>
              <a:t>- 所有模型选择必须说明数据结构、变量角色和诊断要求。</a:t>
            </a:r>
            <a:br/>
            <a:r>
              <a:t>- 原始数据只读保存，清洗必须生成新文件。</a:t>
            </a:r>
            <a:br/>
            <a:r>
              <a:t>- 结果段落必须能追踪到结果表和脚本输出。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67728" y="1554480"/>
            <a:ext cx="4069080" cy="100584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7728" y="1554480"/>
            <a:ext cx="73152" cy="100584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682495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为什么要写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066543"/>
            <a:ext cx="3767328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第8讲最容易发生数值错配、模型错配和因果过度声称。项目指令用来先设底线。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2926080"/>
            <a:ext cx="40690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67728" y="292608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305409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可直接复制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3438144"/>
            <a:ext cx="376732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使用 lesson08_workspace_AGENTS_template.md。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7728" y="4069080"/>
            <a:ext cx="4069080" cy="7315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67728" y="4069080"/>
            <a:ext cx="73152" cy="7315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419709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不能省略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581144"/>
            <a:ext cx="376732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没有约束时，Agent 容易为了写得好看而替你扩大结论。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4：建立变量字典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把每个变量的含义、类型、角色、编码、来源、缺失规则和分析用途写清楚。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analysis/variable_dictionary.xlsx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变量字典是后面所有模型和结果表的地基。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69">
                <a:solidFill>
                  <a:srgbClr val="EEF2F7"/>
                </a:solidFill>
                <a:latin typeface="Courier New"/>
              </a:defRPr>
            </a:pPr>
            <a:r>
              <a:t>请读取 data/raw、input/lesson07_outputs 和量表文件，填写 analysis/variable_dictionary.xlsx。</a:t>
            </a:r>
            <a:br/>
            <a:br/>
            <a:r>
              <a:t>每个变量必须包含 variable_name、label、type、role、coding、source、expected_range、reverse_code、missing_rule、transformation、analysis_use。不要覆盖原始数据；反向题和重编码必须生成新列。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变量名与数据列一致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IV/DV/M/W/controls 角色清楚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反向题明确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缺失和异常规则先验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原始数据未被覆盖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5：做数据审计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在建模前检查样本量、缺失、重复、异常、编码、随机化和平衡性。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analysis/data_audit.md</a:t>
            </a:r>
            <a:br/>
            <a:r>
              <a:t> data/data_clean_v1.csv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先审计数据，再跑模型。顺序不能反。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69">
                <a:solidFill>
                  <a:srgbClr val="EEF2F7"/>
                </a:solidFill>
                <a:latin typeface="Courier New"/>
              </a:defRPr>
            </a:pPr>
            <a:r>
              <a:t>请基于 variable_dictionary.xlsx 和 data/raw 数据生成 analysis/data_audit.md。</a:t>
            </a:r>
            <a:br/>
            <a:br/>
            <a:r>
              <a:t>按数据版本、样本量、变量范围、缺失、重复、异常值、反向题、条件编码、随机化平衡、排除规则和待人工核验项写。不得删除原始数据；清洗输出 data/data_clean_v1.csv。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样本量流向清楚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缺失与排除可复核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条件编码无误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清洗脚本可复现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不根据显著性排除样本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6：假设到模型映射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把每个研究假设映射到变量、模型、诊断、结果表和可说结论。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analysis/hypothesis_model_map.xlsx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没有模型映射，结果段落很容易乱写。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69">
                <a:solidFill>
                  <a:srgbClr val="EEF2F7"/>
                </a:solidFill>
                <a:latin typeface="Courier New"/>
              </a:defRPr>
            </a:pPr>
            <a:r>
              <a:t>请读取 hypotheses、causal_model 和 variable_dictionary.xlsx，填写 analysis/hypothesis_model_map.xlsx。</a:t>
            </a:r>
            <a:br/>
            <a:br/>
            <a:r>
              <a:t>每个假设写明 X、Y、mediator、moderator、controls、design_type、recommended_model、model_reason、causal_language_allowed、required_diagnostics、output_table。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每个假设都有模型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模型理由不是“高级”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控制变量有理论理由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诊断要求清楚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因果语言边界明确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模型选择总表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335024"/>
          <a:ext cx="1092708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743200"/>
                <a:gridCol w="2743200"/>
                <a:gridCol w="3383280"/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数据结构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建议模型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最低核验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二组差异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随机实验 + 连续 DV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t-test / OLS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随机化、操纵检验、效应量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2×2 或连续调节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实验/问卷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Interaction + simple slopes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交互图、简单斜率、理论边界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中介/调节中介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理论机制明确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PROCESS-style bootstrap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时间顺序、bootstrap CI、不能过度因果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潜变量路径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多题项构念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CFA + SEM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先测量模型再结构模型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嵌套/重复测量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学生-班级/日记/纵向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Multilevel / mixed model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ICC、随机效应、中心化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准实验政策冲击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处理组+对照组+时间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DID / event study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平行趋势、聚类 SE、处理时点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观察数据因果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有识别策略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PSM / IV / RDD / DML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识别假设、失败边界、稳健性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943600"/>
            <a:ext cx="10561320" cy="475488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943600"/>
            <a:ext cx="73152" cy="475488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71616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判断句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55664"/>
            <a:ext cx="10259568" cy="-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先问“研究问题和数据结构是什么”，再问“哪个模型最适合”。不要倒过来。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基础统计与回归：不要跳过地基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349240" cy="242316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60">
                <a:solidFill>
                  <a:srgbClr val="202A36"/>
                </a:solidFill>
                <a:latin typeface="Microsoft YaHei"/>
              </a:defRPr>
            </a:pPr>
            <a:r>
              <a:t>描述统计：N、均值、标准差、范围、缺失率。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60">
                <a:solidFill>
                  <a:srgbClr val="202A36"/>
                </a:solidFill>
                <a:latin typeface="Microsoft YaHei"/>
              </a:defRPr>
            </a:pPr>
            <a:r>
              <a:t>相关矩阵：标注样本量、显著性规则和变量来源。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60">
                <a:solidFill>
                  <a:srgbClr val="202A36"/>
                </a:solidFill>
                <a:latin typeface="Microsoft YaHei"/>
              </a:defRPr>
            </a:pPr>
            <a:r>
              <a:t>t-test / ANOVA：适合实验条件差异和组间比较。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60">
                <a:solidFill>
                  <a:srgbClr val="202A36"/>
                </a:solidFill>
                <a:latin typeface="Microsoft YaHei"/>
              </a:defRPr>
            </a:pPr>
            <a:r>
              <a:t>OLS / Logistic：根据 DV 类型选择，报告效应量和置信区间。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60">
                <a:solidFill>
                  <a:srgbClr val="202A36"/>
                </a:solidFill>
                <a:latin typeface="Microsoft YaHei"/>
              </a:defRPr>
            </a:pPr>
            <a:r>
              <a:t>稳健标准误或聚类标准误：根据数据结构决定，不是万能修复。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444752"/>
            <a:ext cx="4663440" cy="141732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444752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72768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Agent 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56816"/>
            <a:ext cx="4361688" cy="8321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生成 analysis/scripts/01_descriptives.py、02_main_effects.py 和 results_tables.xlsx 的 descriptives、correlations、main_effects 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291840"/>
            <a:ext cx="4663440" cy="105156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3291840"/>
            <a:ext cx="73152" cy="10515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419856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03904"/>
            <a:ext cx="436168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检查变量类型、编码、异常值、标准误类型、N 是否和数据审计一致。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74920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5202936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描述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39568" y="5074920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6144" y="5202936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相关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38983" y="5358383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64736" y="5074920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1312" y="5202936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主效应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64152" y="5358383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89904" y="5074920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5202936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诊断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5358383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815072" y="5074920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51647" y="5202936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效应量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14488" y="5358383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0240" y="5074920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76816" y="5202936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表格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39656" y="5358383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PROCESS 风格：中介、调节、调节中介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4663440"/>
                <a:gridCol w="4023360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回答的问题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必须报告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X 是否通过 M 与 Y 相关/产生作用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a、b、c'、间接效应、bootstrap CI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调节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W 是否改变 X-Y 关系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交互项、simple slopes、交互图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调节中介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间接效应是否随 W 改变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conditional indirect effects、index of moderated mediation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Johnson-Neyman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连续调节下哪些 W 区间显著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显著区间和图形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663440"/>
            <a:ext cx="10378440" cy="74980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663440"/>
            <a:ext cx="73152" cy="7498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791455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175504"/>
            <a:ext cx="10076688" cy="16459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横截面自陈问卷的中介结果只能写“与理论机制一致的间接效应证据”，不能直接写因果机制。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623560"/>
            <a:ext cx="10378440" cy="64008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5623560"/>
            <a:ext cx="73152" cy="64008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75157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实操输出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135624"/>
            <a:ext cx="10076688" cy="548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analysis/results_tables.xlsx 的 mediation_moderation 表；analysis/figures/interaction_plot.png；result_writeup.md 中的机制段落。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SEM / CFA：先测量，再结构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440680" cy="2487168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CFA：先确认题项是否测量预期构念。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信效度：loadings、alpha/omega、CR、AVE、HTMT 或区分效度证据。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结构模型：在测量模型可接受后再估计路径。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拟合指标：CFI、TLI、RMSEA、SRMR 需要结合模型和样本解释。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禁止为了拟合好看而无理论理由地加 correlated errors。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08760"/>
            <a:ext cx="4663440" cy="91440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73152" cy="9144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36776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适合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20824"/>
            <a:ext cx="4361688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多题项潜变量、测量误差重要、需要同时估计多个路径。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761488"/>
            <a:ext cx="4663440" cy="91440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2761488"/>
            <a:ext cx="73152" cy="91440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889504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不适合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73552"/>
            <a:ext cx="4361688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样本量不足、构念不是潜变量、普通回归已经能回答问题。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023360"/>
            <a:ext cx="4663440" cy="91440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4023360"/>
            <a:ext cx="73152" cy="9144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151376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审稿风险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535424"/>
            <a:ext cx="4361688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好拟合不等于因果；CFA 和 SEM 不能弥补差的理论和设计。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49240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5477255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题项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39568" y="5349240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6144" y="5477255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CFA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38983" y="5632703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64736" y="5349240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1312" y="5477255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信效度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64152" y="5632703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089904" y="5349240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5477255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结构路径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89320" y="5632703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815072" y="5349240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51647" y="5477255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拟合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14488" y="5632703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40240" y="5349240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76816" y="5477255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解释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439656" y="5632703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多层 / 纵向模型：处理非独立数据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343400"/>
                <a:gridCol w="4160520"/>
              </a:tblGrid>
              <a:tr h="612648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为什么不能普通 OLS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建模要点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学生嵌套班级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同班学生并非独立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ICC、随机截距、班级层变量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员工嵌套组织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组织文化/制度产生共享方差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跨层主效应与跨层交互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日记研究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同一人多天重复测量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within-person 与 between-person 分开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面板数据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单位随时间重复观测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固定效应/随机效应、时间趋势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754880"/>
            <a:ext cx="4983480" cy="804672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754880"/>
            <a:ext cx="73152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882896"/>
            <a:ext cx="4709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关键概念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266944"/>
            <a:ext cx="4681728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中心化不是技术细节。group-mean centering 与 grand-mean centering 对解释不同。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754880"/>
            <a:ext cx="4983480" cy="804672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4754880"/>
            <a:ext cx="73152" cy="8046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882896"/>
            <a:ext cx="4709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266944"/>
            <a:ext cx="4681728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聚类变量、时间变量、重复测量次数、缺失模式、随机斜率是否有理论必要。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因果推断地图：先识别，再估计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325880"/>
          <a:ext cx="109728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663440"/>
                <a:gridCol w="4389120"/>
              </a:tblGrid>
              <a:tr h="678180"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适合场景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核心假设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DID / event study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处理组与对照组在某时点受到冲击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平行趋势、无预期效应、处理定义清楚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PSM / weighting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观察数据中处理组和对照组可按可观测变量平衡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无未观测混淆、common support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IV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有影响处理但不直接影响结果的外生工具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相关性、排除限制、单调性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RDD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处理由阈值规则决定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截点附近不可操纵、协变量连续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DML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高维控制或非线性 nuisance model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识别假设仍成立、样本拆分和交叉拟合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715000"/>
            <a:ext cx="10561320" cy="59436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15000"/>
            <a:ext cx="73152" cy="5943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843016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判断句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227064"/>
            <a:ext cx="10259568" cy="91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因果推断不是更复杂的回归，而是回答“为什么这个比较可以代表反事实”。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DID / Event Study 操作手册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60" b="1">
                <a:solidFill>
                  <a:srgbClr val="202A36"/>
                </a:solidFill>
                <a:latin typeface="Microsoft YaHei"/>
              </a:defRPr>
            </a:pPr>
            <a:r>
              <a:t>定义处理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3837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0413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60" b="1">
                <a:solidFill>
                  <a:srgbClr val="202A36"/>
                </a:solidFill>
                <a:latin typeface="Microsoft YaHei"/>
              </a:defRPr>
            </a:pPr>
            <a:r>
              <a:t>定义对照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3253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37867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4443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60" b="1">
                <a:solidFill>
                  <a:srgbClr val="202A36"/>
                </a:solidFill>
                <a:latin typeface="Microsoft YaHei"/>
              </a:defRPr>
            </a:pPr>
            <a:r>
              <a:t>构造时间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37283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81897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8473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60" b="1">
                <a:solidFill>
                  <a:srgbClr val="202A36"/>
                </a:solidFill>
                <a:latin typeface="Microsoft YaHei"/>
              </a:defRPr>
            </a:pPr>
            <a:r>
              <a:t>画事件图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81313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25926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2502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60" b="1">
                <a:solidFill>
                  <a:srgbClr val="202A36"/>
                </a:solidFill>
                <a:latin typeface="Microsoft YaHei"/>
              </a:defRPr>
            </a:pPr>
            <a:r>
              <a:t>检验趋势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2534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69956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6532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60" b="1">
                <a:solidFill>
                  <a:srgbClr val="202A36"/>
                </a:solidFill>
                <a:latin typeface="Microsoft YaHei"/>
              </a:defRPr>
            </a:pPr>
            <a:r>
              <a:t>估计模型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6937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13986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0562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60" b="1">
                <a:solidFill>
                  <a:srgbClr val="202A36"/>
                </a:solidFill>
                <a:latin typeface="Microsoft YaHei"/>
              </a:defRPr>
            </a:pPr>
            <a:r>
              <a:t>做稳健性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1340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41248" y="2240280"/>
            <a:ext cx="5623560" cy="2057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10">
                <a:solidFill>
                  <a:srgbClr val="EEF2F7"/>
                </a:solidFill>
                <a:latin typeface="Courier New"/>
              </a:defRPr>
            </a:pPr>
            <a:r>
              <a:t>请基于面板数据和政策/平台冲击说明，生成 DID/event study 分析计划。</a:t>
            </a:r>
            <a:br/>
            <a:br/>
            <a:r>
              <a:t>必须包含：处理组定义、对照组定义、处理时间、样本窗口、固定效应、聚类标准误、平行趋势检验、事件研究图、错位处理风险、稳健性和可说/不可说结论。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2240280"/>
            <a:ext cx="4526280" cy="105156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2240280"/>
            <a:ext cx="73152" cy="10515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2368296"/>
            <a:ext cx="4251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752344"/>
            <a:ext cx="422452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平行趋势不是写一句话；需要处理前趋势图或估计证据。错位处理时不能盲用传统 TWFE。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703320"/>
            <a:ext cx="4526280" cy="105156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20840" y="370332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3831335"/>
            <a:ext cx="4251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215383"/>
            <a:ext cx="422452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analysis/causal_identification_audit.md、analysis/figures/event_study.png、results_tables.xlsx 的 causal_models 表。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4983480"/>
            <a:ext cx="10405872" cy="658368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8" y="4983480"/>
            <a:ext cx="73152" cy="658368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" y="5111496"/>
            <a:ext cx="10131552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结果写法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5495544"/>
            <a:ext cx="10104120" cy="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“在平行趋势等识别假设成立下，处理与结果变化存在一致证据。”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PSM / IV / RDD / DML 的使用边界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160520"/>
                <a:gridCol w="4846320"/>
              </a:tblGrid>
              <a:tr h="694944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能帮什么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不能替你解决什么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PSM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让处理组和对照组在可观测变量上更平衡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不能处理未观测混淆，匹配后仍需结果模型和敏感性分析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IV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在有效工具下识别局部平均处理效应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不能只因为一阶段强就证明排除限制成立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RDD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在阈值附近识别局部处理效应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不能推广为全样本平均效应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DML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用机器学习处理高维控制和非线性 nuisance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不能绕过处理变量的识别假设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303520"/>
            <a:ext cx="10378440" cy="7315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303520"/>
            <a:ext cx="73152" cy="7315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4315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课堂判断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15583"/>
            <a:ext cx="1007668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80" b="0">
                <a:solidFill>
                  <a:srgbClr val="202A36"/>
                </a:solidFill>
                <a:latin typeface="Microsoft YaHei"/>
              </a:defRPr>
            </a:pPr>
            <a:r>
              <a:t>只要不能说清反事实比较来自哪里，就先降级为关联分析或探索性证据。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DAG、混淆与坏控制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440680" cy="260604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40">
                <a:solidFill>
                  <a:srgbClr val="202A36"/>
                </a:solidFill>
                <a:latin typeface="Microsoft YaHei"/>
              </a:defRPr>
            </a:pPr>
            <a:r>
              <a:t>混淆变量：同时影响 X 和 Y，通常需要在设计或模型中处理。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40">
                <a:solidFill>
                  <a:srgbClr val="202A36"/>
                </a:solidFill>
                <a:latin typeface="Microsoft YaHei"/>
              </a:defRPr>
            </a:pPr>
            <a:r>
              <a:t>中介变量：在估计总效应时不能随意控制。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40">
                <a:solidFill>
                  <a:srgbClr val="202A36"/>
                </a:solidFill>
                <a:latin typeface="Microsoft YaHei"/>
              </a:defRPr>
            </a:pPr>
            <a:r>
              <a:t>Collider：由两个变量共同影响，控制它可能制造虚假关联。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40">
                <a:solidFill>
                  <a:srgbClr val="202A36"/>
                </a:solidFill>
                <a:latin typeface="Microsoft YaHei"/>
              </a:defRPr>
            </a:pPr>
            <a:r>
              <a:t>Post-treatment variable：处理发生后的变量，控制它可能改变估计目标。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40">
                <a:solidFill>
                  <a:srgbClr val="202A36"/>
                </a:solidFill>
                <a:latin typeface="Microsoft YaHei"/>
              </a:defRPr>
            </a:pPr>
            <a:r>
              <a:t>控制变量不是越多越好，关键看它在因果图中的位置。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481328"/>
            <a:ext cx="4663440" cy="123444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481328"/>
            <a:ext cx="73152" cy="123444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09344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Agent 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93392"/>
            <a:ext cx="4361688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画出 X、Y、M、W、controls、潜在混淆的 DAG 草图，并标注哪些变量能控制、不能控制、需要稳健性。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127248"/>
            <a:ext cx="4663440" cy="9601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3127248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255264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639312"/>
            <a:ext cx="436168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坏控制通常不是统计软件能发现的，它来自理论和时间顺序判断。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193792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5321807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60" b="1">
                <a:solidFill>
                  <a:srgbClr val="202A36"/>
                </a:solidFill>
                <a:latin typeface="Microsoft YaHei"/>
              </a:defRPr>
            </a:pPr>
            <a:r>
              <a:t>理论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39568" y="5193792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6144" y="5321807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60" b="1">
                <a:solidFill>
                  <a:srgbClr val="202A36"/>
                </a:solidFill>
                <a:latin typeface="Microsoft YaHei"/>
              </a:defRPr>
            </a:pPr>
            <a:r>
              <a:t>时间顺序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38983" y="5477255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64736" y="5193792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1312" y="5321807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60" b="1">
                <a:solidFill>
                  <a:srgbClr val="202A36"/>
                </a:solidFill>
                <a:latin typeface="Microsoft YaHei"/>
              </a:defRPr>
            </a:pPr>
            <a:r>
              <a:t>DAG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64152" y="5477255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89904" y="5193792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5321807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60" b="1">
                <a:solidFill>
                  <a:srgbClr val="202A36"/>
                </a:solidFill>
                <a:latin typeface="Microsoft YaHei"/>
              </a:defRPr>
            </a:pPr>
            <a:r>
              <a:t>控制集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5477255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815072" y="5193792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51647" y="5321807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60" b="1">
                <a:solidFill>
                  <a:srgbClr val="202A36"/>
                </a:solidFill>
                <a:latin typeface="Microsoft YaHei"/>
              </a:defRPr>
            </a:pPr>
            <a:r>
              <a:t>估计目标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14488" y="5477255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40240" y="5193792"/>
            <a:ext cx="161544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76816" y="5321807"/>
            <a:ext cx="1542287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60" b="1">
                <a:solidFill>
                  <a:srgbClr val="202A36"/>
                </a:solidFill>
                <a:latin typeface="Microsoft YaHei"/>
              </a:defRPr>
            </a:pPr>
            <a:r>
              <a:t>声称边界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39656" y="5477255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7：生成因果识别审计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把研究设计、DAG、混淆、坏控制和识别假设写成可审计文件。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analysis/causal_identification_audit.md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这是本讲最关键的人工核验环节。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69">
                <a:solidFill>
                  <a:srgbClr val="EEF2F7"/>
                </a:solidFill>
                <a:latin typeface="Courier New"/>
              </a:defRPr>
            </a:pPr>
            <a:r>
              <a:t>请读取 hypothesis_model_map.xlsx、variable_dictionary.xlsx 和研究设计说明，生成 analysis/causal_identification_audit.md。</a:t>
            </a:r>
            <a:br/>
            <a:br/>
            <a:r>
              <a:t>必须包括 estimand、DAG 文本说明、混淆变量、坏控制、识别假设、诊断方法、稳健性、哪些结论可说因果、哪些只能说关联。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识别目标清楚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不控制 post-treatment mediator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列出不可检验假设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失败时降级结论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不把稳健性当识别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8：生成分析计划和脚本骨架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把数据处理、模型、诊断、稳健性、图表和输出文件写成可执行计划。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analysis/analysis_plan.md</a:t>
            </a:r>
            <a:br/>
            <a:r>
              <a:t>analysis/scripts/analysis_template.py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先让脚本可复现，再谈结果是否好看。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69">
                <a:solidFill>
                  <a:srgbClr val="EEF2F7"/>
                </a:solidFill>
                <a:latin typeface="Courier New"/>
              </a:defRPr>
            </a:pPr>
            <a:r>
              <a:t>请基于 variable_dictionary、hypothesis_model_map 和 causal_identification_audit，生成 analysis/analysis_plan.md 和 analysis/scripts/analysis_template.py。</a:t>
            </a:r>
            <a:br/>
            <a:br/>
            <a:r>
              <a:t>脚本只写骨架和可复现流程：读取 data_clean_v1、生成描述统计、主模型、机制模型、诊断图、结果表。禁止写入虚构结果。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脚本不覆盖原始数据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所有输出路径固定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模型和假设一一对应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诊断和稳健性写清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随机种子和数据版本记录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模型诊断：结果可信度检查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335024"/>
          <a:ext cx="1092708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09160"/>
                <a:gridCol w="4389120"/>
              </a:tblGrid>
              <a:tr h="616566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诊断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常见修正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OLS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残差图、异方差、异常点、多重共线性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稳健 SE、转换、敏感性分析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Logistic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类别不平衡、分离、校准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报告 OR/AME、使用合适指标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PROCESS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bootstrap CI、交互图、simple slopes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避免只报显著交互项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SEM/CFA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拟合指标、载荷、CR/AVE/HTMT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理论支持下修改，不为拟合乱改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16566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Multilevel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ICC、随机效应、中心化、收敛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简化随机结构或解释中心化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16572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Causal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识别假设诊断、安慰剂、敏感性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降级因果语言或换设计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97880"/>
            <a:ext cx="10561320" cy="530352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897880"/>
            <a:ext cx="73152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25896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09944"/>
            <a:ext cx="10259568" cy="-548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model_diagnostics_checklist_template.xlsx 可直接复制到 analysis/ 下作为诊断清单。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9：生成结果表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把模型输出整理成描述统计、相关、主效应、机制、SEM、多层、因果和稳健性表。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analysis/results_tables.xlsx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表格不是美化结果的地方，是审计链路。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69">
                <a:solidFill>
                  <a:srgbClr val="EEF2F7"/>
                </a:solidFill>
                <a:latin typeface="Courier New"/>
              </a:defRPr>
            </a:pPr>
            <a:r>
              <a:t>请使用 statistical-results-tables，基于真实模型输出填写 analysis/results_tables.xlsx。</a:t>
            </a:r>
            <a:br/>
            <a:br/>
            <a:r>
              <a:t>表格至少包含 descriptives、correlations、main_effects、mediation_moderation、causal_models、robustness、figure_plan、writeup_trace。禁止修改 b、SE、p、N 或隐藏非显著结果。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数值来自脚本输出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N 与数据审计一致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非显著结果保留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CI 和效应量完整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表格可追踪到模型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10：写结果段落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把结果表转成 APA 或目标期刊风格段落，并解释效应量和边界。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analysis/result_writeup.md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论文结果段落不是报喜，是准确描述证据。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69">
                <a:solidFill>
                  <a:srgbClr val="EEF2F7"/>
                </a:solidFill>
                <a:latin typeface="Courier New"/>
              </a:defRPr>
            </a:pPr>
            <a:r>
              <a:t>请基于 analysis/results_tables.xlsx 和 result_writeup_template.md 生成 analysis/result_writeup.md。</a:t>
            </a:r>
            <a:br/>
            <a:br/>
            <a:r>
              <a:t>每段必须写明模型、核心估计值、SE、p、CI、N、效应量解释、是否支持假设、因果语言边界。不要只写“显著”。不支持的假设也要报告。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数值和表格一致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报告效应量/CI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非显著结果透明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结论不超出设计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能追踪到表格行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示范：AI Agent 解释透明度研究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2588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91540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示范内容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研究问题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解释透明度是否提升博士生采纳 AI 推荐文献的意愿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主效应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condition -&gt; adoption_intention；二组实验可用 OLS / t-test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机制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condition -&gt; trust / uncertainty -&gt; adoption_intention；bootstrap indirect effect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边界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任务复杂度或 AI 使用经验作为 moderator；simple slopes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因果语言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若随机分配且操纵有效，可说操纵解释透明度对 DV 的影响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不能说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不能声称所有真实科研场景都成立；不能把未操纵的中介写成强因果机制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989320"/>
            <a:ext cx="10378440" cy="45720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989320"/>
            <a:ext cx="73152" cy="4572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1173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最大风险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501383"/>
            <a:ext cx="10076688" cy="-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解释透明度可能同时提升感知能力、友好度和可靠性，必须在情景材料和混淆检验中处理。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常见错误与修正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71600"/>
          <a:ext cx="1074419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749039"/>
                <a:gridCol w="466344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变量编码没核验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方向反了，结论相反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变量字典 + coding_rules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模型为高级而高级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审稿人质疑必要性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回到假设和数据结构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控制 post-treatment 变量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估计目标被改变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DAG 审计控制集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只报 p 值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效应大小不可判断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补 b/SE/CI/效应量/N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隐藏非显著结果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学术诚信风险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完整结果表和附录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稳健性当因果识别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因果声称站不住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区分 robustness 与 identification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11：统计声称审计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用审稿人视角检查数值一致性、模型假设、效应量、非显著结果和因果语言。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qc/statistical_claims_audit.md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这是提交前最后一道闸门。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69">
                <a:solidFill>
                  <a:srgbClr val="EEF2F7"/>
                </a:solidFill>
                <a:latin typeface="Courier New"/>
              </a:defRPr>
            </a:pPr>
            <a:r>
              <a:t>请读取 analysis 下所有输出，生成 qc/statistical_claims_audit.md。</a:t>
            </a:r>
            <a:br/>
            <a:br/>
            <a:r>
              <a:t>逐条检查：正文数值是否与表格一致；N 是否一致；是否报告效应量和 CI；是否隐藏非显著结果；是否把关联写成因果；是否把稳健性写成识别；哪些句子必须改写。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指出具体句子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列出数值错配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标注因果过度声称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给出改写建议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40">
                <a:solidFill>
                  <a:srgbClr val="202A36"/>
                </a:solidFill>
                <a:latin typeface="Microsoft YaHei"/>
              </a:defRPr>
            </a:pPr>
            <a:r>
              <a:t>明确 pass/revise/fail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课堂 90 分钟带做安排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71600"/>
          <a:ext cx="107442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0"/>
                <a:gridCol w="4526280"/>
              </a:tblGrid>
              <a:tr h="633548"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教师带做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学生产出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0-10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讲清模型选择和因果边界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理解本讲输出文件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10-25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创建工作区、复制 Skills、写 AGENTS.md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可运行工作区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25-45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变量字典和数据审计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variable_dictionary / data_audit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45-60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假设-模型映射和因果审计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hypothesis_model_map / causal_audit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60-75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分析计划和结果表结构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analysis_plan / results_tables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75-90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结果段落和声称审计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result_writeup / claims_audit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943600"/>
            <a:ext cx="10378440" cy="45720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943600"/>
            <a:ext cx="73152" cy="45720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07161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455664"/>
            <a:ext cx="10076688" cy="-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现场纠正三件事：模型错配、坏控制、因果过度声称。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课后提交要求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16002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提交文件夹：姓名_第08讲_数据分析高级统计与因果推断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必须包含 variable_dictionary、data_audit、hypothesis_model_map、model_selection、causal_identification_audit、analysis_plan、analysis_template、results_tables、result_writeup、statistical_claims_audit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附 300 字反思：你的结果中哪些能说因果，哪些只能说关联，为什么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所有未核验模型假设和数据问题必须保留待核验标记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65960" y="3474720"/>
          <a:ext cx="8092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057400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11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评分项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变量字典与数据审计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模型选择与假设映射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机制/因果识别审计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结果表与结果段落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统计声称审计与反思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60120" y="5806440"/>
            <a:ext cx="10195560" cy="566928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5806440"/>
            <a:ext cx="73152" cy="566928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934455"/>
            <a:ext cx="9921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最低合格线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318504"/>
            <a:ext cx="989380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能说清：变量怎么来的、模型为什么选、结果如何解释、哪些话不能说成因果。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08 讲 · 高级统计与因果推断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教师课堂收尾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241280" cy="105156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36776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今天真正完成的事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0824"/>
            <a:ext cx="993952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不是让学生多会几个模型，而是建立一个不会乱改数值、不会乱选模型、不会乱写因果的分析系统。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64512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1088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变量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3927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14624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1200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假设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14039" y="3520440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64736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1312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模型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64152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514848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1424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诊断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14263" y="3520440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664959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1535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识别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64375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815072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1647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表格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14488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965184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1759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写作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4600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15296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51871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审计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14712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4400" y="4736592"/>
            <a:ext cx="10241280" cy="86868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736592"/>
            <a:ext cx="73152" cy="86868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864607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48656"/>
            <a:ext cx="99395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学生把第 07 讲实验方案或自己的数据带入第 08 讲流程，先做变量字典和模型映射，再决定是否跑高级模型。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