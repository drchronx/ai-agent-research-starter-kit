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214884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icrosoft YaHei"/>
              </a:defRPr>
            </a:pPr>
            <a:r>
              <a:t>Zotero / Obsidian</a:t>
            </a:r>
            <a:br/>
            <a:r>
              <a:t>长期知识库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40680"/>
            <a:ext cx="1280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115568"/>
            <a:ext cx="82296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800" b="1">
                <a:solidFill>
                  <a:srgbClr val="1F2933"/>
                </a:solidFill>
                <a:latin typeface="Microsoft YaHei"/>
              </a:defRPr>
            </a:pPr>
            <a:r>
              <a:t>从文献数据库到可复用科研知识资产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920240"/>
            <a:ext cx="795527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5B6770"/>
                </a:solidFill>
                <a:latin typeface="Microsoft YaHei"/>
              </a:defRPr>
            </a:pPr>
            <a:r>
              <a:t>Zotero · Better BibTeX · Obsidian Vault · Paper Cards · Theory-Variable-Method Matrix · Knowledge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收文献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4672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7824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补元数据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68368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3224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56376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制卡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36920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51775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7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建矩阵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05471" y="3273552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20327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3479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画图谱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574023" y="3273552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88879" y="2971800"/>
            <a:ext cx="1203960" cy="603504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62031" y="3099816"/>
            <a:ext cx="1057656" cy="4206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1">
                <a:solidFill>
                  <a:srgbClr val="1F2933"/>
                </a:solidFill>
                <a:latin typeface="Microsoft YaHei"/>
              </a:defRPr>
            </a:pPr>
            <a:r>
              <a:t>日维护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942575" y="3273552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246120" y="4251960"/>
            <a:ext cx="80010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46120" y="4251960"/>
            <a:ext cx="7315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0712" y="4389120"/>
            <a:ext cx="77449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1">
                <a:solidFill>
                  <a:srgbClr val="B45309"/>
                </a:solidFill>
                <a:latin typeface="Microsoft YaHei"/>
              </a:defRPr>
            </a:pPr>
            <a:r>
              <a:t>本讲交付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0712" y="4818888"/>
            <a:ext cx="770839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Zotero 10 篇文献、3 张 Obsidian 论文卡、理论-变量-方法矩阵、研究问题知识图谱、可复用启发库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这节课解决什么问题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5486400" cy="31089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文献越来越多，但不知道哪些读过、哪些可引用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PDF、Zotero 条目、BibTeX 和笔记没有对应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Obsidian 只是摘抄，没有沉淀理论、变量、方法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写综述时找不到某个理论、量表、方法来自哪篇论文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每次写论文都重新找文献，不能复用阅读成果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研究问题没有图谱，读文献无法沉淀成选题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91640"/>
            <a:ext cx="4526280" cy="150876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691640"/>
            <a:ext cx="73152" cy="1508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93992" y="1828800"/>
            <a:ext cx="4270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本讲核心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3992" y="2258568"/>
            <a:ext cx="4233672" cy="8503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Zotero 管文献事实，Obsidian 管研究理解，矩阵管可比较结构，知识图谱管问题关系。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749039"/>
            <a:ext cx="4526280" cy="109728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3749039"/>
            <a:ext cx="73152" cy="10972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3886200"/>
            <a:ext cx="4270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课堂目标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4315968"/>
            <a:ext cx="4233672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学生照着 PPT 完成一个能长期维护的 Zotero / Obsidian 工作区。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本讲固定模板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8412480"/>
              </a:tblGrid>
              <a:tr h="56007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模块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第四讲怎么落实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科研问题和需求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防止文献、PDF、笔记、引用再次变乱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需要哪些 Skills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 sync, obsidian card, matrix, graph, insight bank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输入材料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Zotero、Obsidian、10 篇文献、3 篇核心论文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Agent 怎么执行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审计 Zotero、生成卡片、矩阵、图谱、启发库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输出文件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 exports, paper cards, matrix, graph, audit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人工核验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元数据、PDF、理论机制、变量测量、图谱边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课后作业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 篇文献、3 张卡、1 矩阵、1 图谱、1 启发库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989320"/>
            <a:ext cx="10241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这讲不是教软件按钮，而是教一套长期可维护的科研知识系统。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Zotero 与 Obsidian 的分工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185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166360"/>
                <a:gridCol w="4023360"/>
              </a:tblGrid>
              <a:tr h="713232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工具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负责什么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不负责什么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文献事实：题名、作者、年份、期刊、DOI、PDF、BibTeX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不负责写你的理论理解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Obsidian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研究理解：论文卡片、理论、变量、方法、项目、双链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不替代文献数据库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矩阵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把多篇论文变成可比较结构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不是复制摘要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知识图谱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显示问题、理论、变量、方法和证据关系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不是装饰性关系图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914400" y="5349240"/>
            <a:ext cx="10195560" cy="68580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5349240"/>
            <a:ext cx="73152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48640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原则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916168"/>
            <a:ext cx="9902952" cy="27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Zotero 中保留事实，Obsidian 中保留解释；解释必须能回到事实。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本讲需要哪些 Skills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25880"/>
          <a:ext cx="1101852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09560"/>
              </a:tblGrid>
              <a:tr h="588645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Skill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zotero-library-sync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读取/审计 Zotero 条目、导出元数据、PDF 附件状态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pyzotero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通过 Zotero Web API 读取、搜索、导出、管理文献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obsidian-paper-card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生成结构化 Obsidian 论文卡片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theory-variable-method-matrix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生成理论-变量-方法矩阵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research-question-knowledge-graph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生成研究问题知识图谱和 Mermaid 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paper-reusable-insight-bank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沉淀可复用理论、变量、方法、写作启发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citation-management / pdf / xlsx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引用核验、PDF 读取、矩阵表格输出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操作总路线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安装软件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3668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6820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建工作区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77364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44418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7570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建 Zotero 分类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198113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65167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8319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导入文献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8863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85916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9068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导出审计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9612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06665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9817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建 Vault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60361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27414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00566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生成卡片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81110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448163" y="1417320"/>
            <a:ext cx="1256157" cy="640080"/>
          </a:xfrm>
          <a:prstGeom prst="roundRect">
            <a:avLst/>
          </a:prstGeom>
          <a:solidFill>
            <a:srgbClr val="E2EB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21315" y="1545336"/>
            <a:ext cx="1109853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000" b="1">
                <a:solidFill>
                  <a:srgbClr val="1F2933"/>
                </a:solidFill>
                <a:latin typeface="Microsoft YaHei"/>
              </a:defRPr>
            </a:pPr>
            <a:r>
              <a:t>矩阵图谱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01859" y="1737360"/>
            <a:ext cx="128016" cy="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31520" y="2514600"/>
          <a:ext cx="108356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2396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学生要做什么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安装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Zotero、Connector、Obsidian、Better BibTeX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文献库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 篇文献、5 个 PDF、Collection、Tags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导出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references.bib、zotero_items.csv、metadata_audit.xlsx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笔记库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Vault 文件夹、模板、3 张论文卡片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结构化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理论-变量-方法矩阵、研究问题图谱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维护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每日 20-40 分钟更新流程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1：安装 Zotero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0" cy="77724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500">
                <a:solidFill>
                  <a:srgbClr val="EBEFF5"/>
                </a:solidFill>
                <a:latin typeface="Courier New"/>
              </a:defRPr>
            </a:pPr>
            <a:r>
              <a:t>官方入口：</a:t>
            </a:r>
            <a:br/>
            <a:r>
              <a:t>https://www.zotero.org/download/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120640" cy="21945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下载 Zotero 桌面端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安装 Zotero Connector 浏览器插件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创建或登录 Zotero 账号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打开同步设置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用一个论文网页测试 Connector 是否能保存条目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4846320" cy="123444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73152" cy="12344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37360"/>
            <a:ext cx="459028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检查点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167128"/>
            <a:ext cx="455371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Zotero 中能出现新条目；Connector 保存时能自动识别题名、作者、DOI 或网页信息。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429000"/>
            <a:ext cx="4846320" cy="12344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429000"/>
            <a:ext cx="73152" cy="1234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566160"/>
            <a:ext cx="459028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常见问题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995928"/>
            <a:ext cx="4553712" cy="5760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只保存了网页快照，没有保存论文元数据。解决：换 DOI 页面、出版社页面或用 DOI 魔法棒添加。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2：安装 Obsidian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0" cy="77724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500">
                <a:solidFill>
                  <a:srgbClr val="EBEFF5"/>
                </a:solidFill>
                <a:latin typeface="Courier New"/>
              </a:defRPr>
            </a:pPr>
            <a:r>
              <a:t>官方入口：</a:t>
            </a:r>
            <a:br/>
            <a:r>
              <a:t>https://obsidian.md/download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5120640" cy="21945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下载安装 Obsidian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先不要急着写笔记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理解 Vault：它就是一个本地文件夹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理解 note：它就是 Markdown 文件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本课程后面会用已有文件夹打开 Vault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4846320" cy="109728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9164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828800"/>
            <a:ext cx="459028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检查点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258568"/>
            <a:ext cx="4553712" cy="4389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你能说清楚：Obsidian 不是云数据库，而是本地 Markdown 知识库。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37560"/>
            <a:ext cx="4846320" cy="10058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337560"/>
            <a:ext cx="73152" cy="1005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474720"/>
            <a:ext cx="459028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课堂原则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3904487"/>
            <a:ext cx="4553712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不要让 Obsidian 替代 Zotero。文献事实仍以 Zotero 为准。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3：安装推荐插件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6263640"/>
              </a:tblGrid>
              <a:tr h="566928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插件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装在哪里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Better BibTeX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稳定 citekey、BibTeX 自动导出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Templates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Obsidian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插入论文卡片模板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Dataview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Obsidian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后续按字段检索笔记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 Integration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Obsidian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从 Zotero 条目生成 note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572000"/>
            <a:ext cx="5120640" cy="11430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建议 citekey：</a:t>
            </a:r>
            <a:br/>
            <a:r>
              <a:t>auth.lower + year + shorttitle(3,3)</a:t>
            </a:r>
            <a:br/>
            <a:br/>
            <a:r>
              <a:t>示例：</a:t>
            </a:r>
            <a:br/>
            <a:r>
              <a:t>smith2024aitrust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617720"/>
            <a:ext cx="4754880" cy="10058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4617720"/>
            <a:ext cx="73152" cy="10058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4754880"/>
            <a:ext cx="44988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课堂提醒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5184648"/>
            <a:ext cx="4462272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插件界面可能随版本变化。掌握逻辑比背按钮更重要：稳定 key、模板制卡、字段检索。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4：创建本地工作区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1155680" cy="3749039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950">
                <a:solidFill>
                  <a:srgbClr val="EBEFF5"/>
                </a:solidFill>
                <a:latin typeface="Courier New"/>
              </a:defRPr>
            </a:pPr>
            <a:r>
              <a:t>New-Item -ItemType Directory -Force -Path "D:\AI科研训练营\第04讲_知识库工作区"</a:t>
            </a:r>
            <a:br/>
            <a:r>
              <a:t>cd "D:\AI科研训练营\第04讲_知识库工作区"</a:t>
            </a:r>
            <a:br/>
            <a:br/>
            <a:r>
              <a:t>New-Item -ItemType Directory -Force -Path configs,zotero_exports,obsidian_vault,matrices,graphs,reusable_insights,qc,output,skills</a:t>
            </a:r>
            <a:br/>
            <a:r>
              <a:t>New-Item -ItemType Directory -Force -Path obsidian_vault\00_Inbox,obsidian_vault\01_Papers,obsidian_vault\02_Theories,obsidian_vault\03_Variables,obsidian_vault\04_Methods,obsidian_vault\05_Projects,obsidian_vault\06_Matrices,obsidian_vault\07_Graphs,obsidian_vault\08_Templates,obsidian_vault\99_Archive</a:t>
            </a:r>
            <a:br/>
            <a:r>
              <a:t>New-Item -ItemType File -Force -Path AGENTS.md,research_log.md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486400"/>
            <a:ext cx="10424160" cy="68580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486400"/>
            <a:ext cx="73152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5623560"/>
            <a:ext cx="101681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6053328"/>
            <a:ext cx="10131552" cy="274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打开文件夹后应看到 configs、zotero_exports、obsidian_vault、matrices、graphs、reusable_insights、qc。</a:t>
            </a:r>
          </a:p>
        </p:txBody>
      </p:sp>
    </p:spTree>
  </p:cSld>
  <p:clrMapOvr>
    <a:masterClrMapping/>
  </p:clrMapOvr>
</p:sld>
</file>

<file path=ppt/slides/slide11.xml><?xml version='1.0' encoding='UTF-8' standalone='yes'?>
<p:sld xmlns:a="http://schemas.openxmlformats.org/drawingml/2006/main" xmlns:p="http://schemas.openxmlformats.org/presentationml/2006/main" xmlns:r="http://schemas.openxmlformats.org/officeDocument/2006/relationships"><p:cSld><p:bg><p:bgPr><a:solidFill><a:srgbClr val="F7F8F5"/></a:solidFill><a:effectLst/></p:bgPr></p:bg><p:spTree><p:nvGrpSpPr><p:cNvPr id="1" name=""/><p:cNvGrpSpPr/><p:nvPr/></p:nvGrpSpPr><p:grpSpPr/><p:sp><p:nvSpPr><p:cNvPr id="2" name="Rectangle 1"/><p:cNvSpPr/><p:nvPr/></p:nvSpPr><p:spPr><a:xfrm><a:off x="0" y="0"/><a:ext cx="12191695" cy="310896"/></a:xfrm><a:prstGeom prst="rect"><a:avLst/></a:prstGeom><a:solidFill><a:srgbClr val="0F766E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3" name="TextBox 2"/><p:cNvSpPr txBox="1"/><p:nvPr/></p:nvSpPr><p:spPr><a:xfrm><a:off x="411480" y="45720"/><a:ext cx="1463040" cy="201168"/></a:xfrm><a:prstGeom prst="rect"><a:avLst/></a:prstGeom><a:noFill/></p:spPr><p:txBody><a:bodyPr wrap="square" lIns="45720" rIns="45720" tIns="27432" bIns="27432" anchor="t"><a:spAutoFit/></a:bodyPr><a:lstStyle/><a:p><a:pPr algn="l"><a:defRPr sz="800" b="1"><a:solidFill><a:srgbClr val="FFFFFF"/></a:solidFill><a:latin typeface="Microsoft YaHei"/></a:defRPr></a:pPr><a:r><a:t>第 04 讲</a:t></a:r></a:p></p:txBody></p:sp><p:sp><p:nvSpPr><p:cNvPr id="4" name="TextBox 3"/><p:cNvSpPr txBox="1"/><p:nvPr/></p:nvSpPr><p:spPr><a:xfrm><a:off x="11018520" y="36576"/><a:ext cx="640080" cy="228600"/></a:xfrm><a:prstGeom prst="rect"><a:avLst/></a:prstGeom><a:noFill/></p:spPr><p:txBody><a:bodyPr wrap="square" lIns="45720" rIns="45720" tIns="27432" bIns="27432" anchor="t"><a:spAutoFit/></a:bodyPr><a:lstStyle/><a:p><a:pPr algn="r"><a:defRPr sz="1000" b="1"><a:solidFill><a:srgbClr val="FFFFFF"/></a:solidFill><a:latin typeface="Microsoft YaHei"/></a:defRPr></a:pPr><a:r><a:t>11</a:t></a:r></a:p></p:txBody></p:sp><p:sp><p:nvSpPr><p:cNvPr id="5" name="TextBox 4"/><p:cNvSpPr txBox="1"/><p:nvPr/></p:nvSpPr><p:spPr><a:xfrm><a:off x="502920" y="566928"/><a:ext cx="10789920" cy="502920"/></a:xfrm><a:prstGeom prst="rect"><a:avLst/></a:prstGeom><a:noFill/></p:spPr><p:txBody><a:bodyPr wrap="square" lIns="45720" rIns="45720" tIns="27432" bIns="27432" anchor="t"><a:spAutoFit/></a:bodyPr><a:lstStyle/><a:p><a:pPr algn="l"><a:defRPr sz="2500" b="1"><a:solidFill><a:srgbClr val="1F2933"/></a:solidFill><a:latin typeface="Microsoft YaHei"/></a:defRPr></a:pPr><a:r><a:t>Step 5：复制本讲 Skills</a:t></a:r></a:p></p:txBody></p:sp><p:sp><p:nvSpPr><p:cNvPr id="6" name="Rectangle 5"/><p:cNvSpPr/><p:nvPr/></p:nvSpPr><p:spPr><a:xfrm><a:off x="502920" y="1106424"/><a:ext cx="1005840" cy="54864"/></a:xfrm><a:prstGeom prst="rect"><a:avLst/></a:prstGeom><a:solidFill><a:srgbClr val="B45309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/><a:lstStyle/><a:p><a:pPr algn="ctr"/></a:p></p:txBody></p:sp><p:sp><p:nvSpPr><p:cNvPr id="7" name="Rounded Rectangle 6"/><p:cNvSpPr/><p:nvPr/></p:nvSpPr><p:spPr><a:xfrm><a:off x="777240" y="1417320"/><a:ext cx="10789920" cy="2057400"/></a:xfrm><a:prstGeom prst="roundRect"><a:avLst/></a:prstGeom><a:solidFill><a:srgbClr val="212B36"/></a:solidFill><a:ln><a:noFill/></a:ln></p:spPr><p:style><a:lnRef idx="1"><a:schemeClr val="accent1"/></a:lnRef><a:fillRef idx="3"><a:schemeClr val="accent1"/></a:fillRef><a:effectRef idx="2"><a:schemeClr val="accent1"/></a:effectRef><a:fontRef idx="minor"><a:schemeClr val="lt1"/></a:fontRef></p:style><p:txBody><a:bodyPr rtlCol="0" anchor="ctr" lIns="137160" rIns="137160" tIns="109728" bIns="73152" wrap="square"/><a:lstStyle/><a:p><a:pPr algn="ctr"><a:defRPr sz="1150"><a:solidFill><a:srgbClr val="EBEFF5"/></a:solidFill><a:latin typeface="Courier New"/></a:defRPr></a:pPr><a:r><a:t>cd "<本项目路径>\本地Skills功能分类库"</a:t></a:r><a:br/><a:br/><a:r><a:t>powershell -ExecutionPolicy Bypass -File .\00_工具脚本\copy_skill_to_workspace.ps1 `</a:t></a:r><a:br/><a:r><a:t>  -SkillName zotero-library-sync,obsidian-paper-card,theory-variable-method-matrix,research-question-knowledge-graph,paper-reusable-insight-bank,citation-management,pdf,markitdown,xlsx `</a:t></a:r><a:br/><a:r><a:t>  -Workspace "D:\AI科研训练营\第04讲_知识库工作区"</a:t></a:r></a:p></p:txBody></p:sp><p:graphicFrame><p:nvGraphicFramePr><p:cNvPr id="8" name="Table 7"/><p:cNvGraphicFramePr><a:graphicFrameLocks noGrp="1"/></p:cNvGraphicFramePr><p:nvPr/></p:nvGraphicFramePr><p:xfrm><a:off x="777240" y="3886200"/><a:ext cx="10789920" cy="1325880"/></p:xfrm><a:graphic><a:graphicData uri="http://schemas.openxmlformats.org/drawingml/2006/table"><a:tbl><a:tblPr firstRow="1" bandRow="1"><a:tableStyleId>{5C22544A-7EE6-4342-B048-85BDC9FD1C3A}</a:tableStyleId></a:tblPr><a:tblGrid><a:gridCol w="2103120"/><a:gridCol w="8686800"/></a:tblGrid><a:tr h="662940"><a:tc><a:txBody><a:bodyPr/><a:lstStyle/><a:p><a:pPr algn="l"><a:defRPr sz="1250" b="1"><a:solidFill><a:srgbClr val="FFFFFF"/></a:solidFill><a:latin typeface="Microsoft YaHei"/></a:defRPr></a:pPr><a:r><a:t>检查命令</a:t></a:r></a:p></a:txBody><a:tcPr marL="45720" marR="36576" marT="27432" marB="27432" anchor="ctr"><a:solidFill><a:srgbClr val="0F766E"/></a:solidFill></a:tcPr></a:tc><a:tc><a:txBody><a:bodyPr/><a:lstStyle/><a:p><a:pPr algn="l"><a:defRPr sz="1250" b="1"><a:solidFill><a:srgbClr val="FFFFFF"/></a:solidFill><a:latin typeface="Microsoft YaHei"/></a:defRPr></a:pPr><a:r><a:t>Get-ChildItem "D:\AI科研训练营\第04讲_知识库工作区\skills" -Directory</a:t></a:r></a:p></a:txBody><a:tcPr marL="45720" marR="36576" marT="27432" marB="27432" anchor="ctr"><a:solidFill><a:srgbClr val="0F766E"/></a:solidFill></a:tcPr></a:tc></a:tr><a:tr h="662940"><a:tc><a:txBody><a:bodyPr/><a:lstStyle/><a:p><a:pPr algn="l"><a:defRPr sz="1200" b="0"><a:solidFill><a:srgbClr val="1F2933"/></a:solidFill><a:latin typeface="Microsoft YaHei"/></a:defRPr></a:pPr><a:r><a:t>合格结果</a:t></a:r></a:p></a:txBody><a:tcPr marL="45720" marR="36576" marT="27432" marB="27432" anchor="ctr"><a:solidFill><a:srgbClr val="FFFFFF"/></a:solidFill></a:tcPr></a:tc><a:tc><a:txBody><a:bodyPr/><a:lstStyle/><a:p><a:pPr algn="l"><a:defRPr sz="1200" b="0"><a:solidFill><a:srgbClr val="1F2933"/></a:solidFill><a:latin typeface="Microsoft YaHei"/></a:defRPr></a:pPr><a:r><a:t>能看到 zotero-library-sync、obsidian-paper-card、matrix、graph、insight-bank</a:t></a:r></a:p></a:txBody><a:tcPr marL="45720" marR="36576" marT="27432" marB="27432" anchor="ctr"><a:solidFill><a:srgbClr val="FFFFFF"/></a:solidFill></a:tcPr></a:tc></a:tr></a:tbl></a:graphicData></a:graphic></p:graphicFrame></p:spTree></p:cSld><p:clrMapOvr><a:masterClrMapping/></p:clrMapOvr>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6：Zotero Collection 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43000"/>
          <a:ext cx="11018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75320"/>
              </a:tblGrid>
              <a:tr h="441960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Collection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00_inbox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刚收进来的文献，未清理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01_to_read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未来要读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02_reading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正在读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03_core_theory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理论源文献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04_methods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方法源文献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05_measures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量表、测量和变量操作化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06_datasets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数据集、语料、平台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07_reviews_meta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综述和 meta-analysis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08_manuscript_citations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当前论文要引用的文献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09_daily_literature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每日文献日报导入内容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99_archive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已归档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7：Zotero 标签体系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27432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2011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63039"/>
            <a:ext cx="24871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字段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92807"/>
            <a:ext cx="2450592" cy="1353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field:management</a:t>
            </a:r>
            <a:br/>
            <a:r>
              <a:t>field:psychology</a:t>
            </a:r>
            <a:br/>
            <a:r>
              <a:t>field:neuroscience</a:t>
            </a:r>
            <a:br/>
            <a:r>
              <a:t>field:bci</a:t>
            </a:r>
            <a:br/>
            <a:r>
              <a:t>field:hci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325880"/>
            <a:ext cx="274320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325880"/>
            <a:ext cx="73152" cy="2011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1463039"/>
            <a:ext cx="24871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1892807"/>
            <a:ext cx="2450592" cy="1353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method:eeg</a:t>
            </a:r>
            <a:br/>
            <a:r>
              <a:t>method:erp</a:t>
            </a:r>
            <a:br/>
            <a:r>
              <a:t>method:scenario_experiment</a:t>
            </a:r>
            <a:br/>
            <a:r>
              <a:t>method:text_mining</a:t>
            </a:r>
            <a:br/>
            <a:r>
              <a:t>method:machine_learning</a:t>
            </a:r>
            <a:br/>
            <a:r>
              <a:t>method:causal_inference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325880"/>
            <a:ext cx="256032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1325880"/>
            <a:ext cx="73152" cy="20116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1463039"/>
            <a:ext cx="2304287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角色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1892807"/>
            <a:ext cx="2267712" cy="1353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role:classic</a:t>
            </a:r>
            <a:br/>
            <a:r>
              <a:t>role:must_read</a:t>
            </a:r>
            <a:br/>
            <a:r>
              <a:t>role:method_source</a:t>
            </a:r>
            <a:br/>
            <a:r>
              <a:t>role:measure_source</a:t>
            </a:r>
            <a:br/>
            <a:r>
              <a:t>role:theory_source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325880"/>
            <a:ext cx="2240280" cy="2011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60" y="1325880"/>
            <a:ext cx="73152" cy="201168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1463039"/>
            <a:ext cx="198424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1892807"/>
            <a:ext cx="1947672" cy="135331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00" b="0">
                <a:solidFill>
                  <a:srgbClr val="1F2933"/>
                </a:solidFill>
                <a:latin typeface="Microsoft YaHei"/>
              </a:defRPr>
            </a:pPr>
            <a:r>
              <a:t>status:to_read</a:t>
            </a:r>
            <a:br/>
            <a:r>
              <a:t>status:read</a:t>
            </a:r>
            <a:br/>
            <a:r>
              <a:t>status:verified</a:t>
            </a:r>
            <a:br/>
            <a:r>
              <a:t>status:needs_check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1605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800" b="1">
                <a:solidFill>
                  <a:srgbClr val="1F2933"/>
                </a:solidFill>
                <a:latin typeface="Microsoft YaHei"/>
              </a:defRPr>
            </a:pPr>
            <a:r>
              <a:t>每篇文献至少 3 个标签：field + method + status。重要文献再加 role。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074920"/>
            <a:ext cx="10195560" cy="77724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5074920"/>
            <a:ext cx="73152" cy="777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521208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不要做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641848"/>
            <a:ext cx="9902952" cy="118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不要一会儿写 method:eeg，一会儿写 EEG，一会儿写 脑电。标签必须稳定。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8：导入 10 篇文献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303520"/>
                <a:gridCol w="3337560"/>
              </a:tblGrid>
              <a:tr h="612648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方式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操作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适合场景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浏览器 Connector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打开论文网页，点击 Zotero 保存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出版社页面、数据库页面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拖入 PDF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 拖进 Zotero，右键 Retrieve Metadata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已有 PDF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DOI 魔法棒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点击魔法棒，输入 DOI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知道 DOI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BibTeX 导入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File &gt; Import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第三讲生成 BibTeX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" y="4892040"/>
            <a:ext cx="10149840" cy="10058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至少 10 篇文献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至少 5 篇有 PDF 附件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每篇检查题名、作者、年份、期刊、DOI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缺 DOI 的标 status:needs_check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9：导出 Zotero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5166360" cy="219456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在 Zotero 中选中 Collection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右键 Export Collection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格式选择 BibTeX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保存到 zotero_exports/references.bib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如果有 CSV/JSON，也保存到 zotero_exports/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600200"/>
            <a:ext cx="4800600" cy="8229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目标路径：</a:t>
            </a:r>
            <a:br/>
            <a:r>
              <a:t>D:\AI科研训练营\第04讲_知识库工作区\zotero_exports\references.bib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971800"/>
            <a:ext cx="4800600" cy="100584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2971800"/>
            <a:ext cx="73152" cy="1005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3108960"/>
            <a:ext cx="45445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检查点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3538728"/>
            <a:ext cx="4507992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references.bib 存在；citekey 不重复；重要文献 DOI 没丢；中文题名没有乱码。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4434840"/>
            <a:ext cx="4800600" cy="86868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46520" y="443484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4572000"/>
            <a:ext cx="454456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下一步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5001768"/>
            <a:ext cx="4507992" cy="210311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用 zotero-library-sync 审计缺 DOI、重复、缺 PDF、未打标签。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10：Zotero API 与安全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303520" cy="210312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API Key 页面：</a:t>
            </a:r>
            <a:br/>
            <a:r>
              <a:t>https://www.zotero.org/settings/keys</a:t>
            </a:r>
            <a:br/>
            <a:br/>
            <a:r>
              <a:t>环境变量：</a:t>
            </a:r>
            <a:br/>
            <a:r>
              <a:t>ZOTERO_LIBRARY_ID=your_user_or_group_id</a:t>
            </a:r>
            <a:br/>
            <a:r>
              <a:t>ZOTERO_LIBRARY_TYPE=user</a:t>
            </a:r>
            <a:br/>
            <a:r>
              <a:t>ZOTERO_API_KEY=your_private_key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554480"/>
            <a:ext cx="4480560" cy="22860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没有 API Key 也可以手动导出 BibTeX/CSV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API Key 只放环境变量或私有 .env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不要写进 Obsidian vault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不要提交到作业、飞书或 Git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课堂默认先读，不写回 Zotero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00600"/>
            <a:ext cx="10195560" cy="77724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800600"/>
            <a:ext cx="73152" cy="77724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93776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安全底线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5367528"/>
            <a:ext cx="9902952" cy="1188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0">
                <a:solidFill>
                  <a:srgbClr val="1F2933"/>
                </a:solidFill>
                <a:latin typeface="Microsoft YaHei"/>
              </a:defRPr>
            </a:pPr>
            <a:r>
              <a:t>任何 API Key 泄露，本讲作业直接不合格。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11：审计 Zotero 文献库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789920" cy="214884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Use zotero-library-sync to audit my Zotero library export.</a:t>
            </a:r>
            <a:br/>
            <a:r>
              <a:t>Do not display API keys.</a:t>
            </a:r>
            <a:br/>
            <a:r>
              <a:t>Use files in zotero_exports/.</a:t>
            </a:r>
            <a:br/>
            <a:r>
              <a:t>Export zotero_items.csv, references.bib, metadata_audit.xlsx, and obsidian_paper_index.md.</a:t>
            </a:r>
            <a:br/>
            <a:r>
              <a:t>Check missing DOI, duplicate titles, missing PDF attachments, untagged items, and inconsistent venue names.</a:t>
            </a:r>
            <a:br/>
            <a:r>
              <a:t>Do not write changes back to Zotero.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886200"/>
          <a:ext cx="107899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86384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zotero_items.csv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全库文献元数据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metadata_audit.xlsx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缺 DOI、缺 PDF、重复、未打标签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obsidian_paper_index.md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给 Obsidian 的文献索引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12：打开 Obsidian Vault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5212080" cy="23774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打开 Obsidian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选择 Open folder as vault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选择第04讲工作区下的 obsidian_vault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确认左侧出现 00_Inbox 到 99_Archive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把模板放入 08_Templates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600200"/>
            <a:ext cx="4846320" cy="15087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Vault 路径：</a:t>
            </a:r>
            <a:br/>
            <a:r>
              <a:t>D:\AI科研训练营\第04讲_知识库工作区\obsidian_vault</a:t>
            </a:r>
            <a:br/>
            <a:br/>
            <a:r>
              <a:t>模板路径：</a:t>
            </a:r>
            <a:br/>
            <a:r>
              <a:t>obsidian_vault\08_Templates\obsidian_paper_note_template.md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3703320"/>
            <a:ext cx="4846320" cy="914400"/>
          </a:xfrm>
          <a:prstGeom prst="roundRect">
            <a:avLst/>
          </a:prstGeom>
          <a:solidFill>
            <a:srgbClr val="DBF5F1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46520" y="3703320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3840480"/>
            <a:ext cx="459028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0F766E"/>
                </a:solidFill>
                <a:latin typeface="Microsoft YaHei"/>
              </a:defRPr>
            </a:pPr>
            <a:r>
              <a:t>检查点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4270248"/>
            <a:ext cx="4553712" cy="25603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1F2933"/>
                </a:solidFill>
                <a:latin typeface="Microsoft YaHei"/>
              </a:defRPr>
            </a:pPr>
            <a:r>
              <a:t>在 Obsidian 中能看到 01_Papers、02_Theories、03_Variables、04_Methods、08_Templates。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13：论文卡片命名与 YAML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4389120" cy="11430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500">
                <a:solidFill>
                  <a:srgbClr val="EBEFF5"/>
                </a:solidFill>
                <a:latin typeface="Courier New"/>
              </a:defRPr>
            </a:pPr>
            <a:r>
              <a:t>@FirstAuthorYear_ShortTitle.md</a:t>
            </a:r>
            <a:br/>
            <a:br/>
            <a:r>
              <a:t>示例：</a:t>
            </a:r>
            <a:br/>
            <a:r>
              <a:t>@Smith2024_AITrust.md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143000"/>
            <a:ext cx="5440680" cy="420624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100">
                <a:solidFill>
                  <a:srgbClr val="EBEFF5"/>
                </a:solidFill>
                <a:latin typeface="Courier New"/>
              </a:defRPr>
            </a:pPr>
            <a:r>
              <a:t>---</a:t>
            </a:r>
            <a:br/>
            <a:r>
              <a:t>zotero_key:</a:t>
            </a:r>
            <a:br/>
            <a:r>
              <a:t>citation_key:</a:t>
            </a:r>
            <a:br/>
            <a:r>
              <a:t>title:</a:t>
            </a:r>
            <a:br/>
            <a:r>
              <a:t>authors:</a:t>
            </a:r>
            <a:br/>
            <a:r>
              <a:t>year:</a:t>
            </a:r>
            <a:br/>
            <a:r>
              <a:t>venue:</a:t>
            </a:r>
            <a:br/>
            <a:r>
              <a:t>doi:</a:t>
            </a:r>
            <a:br/>
            <a:r>
              <a:t>fields: []</a:t>
            </a:r>
            <a:br/>
            <a:r>
              <a:t>methods: []</a:t>
            </a:r>
            <a:br/>
            <a:r>
              <a:t>theories: []</a:t>
            </a:r>
            <a:br/>
            <a:r>
              <a:t>variables: []</a:t>
            </a:r>
            <a:br/>
            <a:r>
              <a:t>status: to_read</a:t>
            </a:r>
            <a:br/>
            <a:r>
              <a:t>verification_status: unverified</a:t>
            </a:r>
            <a:br/>
            <a:r>
              <a:t>---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4251960" cy="1874519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一篇论文一张 canonical note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YAML 放可检索字段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卡片主体放理解和启发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未核验内容不要写成 verified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14：生成 3 张论文卡片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789920" cy="20574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Use obsidian-paper-card to create Obsidian notes for three core papers.</a:t>
            </a:r>
            <a:br/>
            <a:r>
              <a:t>Use obsidian_paper_note_template.md.</a:t>
            </a:r>
            <a:br/>
            <a:r>
              <a:t>Each note must include YAML frontmatter, citation, one-sentence takeaway, research question, theory mechanism, variables, method, data/sample, key results, limitations, reusable ideas, and links.</a:t>
            </a:r>
            <a:br/>
            <a:r>
              <a:t>Separate paper evidence from my interpretation.</a:t>
            </a:r>
            <a:br/>
            <a:r>
              <a:t>Output notes to obsidian_vault/01_Papers/.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794760"/>
          <a:ext cx="107899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94960"/>
                <a:gridCol w="5394960"/>
              </a:tblGrid>
              <a:tr h="42291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合格卡片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不合格卡片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有理论机制、变量、方法、结果、启发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只有摘要或翻译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区分论文原意和个人解释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把自己的猜测写成作者结论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有 Zotero / PDF / 相关 note 链接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没有来源链接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15：建立理论、变量、方法笔记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349240" cy="22860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300">
                <a:solidFill>
                  <a:srgbClr val="EBEFF5"/>
                </a:solidFill>
                <a:latin typeface="Courier New"/>
              </a:defRPr>
            </a:pPr>
            <a:r>
              <a:t>02_Theories/Technology_Acceptance.md</a:t>
            </a:r>
            <a:br/>
            <a:r>
              <a:t>03_Variables/Trust_in_AI.md</a:t>
            </a:r>
            <a:br/>
            <a:r>
              <a:t>04_Methods/Scenario_Experiment.md</a:t>
            </a:r>
            <a:br/>
            <a:br/>
            <a:r>
              <a:t>论文卡片中链接：</a:t>
            </a:r>
            <a:br/>
            <a:r>
              <a:t>[[Technology_Acceptance]]</a:t>
            </a:r>
            <a:br/>
            <a:r>
              <a:t>[[Trust_in_AI]]</a:t>
            </a:r>
            <a:br/>
            <a:r>
              <a:t>[[Scenario_Experiment]]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00200"/>
            <a:ext cx="4480560" cy="210312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理论笔记：理论解释什么机制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变量笔记：定义、测量、量表、操作化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方法笔记：设计、样本、分析模型、风险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项目笔记：自己的论文如何复用这些材料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663440"/>
            <a:ext cx="10195560" cy="822960"/>
          </a:xfrm>
          <a:prstGeom prst="roundRect">
            <a:avLst/>
          </a:prstGeom>
          <a:solidFill>
            <a:srgbClr val="E2EBFF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66344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80060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Microsoft YaHei"/>
              </a:defRPr>
            </a:pPr>
            <a:r>
              <a:t>检查点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5230368"/>
            <a:ext cx="9902952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点击 [[...]] 链接可以跳转；核心概念不再散落在多篇论文卡片里。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16：理论-变量-方法矩阵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143000"/>
          <a:ext cx="11018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360920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字段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3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paper_id / zotero_key / citation_key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追溯来源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research_question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论文解决的问题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theory / mechanism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理论和解释机制分开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construct / variable_role / variable_name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构念、角色、变量名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measurement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量表、题项、特征、操作化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method_design / sample_data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研究设计和数据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analysis_model / key_result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模型和结果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reuse_for_my_project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如何复用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verification_status / note_link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8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核验状态和 Obsidian 链接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17：生成矩阵的 Agent 提示词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10789920" cy="18288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Use theory-variable-method-matrix to build a matrix from my Obsidian paper cards.</a:t>
            </a:r>
            <a:br/>
            <a:r>
              <a:t>Extract theory, mechanism, constructs, variable roles, measurement, method design, sample, analysis model, key result, limitations, and reuse_for_my_project.</a:t>
            </a:r>
            <a:br/>
            <a:r>
              <a:t>Export matrices/theory_variable_method_matrix.xlsx and matrices/theory_variable_method_matrix.md.</a:t>
            </a:r>
            <a:br/>
            <a:r>
              <a:t>Do not treat theories as decorative labels.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149840" cy="137160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至少 10 行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一篇论文可以多行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理论必须写机制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变量必须写测量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每行有 note_link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18：研究问题知识图谱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35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00684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节点类型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paper, author, venue, theory, mechanism, construct, variable, method, dataset, measure, research_question, hypothesis, finding, limitation, project, idea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边类型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cites, supports, contradicts, uses_theory, tests_mechanism, measures, uses_method, has_gap, informs_hypothesis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输出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graphs/research_question_graph.md 和 graphs/research_question_edges.xlsx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3794760"/>
            <a:ext cx="10424160" cy="192024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00">
                <a:solidFill>
                  <a:srgbClr val="EBEFF5"/>
                </a:solidFill>
                <a:latin typeface="Courier New"/>
              </a:defRPr>
            </a:pPr>
            <a:r>
              <a:t>graph TD</a:t>
            </a:r>
            <a:br/>
            <a:r>
              <a:t>  RQ[Research Question]</a:t>
            </a:r>
            <a:br/>
            <a:r>
              <a:t>  T[Theory]</a:t>
            </a:r>
            <a:br/>
            <a:r>
              <a:t>  M[Mechanism]</a:t>
            </a:r>
            <a:br/>
            <a:r>
              <a:t>  V[Variable]</a:t>
            </a:r>
            <a:br/>
            <a:r>
              <a:t>  P[Paper]</a:t>
            </a:r>
            <a:br/>
            <a:r>
              <a:t>  Method[Method]</a:t>
            </a:r>
            <a:br/>
            <a:r>
              <a:t>  RQ --&gt;|uses_theory| T</a:t>
            </a:r>
            <a:br/>
            <a:r>
              <a:t>  T --&gt;|explains| M</a:t>
            </a:r>
            <a:br/>
            <a:r>
              <a:t>  M --&gt;|predicts| V</a:t>
            </a:r>
            <a:br/>
            <a:r>
              <a:t>  P --&gt;|supports| M</a:t>
            </a:r>
            <a:br/>
            <a:r>
              <a:t>  P --&gt;|uses_method| Method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19：生成知识图谱的提示词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60020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Use research-question-knowledge-graph to build a knowledge graph for my research question.</a:t>
            </a:r>
            <a:br/>
            <a:r>
              <a:t>Use Zotero items and Obsidian paper cards as sources.</a:t>
            </a:r>
            <a:br/>
            <a:r>
              <a:t>Return node tables, typed edges, a Mermaid graph, and gap candidates requiring verification.</a:t>
            </a:r>
            <a:br/>
            <a:r>
              <a:t>Output graphs/research_question_graph.md and graphs/research_question_edges.xlsx.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66160"/>
            <a:ext cx="10195560" cy="82296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566160"/>
            <a:ext cx="73152" cy="8229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70332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人工核验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133087"/>
            <a:ext cx="9902952" cy="16459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如果一条边不能被论文或笔记支持，标为 idea edge；不能直接当作事实。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149840" cy="100584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gap 不是“我没读到”，而是检索后仍缺少证据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图谱太密时拆成理论层、方法层、证据层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每个关键节点都应能回到 Zotero 或 Obsidian note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20：可复用启发库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10789920" cy="1508760"/>
          </a:xfrm>
          <a:prstGeom prst="roundRect">
            <a:avLst/>
          </a:prstGeom>
          <a:solidFill>
            <a:srgbClr val="212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 bIns="73152" wrap="square"/>
          <a:lstStyle/>
          <a:p>
            <a:pPr algn="ctr">
              <a:defRPr sz="1250">
                <a:solidFill>
                  <a:srgbClr val="EBEFF5"/>
                </a:solidFill>
                <a:latin typeface="Courier New"/>
              </a:defRPr>
            </a:pPr>
            <a:r>
              <a:t>Use paper-reusable-insight-bank to extract reusable insights from the three paper cards and the matrix.</a:t>
            </a:r>
            <a:br/>
            <a:r>
              <a:t>Separate reusable theory, variables, methods, experiment designs, EEG/ERP/BCI ideas, text-mining ideas, and writing/rebuttal ideas.</a:t>
            </a:r>
            <a:br/>
            <a:r>
              <a:t>Output reusable_insights/paper_reusable_insight_bank.md.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429000"/>
          <a:ext cx="107899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595360"/>
              </a:tblGrid>
              <a:tr h="32766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启发类型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例子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某理论适合解释什么机制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变量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某变量如何测量或操纵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某设计如何复用到自己项目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EEG/BCI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某特征、范式或分类评估方式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写作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某篇论文如何处理局限或贡献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Step 21：每日维护流程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426464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收文献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1136" y="1417320"/>
            <a:ext cx="1426464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04288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补元数据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84831" y="1737360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822191" y="1417320"/>
            <a:ext cx="1426464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打标签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75887" y="1737360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13248" y="1417320"/>
            <a:ext cx="1426464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制卡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66944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004304" y="1417320"/>
            <a:ext cx="1426464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77456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更新矩阵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173736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59" y="1417320"/>
            <a:ext cx="1426464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68511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更新图谱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49055" y="1737360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186415" y="1417320"/>
            <a:ext cx="1426464" cy="64008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59567" y="1545336"/>
            <a:ext cx="1280160" cy="457199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100" b="1">
                <a:solidFill>
                  <a:srgbClr val="1F2933"/>
                </a:solidFill>
                <a:latin typeface="Microsoft YaHei"/>
              </a:defRPr>
            </a:pPr>
            <a:r>
              <a:t>写日志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040111" y="1737360"/>
            <a:ext cx="128017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2560320"/>
            <a:ext cx="10241280" cy="246888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新文献先进 Zotero 00_inbox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补 DOI、作者、年份、期刊、PDF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核心文献生成 Obsidian 卡片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把理论、变量、方法写入矩阵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新增关系写入知识图谱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真正可复用的内容进入 insight bank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800">
                <a:solidFill>
                  <a:srgbClr val="1F2933"/>
                </a:solidFill>
                <a:latin typeface="Microsoft YaHei"/>
              </a:defRPr>
            </a:pPr>
            <a:r>
              <a:t>最后更新 research_log.md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486400"/>
            <a:ext cx="10195560" cy="640080"/>
          </a:xfrm>
          <a:prstGeom prst="roundRect">
            <a:avLst/>
          </a:prstGeom>
          <a:solidFill>
            <a:srgbClr val="FEF3C7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5486400"/>
            <a:ext cx="73152" cy="64008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62356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45309"/>
                </a:solidFill>
                <a:latin typeface="Microsoft YaHei"/>
              </a:defRPr>
            </a:pPr>
            <a:r>
              <a:t>时间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6053328"/>
            <a:ext cx="9902952" cy="-1828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每天 20-40 分钟维护一次，比月底整理 300 篇文献更可靠。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知识库审计清单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25880"/>
          <a:ext cx="108356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92440"/>
              </a:tblGrid>
              <a:tr h="528320"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审计项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检查内容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 元数据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题名、作者、年份、期刊、DOI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PDF 附件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是否与条目匹配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citekey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唯一、稳定、可读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Obsidian 卡片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是否混淆论文原意和个人推断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理论机制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是否只是贴理论标签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变量测量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构念和测量是否分开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知识图谱边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每条边是否有证据来源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API Key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是否泄露到 vault、作业、共享文件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课堂验收：学生必须完成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143000"/>
          <a:ext cx="108356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8001000"/>
              </a:tblGrid>
              <a:tr h="5842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提交物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最低要求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Zotero 文献库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10 篇文献，5 篇有 PDF，每篇 3 个标签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references.bib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BibTeX 导出，citekey 不重复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metadata_audit.xlsx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缺 DOI、缺 PDF、重复、未打标签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Obsidian Vault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标准文件夹结构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论文卡片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3 张，含 YAML、链接和核验项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理论-变量-方法矩阵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10 行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研究问题知识图谱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节点、边、Mermaid 图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可复用启发库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至少 5 条具体启发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常见错误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1099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3886200"/>
                <a:gridCol w="4343400"/>
              </a:tblGrid>
              <a:tr h="633548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错误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后果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修正</a:t>
                      </a:r>
                    </a:p>
                  </a:txBody>
                  <a:tcPr marL="45720" marR="36576" marT="27432" marB="27432" anchor="ctr">
                    <a:solidFill>
                      <a:srgbClr val="0F766E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把 PDF 只存在本地文件夹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引用和元数据不可管理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进入 Zotero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Obsidian 只摘抄摘要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无法服务综述和选题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按理论/变量/方法制卡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理论只写名称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机制不成立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写清理论如何解释变量关系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矩阵没有 note_link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无法追溯证据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每行链接论文卡片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图谱边无证据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伪知识图谱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标注 evidence 或 idea edge</a:t>
                      </a:r>
                    </a:p>
                  </a:txBody>
                  <a:tcPr marL="45720" marR="36576" marT="27432" marB="27432" anchor="ctr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API Key 写进 vault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密钥泄露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F2933"/>
                          </a:solidFill>
                          <a:latin typeface="Microsoft YaHei"/>
                        </a:defRPr>
                      </a:pPr>
                      <a:r>
                        <a:t>用环境变量或私有配置</a:t>
                      </a:r>
                    </a:p>
                  </a:txBody>
                  <a:tcPr marL="45720" marR="36576" marT="27432" marB="27432" anchor="ctr"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课后作业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424160" cy="3840480"/>
          </a:xfrm>
          <a:prstGeom prst="rect">
            <a:avLst/>
          </a:prstGeom>
          <a:noFill/>
        </p:spPr>
        <p:txBody>
          <a:bodyPr wrap="square" lIns="73152" rIns="54864" tIns="27432" bIns="27432">
            <a:spAutoFit/>
          </a:bodyPr>
          <a:lstStyle/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提交：姓名_第04讲_Zotero_Obsidian长期知识库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Zotero：至少 10 篇文献，5 篇 PDF，Collection 和 Tags 完整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导出：zotero_items.csv、references.bib、metadata_audit.xlsx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Obsidian：至少 3 张论文卡片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矩阵：theory_variable_method_matrix.xlsx 至少 10 行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图谱：research_question_graph.md 含 Mermaid 图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启发库：至少 5 条可复用启发</a:t>
            </a:r>
          </a:p>
          <a:p>
            <a:pPr>
              <a:lnSpc>
                <a:spcPct val="108000"/>
              </a:lnSpc>
              <a:spcAft>
                <a:spcPts val="400"/>
              </a:spcAft>
              <a:defRPr sz="1700">
                <a:solidFill>
                  <a:srgbClr val="1F2933"/>
                </a:solidFill>
                <a:latin typeface="Microsoft YaHei"/>
              </a:defRPr>
            </a:pPr>
            <a:r>
              <a:t>反思：Zotero 与 Obsidian 为什么不能混用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486400"/>
            <a:ext cx="10195560" cy="731520"/>
          </a:xfrm>
          <a:prstGeom prst="roundRect">
            <a:avLst/>
          </a:prstGeom>
          <a:solidFill>
            <a:srgbClr val="FEE2E2"/>
          </a:solidFill>
          <a:ln w="10160">
            <a:solidFill>
              <a:srgbClr val="D2D7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5486400"/>
            <a:ext cx="73152" cy="7315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623560"/>
            <a:ext cx="9939528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00" b="1">
                <a:solidFill>
                  <a:srgbClr val="B91C1C"/>
                </a:solidFill>
                <a:latin typeface="Microsoft YaHei"/>
              </a:defRPr>
            </a:pPr>
            <a:r>
              <a:t>直接不合格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6053328"/>
            <a:ext cx="9902952" cy="7315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400" b="0">
                <a:solidFill>
                  <a:srgbClr val="1F2933"/>
                </a:solidFill>
                <a:latin typeface="Microsoft YaHei"/>
              </a:defRPr>
            </a:pPr>
            <a:r>
              <a:t>泄露 API Key；只有截图没有文件；论文卡片只有摘要；矩阵无机制；图谱边无证据。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1089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5720"/>
            <a:ext cx="1463040" cy="2011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Microsoft YaHei"/>
              </a:defRPr>
            </a:pPr>
            <a:r>
              <a:t>第 04 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6576"/>
            <a:ext cx="64008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500" b="1">
                <a:solidFill>
                  <a:srgbClr val="1F2933"/>
                </a:solidFill>
                <a:latin typeface="Microsoft YaHei"/>
              </a:defRPr>
            </a:pPr>
            <a:r>
              <a:t>本讲一句话总结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06424"/>
            <a:ext cx="1005840" cy="54864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10058400" cy="1645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2800" b="1">
                <a:solidFill>
                  <a:srgbClr val="1F2933"/>
                </a:solidFill>
                <a:latin typeface="Microsoft YaHei"/>
              </a:defRPr>
            </a:pPr>
            <a:r>
              <a:t>长期知识库的价值，</a:t>
            </a:r>
            <a:br/>
            <a:r>
              <a:t>不是把文献存起来，</a:t>
            </a:r>
            <a:br/>
            <a:r>
              <a:t>而是让每篇文献都能进入理论、变量、方法、问题和项目的复用网络。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07592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Zotero 事实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96742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9894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Obsidian 理解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50438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59044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2196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矩阵比较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12740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21347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4499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图谱关联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75043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83649" y="4343400"/>
            <a:ext cx="1797710" cy="685800"/>
          </a:xfrm>
          <a:prstGeom prst="roundRect">
            <a:avLst/>
          </a:prstGeom>
          <a:solidFill>
            <a:srgbClr val="DBF5F1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6801" y="4471416"/>
            <a:ext cx="1651406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300" b="1">
                <a:solidFill>
                  <a:srgbClr val="1F2933"/>
                </a:solidFill>
                <a:latin typeface="Microsoft YaHei"/>
              </a:defRPr>
            </a:pPr>
            <a:r>
              <a:t>启发复用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37345" y="4686300"/>
            <a:ext cx="128016" cy="0"/>
          </a:xfrm>
          <a:prstGeom prst="line">
            <a:avLst/>
          </a:prstGeom>
          <a:ln w="1524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Public Release</cp:lastModifiedBy>
  <cp:revision>1</cp:revision>
  <dcterms:created xsi:type="dcterms:W3CDTF">2013-01-27T09:14:16Z</dcterms:created>
  <dcterms:modified xsi:type="dcterms:W3CDTF">2013-01-27T09:15:58Z</dcterms:modified>
  <cp:category/>
</cp:coreProperties>
</file>