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554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第 12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554480"/>
            <a:ext cx="205740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论文写作</a:t>
            </a:r>
            <a:br/>
            <a:r>
              <a:t>审稿自查</a:t>
            </a:r>
            <a:br/>
            <a:r>
              <a:t>期刊排版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57784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从研究包到投稿包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005840"/>
            <a:ext cx="80010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700" b="1">
                <a:solidFill>
                  <a:srgbClr val="202A36"/>
                </a:solidFill>
                <a:latin typeface="Microsoft YaHei"/>
              </a:defRPr>
            </a:pPr>
            <a:r>
              <a:t>把科研材料变成可核验、可匿名、可投稿的论文包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783080"/>
            <a:ext cx="8001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586572"/>
                </a:solidFill>
                <a:latin typeface="Microsoft YaHei"/>
              </a:defRPr>
            </a:pPr>
            <a:r>
              <a:t>Storyline · Section Writing · Citation Audit · Peer Review · Formatting · Blind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证据包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7111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3687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故事线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16526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42381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8957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提纲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41797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67652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4228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章节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67068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92923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9499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引用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92339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8194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4770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审稿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17611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43465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0041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排版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42882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468736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05312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投稿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368153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91840" y="4069080"/>
            <a:ext cx="7973568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4069080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197096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581144"/>
            <a:ext cx="7671816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evidence_pack、storyline、reverse_outline、section drafts、reference_audit、reviewer_risk_audit、formatting_pipeline、journal_formatting_audit、blind_review_checklist、cover_letter。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5413248"/>
            <a:ext cx="7973568" cy="78638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5413248"/>
            <a:ext cx="73152" cy="78638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5541264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925312"/>
            <a:ext cx="7671816" cy="2011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引用不能编，数值不能改，排版不能改变学术内容。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本讲解决什么问题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440680" cy="292608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材料很多，但不知道怎样组织成论文主线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AI 写作容易堆砌、空泛、贡献夸大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引用看起来完整，但不一定真实支持句子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结果表和正文统计值容易不一致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人工适配期刊格式耗时且易出错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盲审稿常残留作者身份和文件元数据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72768"/>
            <a:ext cx="4663440" cy="109728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72768"/>
            <a:ext cx="73152" cy="10972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00784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本讲不做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84832"/>
            <a:ext cx="4361688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不让 AI 编论文、编引用、改数值、夸大贡献。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063240"/>
            <a:ext cx="4663440" cy="109728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3063240"/>
            <a:ext cx="73152" cy="109728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191256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本讲要做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75304"/>
            <a:ext cx="4361688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让 AI 在证据边界内组织论证、审稿自查和执行确定性排版。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证据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66989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3565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故事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66405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65299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1875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章节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64715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63609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185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引用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63025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61918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8494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审稿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61334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60228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6804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排版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59644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58538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95114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匿名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57954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本讲最终产出文件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35024"/>
          <a:ext cx="10927080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343400"/>
                <a:gridCol w="5166360"/>
              </a:tblGrid>
              <a:tr h="56921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证据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evidence_pack.md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claim、证据、引用需求和风险绑定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故事线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manuscript_storyline.md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problem、tension、gap、mechanism、contribution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提纲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reverse_outline.md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每段功能、主题句、证据和连接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写作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section drafts / full_manuscript.md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分章节写作和全文整合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引用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reference_audit.xlsx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真实引用、缺失字段和句子支持矩阵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审稿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reviewer_risk_audit.md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贡献、理论、方法、统计和因果风险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排版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formatting_pipeline / blind_review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10 个格式模块和盲审提交包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925312"/>
            <a:ext cx="10561320" cy="51206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925312"/>
            <a:ext cx="73152" cy="5120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53328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提交底线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37376"/>
            <a:ext cx="10259568" cy="-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没有引用核验、数值核验和盲审核验，不建议投稿。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需要哪些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298448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617720"/>
                <a:gridCol w="4937760"/>
              </a:tblGrid>
              <a:tr h="542925"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Skills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写作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academic-paper-composer / scientific-writing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按提纲分章节写作和质量门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实证论文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empirical-paper-writer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标题、摘要、引言、方法、结果、结论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审稿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peer-review / scientific-critical-thinking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方法、统计、因果、复现和伦理自查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期刊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venue-templates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目标期刊与模板要求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引用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citation-management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BibTeX、DOI、正文-文末一致性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文档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docx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Word 稿件、作者版、盲审版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排版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10 个 journal-* Skills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题名、摘要、引用、图表、统计、布局、盲审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33872"/>
            <a:ext cx="10561320" cy="566928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833872"/>
            <a:ext cx="73152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961888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配套模板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345936"/>
            <a:ext cx="1025956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本讲提供章节追踪、引用审计、格式审计、盲审匿名化、审稿风险和投稿包 Excel。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1：创建工作区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52760" cy="21031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New-Item -ItemType Directory -Force -Path "D:\AI科研训练营\第12讲_论文写作审稿自查与期刊排版工作区"</a:t>
            </a:r>
            <a:br/>
            <a:r>
              <a:t>cd "D:\AI科研训练营\第12讲_论文写作审稿自查与期刊排版工作区"</a:t>
            </a:r>
            <a:br/>
            <a:br/>
            <a:r>
              <a:t>New-Item -ItemType Directory -Force -Path input,manuscript,references,figures,tables,formatting,qc,output,skills</a:t>
            </a:r>
            <a:br/>
            <a:r>
              <a:t>New-Item -ItemType File -Force -Path AGENTS.md,research_log.md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31920"/>
            <a:ext cx="10469880" cy="9601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931920"/>
            <a:ext cx="73152" cy="9601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59935"/>
            <a:ext cx="101955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检查标准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43983"/>
            <a:ext cx="1016812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input 放前面课程材料；manuscript 放草稿；references 放 bib 和审计；formatting 放期刊格式；output 放投稿包。</a:t>
            </a:r>
          </a:p>
        </p:txBody>
      </p:sp>
    </p:spTree>
  </p:cSld>
  <p:clrMapOvr>
    <a:masterClrMapping/>
  </p:clrMapOvr>
</p:sld>
</file>

<file path=ppt/slides/slide6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8F9F7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D74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50292"/><a:ext cx="3931920" cy="201168"/></a:xfrm><a:prstGeom prst="rect"><a:avLst/></a:prstGeom><a:noFill/></p:spPr><p:txBody><a:bodyPr wrap="square" lIns="45720" rIns="45720" tIns="18288" bIns="18288" anchor="t"><a:spAutoFit/></a:bodyPr><a:lstStyle/><a:p><a:pPr algn="l"><a:defRPr sz="850" b="1"><a:solidFill><a:srgbClr val="FFFFFF"/></a:solidFill><a:latin typeface="Microsoft YaHei"/></a:defRPr></a:pPr><a:r><a:t>第 12 讲 · 论文写作、审稿自查与期刊排版</a:t></a:r></a:p></p:txBody></p:sp><p:sp><p:nvSpPr><p:cNvPr id="4" name="TextBox 3"/><p:cNvSpPr txBox="1"/><p:nvPr/></p:nvSpPr><p:spPr><a:xfrm><a:off x="11155680" y="45720"/><a:ext cx="502920" cy="201168"/></a:xfrm><a:prstGeom prst="rect"><a:avLst/></a:prstGeom><a:noFill/></p:spPr><p:txBody><a:bodyPr wrap="square" lIns="45720" rIns="45720" tIns="18288" bIns="18288" anchor="t"><a:spAutoFit/></a:bodyPr><a:lstStyle/><a:p><a:pPr algn="r"><a:defRPr sz="900" b="1"><a:solidFill><a:srgbClr val="FFFFFF"/></a:solidFill><a:latin typeface="Microsoft YaHei"/></a:defRPr></a:pPr><a:r><a:t>06</a:t></a:r></a:p></p:txBody></p:sp><p:sp><p:nvSpPr><p:cNvPr id="5" name="TextBox 4"/><p:cNvSpPr txBox="1"/><p:nvPr/></p:nvSpPr><p:spPr><a:xfrm><a:off x="530352" y="548640"/><a:ext cx="10789920" cy="502920"/></a:xfrm><a:prstGeom prst="rect"><a:avLst/></a:prstGeom><a:noFill/></p:spPr><p:txBody><a:bodyPr wrap="square" lIns="45720" rIns="45720" tIns="18288" bIns="18288" anchor="t"><a:spAutoFit/></a:bodyPr><a:lstStyle/><a:p><a:pPr algn="l"><a:defRPr sz="2400" b="1"><a:solidFill><a:srgbClr val="202A36"/></a:solidFill><a:latin typeface="Microsoft YaHei"/></a:defRPr></a:pPr><a:r><a:t>实操 2：复制本讲 Skills</a:t></a:r></a:p></p:txBody></p:sp><p:sp><p:nvSpPr><p:cNvPr id="6" name="Rectangle 5"/><p:cNvSpPr/><p:nvPr/></p:nvSpPr><p:spPr><a:xfrm><a:off x="530352" y="1097280"/><a:ext cx="960120" cy="54864"/></a:xfrm><a:prstGeom prst="rect"><a:avLst/></a:prstGeom><a:solidFill><a:srgbClr val="B55D0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731520" y="1353312"/><a:ext cx="10744200" cy="2834640"/></a:xfrm><a:prstGeom prst="roundRect"><a:avLst/></a:prstGeom><a:solidFill><a:srgbClr val="1F2937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wrap="square" lIns="128016" rIns="109728" tIns="91440" bIns="73152"/><a:lstStyle/><a:p><a:pPr algn="ctr"><a:lnSpc><a:spcPct val="100000"/></a:lnSpc><a:defRPr sz="760"><a:solidFill><a:srgbClr val="EEF2F7"/></a:solidFill><a:latin typeface="Courier New"/></a:defRPr></a:pPr><a:r><a:t>cd "<本项目路径>\本地Skills功能分类库"</a:t></a:r><a:br/><a:br/><a:r><a:t>powershell -ExecutionPolicy Bypass -File .\00_工具脚本\copy_skill_to_workspace.ps1 `</a:t></a:r><a:br/><a:r><a:t>  -SkillName academic-paper-composer,empirical-paper-writer,scientific-writing,peer-review,scientific-critical-thinking,venue-templates,journal-title-page-metadata,journal-abstract-keywords,journal-heading-hierarchy,journal-intext-citation-style,journal-reference-list-format,journal-table-figure-caption,journal-statistics-units-style,journal-layout-spacing,journal-footnote-endnote,journal-blind-review-anonymizer,citation-management,docx `</a:t></a:r><a:br/><a:r><a:t>  -Workspace "D:\AI科研训练营\第12讲_论文写作审稿自查与期刊排版工作区"</a:t></a:r></a:p></p:txBody></p:sp><p:sp><p:nvSpPr><p:cNvPr id="8" name="Rounded Rectangle 7"/><p:cNvSpPr/><p:nvPr/></p:nvSpPr><p:spPr><a:xfrm><a:off x="868680" y="4709160"/><a:ext cx="10149840" cy="658368"/></a:xfrm><a:prstGeom prst="roundRect"><a:avLst/></a:prstGeom><a:solidFill><a:srgbClr val="FFE5E5"/></a:solidFill><a:ln w="10160"><a:solidFill><a:srgbClr val="D2D8DE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Rectangle 8"/><p:cNvSpPr/><p:nvPr/></p:nvSpPr><p:spPr><a:xfrm><a:off x="868680" y="4709160"/><a:ext cx="73152" cy="658368"/></a:xfrm><a:prstGeom prst="rect"><a:avLst/></a:prstGeom><a:solidFill><a:srgbClr val="B91C1C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1051560" y="4837176"/><a:ext cx="9875519" cy="292608"/></a:xfrm><a:prstGeom prst="rect"><a:avLst/></a:prstGeom><a:noFill/></p:spPr><p:txBody><a:bodyPr wrap="square" lIns="45720" rIns="45720" tIns="18288" bIns="18288" anchor="t"><a:spAutoFit/></a:bodyPr><a:lstStyle/><a:p><a:pPr algn="l"><a:defRPr sz="1400" b="1"><a:solidFill><a:srgbClr val="B91C1C"/></a:solidFill><a:latin typeface="Microsoft YaHei"/></a:defRPr></a:pPr><a:r><a:t>课堂提醒</a:t></a:r></a:p></p:txBody></p:sp><p:sp><p:nvSpPr><p:cNvPr id="11" name="TextBox 10"/><p:cNvSpPr txBox="1"/><p:nvPr/></p:nvSpPr><p:spPr><a:xfrm><a:off x="1051560" y="5221224"/><a:ext cx="9848088" cy="73151"/></a:xfrm><a:prstGeom prst="rect"><a:avLst/></a:prstGeom><a:noFill/></p:spPr><p:txBody><a:bodyPr wrap="square" lIns="45720" rIns="45720" tIns="18288" bIns="18288" anchor="t"><a:spAutoFit/></a:bodyPr><a:lstStyle/><a:p><a:pPr algn="l"><a:defRPr sz="1230" b="0"><a:solidFill><a:srgbClr val="202A36"/></a:solidFill><a:latin typeface="Microsoft YaHei"/></a:defRPr></a:pPr><a:r><a:t>排版 Skills 只处理结构和格式，不负责改变结论、补造引用或修改统计值。</a:t></a:r></a:p></p:txBody></p:sp></p:spTree></p:cSld><p:clrMapOvr><a:masterClrMapping/></p:clrMapOvr>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3：写 AGENTS.md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897880" cy="3200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19">
                <a:solidFill>
                  <a:srgbClr val="EEF2F7"/>
                </a:solidFill>
                <a:latin typeface="Courier New"/>
              </a:defRPr>
            </a:pPr>
            <a:r>
              <a:t># 第12讲工作区 Agent 指令</a:t>
            </a:r>
            <a:br/>
            <a:br/>
            <a:r>
              <a:t>你是论文写作、审稿自查与期刊排版助手。</a:t>
            </a:r>
            <a:br/>
            <a:br/>
            <a:r>
              <a:t>原则：</a:t>
            </a:r>
            <a:br/>
            <a:r>
              <a:t>- 禁止编造引用、DOI、页码和统计结果。</a:t>
            </a:r>
            <a:br/>
            <a:r>
              <a:t>- 禁止修改统计数值、方向和样本量。</a:t>
            </a:r>
            <a:br/>
            <a:r>
              <a:t>- 禁止把非因果设计写成因果证明。</a:t>
            </a:r>
            <a:br/>
            <a:r>
              <a:t>- 排版只能改格式，不改学术内容。</a:t>
            </a:r>
            <a:br/>
            <a:r>
              <a:t>- 缺失字段标待人工核验。</a:t>
            </a:r>
            <a:br/>
            <a:r>
              <a:t>- 盲审前检查身份线索和文件元数据。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67728" y="1554480"/>
            <a:ext cx="4069080" cy="9601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7728" y="1554480"/>
            <a:ext cx="73152" cy="9601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682495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为什么要写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066543"/>
            <a:ext cx="376732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最后一公里最容易出现引用、数值、格式和匿名化错误。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2926080"/>
            <a:ext cx="40690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67728" y="292608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305409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可直接复制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3438144"/>
            <a:ext cx="376732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使用 lesson12_workspace_AGENTS_template.md。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7728" y="4069080"/>
            <a:ext cx="4069080" cy="7315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67728" y="4069080"/>
            <a:ext cx="73152" cy="7315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419709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不能省略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581144"/>
            <a:ext cx="376732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没有边界时，AI 会把写作优化变成内容改写。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从研究包到投稿包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30" b="1">
                <a:solidFill>
                  <a:srgbClr val="202A36"/>
                </a:solidFill>
                <a:latin typeface="Microsoft YaHei"/>
              </a:defRPr>
            </a:pPr>
            <a:r>
              <a:t>研究问题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75764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2340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30" b="1">
                <a:solidFill>
                  <a:srgbClr val="202A36"/>
                </a:solidFill>
                <a:latin typeface="Microsoft YaHei"/>
              </a:defRPr>
            </a:pPr>
            <a:r>
              <a:t>文献矩阵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75180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74873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30" b="1">
                <a:solidFill>
                  <a:srgbClr val="202A36"/>
                </a:solidFill>
                <a:latin typeface="Microsoft YaHei"/>
              </a:defRPr>
            </a:pPr>
            <a:r>
              <a:t>方法计划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74289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73982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0558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30" b="1">
                <a:solidFill>
                  <a:srgbClr val="202A36"/>
                </a:solidFill>
                <a:latin typeface="Microsoft YaHei"/>
              </a:defRPr>
            </a:pPr>
            <a:r>
              <a:t>结果表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73398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3091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9667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30" b="1">
                <a:solidFill>
                  <a:srgbClr val="202A36"/>
                </a:solidFill>
                <a:latin typeface="Microsoft YaHei"/>
              </a:defRPr>
            </a:pPr>
            <a:r>
              <a:t>图表计划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72507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2200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6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30" b="1">
                <a:solidFill>
                  <a:srgbClr val="202A36"/>
                </a:solidFill>
                <a:latin typeface="Microsoft YaHei"/>
              </a:defRPr>
            </a:pPr>
            <a:r>
              <a:t>证据包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71616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71308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7884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30" b="1">
                <a:solidFill>
                  <a:srgbClr val="202A36"/>
                </a:solidFill>
                <a:latin typeface="Microsoft YaHei"/>
              </a:defRPr>
            </a:pPr>
            <a:r>
              <a:t>章节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70724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370417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6993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30" b="1">
                <a:solidFill>
                  <a:srgbClr val="202A36"/>
                </a:solidFill>
                <a:latin typeface="Microsoft YaHei"/>
              </a:defRPr>
            </a:pPr>
            <a:r>
              <a:t>审稿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69833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69526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6102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30" b="1">
                <a:solidFill>
                  <a:srgbClr val="202A36"/>
                </a:solidFill>
                <a:latin typeface="Microsoft YaHei"/>
              </a:defRPr>
            </a:pPr>
            <a:r>
              <a:t>排版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8942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568635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5211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30" b="1">
                <a:solidFill>
                  <a:srgbClr val="202A36"/>
                </a:solidFill>
                <a:latin typeface="Microsoft YaHei"/>
              </a:defRPr>
            </a:pPr>
            <a:r>
              <a:t>投稿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468051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960120" y="2514600"/>
          <a:ext cx="101498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223760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输入缺失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没有文献矩阵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gap 和引用无法核验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没有结果表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正文可能改数值或编结果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没有方法计划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Methods 不可复现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没有图表计划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Results 结构散乱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没有审计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投稿前问题不可见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960120" y="5559552"/>
            <a:ext cx="10149840" cy="53035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0120" y="5559552"/>
            <a:ext cx="73152" cy="53035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5687568"/>
            <a:ext cx="98755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原则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6071616"/>
            <a:ext cx="9848088" cy="-548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先把证据装箱，再写论文；不要直接让 AI 写全文。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4：生成 Evidence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把所有 claim 与证据、引用和风险绑定。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manuscript/evidence_pack.md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没有 evidence pack，不要进入全文写作。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00">
                <a:solidFill>
                  <a:srgbClr val="EEF2F7"/>
                </a:solidFill>
                <a:latin typeface="Courier New"/>
              </a:defRPr>
            </a:pPr>
            <a:r>
              <a:t>请读取 input/ 研究问题、文献、方法、结果表和图表计划，生成 manuscript/evidence_pack.md。每条包含 claim、evidence source、result/table/figure、citation needed、support strength、risk。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claim 有证据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结果有来源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引用需求清楚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风险标注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不编造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5：生成论文故事线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把研究材料组织成问题、张力、缺口、机制和贡献。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manuscript_storyline.md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不要把“研究少”当作充分 gap。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00">
                <a:solidFill>
                  <a:srgbClr val="EEF2F7"/>
                </a:solidFill>
                <a:latin typeface="Courier New"/>
              </a:defRPr>
            </a:pPr>
            <a:r>
              <a:t>请基于 evidence_pack.md，生成 manuscript/manuscript_storyline.md。包括 problem、context、theoretical tension、gap、mechanism、hypotheses、method fit、findings、contribution、limitations。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gap 有文献支撑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机制连接变量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贡献不空泛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方法匹配问题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限制清楚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好故事线的结构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325880"/>
            <a:ext cx="1241298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53895"/>
            <a:ext cx="1168145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0834" y="1325880"/>
            <a:ext cx="1241298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7410" y="1453895"/>
            <a:ext cx="1168145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张力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00249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51860" y="1325880"/>
            <a:ext cx="1241298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8436" y="1453895"/>
            <a:ext cx="1168145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缺口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51275" y="160934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02886" y="1325880"/>
            <a:ext cx="1241298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39462" y="1453895"/>
            <a:ext cx="1168145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机制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0230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53912" y="1325880"/>
            <a:ext cx="1241298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1453895"/>
            <a:ext cx="1168145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假设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53328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04938" y="1325880"/>
            <a:ext cx="1241298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1513" y="1453895"/>
            <a:ext cx="1168145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方法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04354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5964" y="1325880"/>
            <a:ext cx="1241298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2540" y="1453895"/>
            <a:ext cx="1168145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结果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55380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06990" y="1325880"/>
            <a:ext cx="1241298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3566" y="1453895"/>
            <a:ext cx="1168145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1">
                <a:solidFill>
                  <a:srgbClr val="202A36"/>
                </a:solidFill>
                <a:latin typeface="Microsoft YaHei"/>
              </a:defRPr>
            </a:pPr>
            <a:r>
              <a:t>贡献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106406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960120" y="2423160"/>
          <a:ext cx="1014983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6400800"/>
              </a:tblGrid>
              <a:tr h="49530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坏写法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数字化转型很重要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具体到某个理论或行为问题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相关研究较少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指出已有解释无法覆盖的新机制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本研究方法先进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说明方法为何能回答理论问题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结果显著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说明结果如何支持机制边界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贡献重大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写出对哪条文献链的增量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6：Reverse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给每个段落分配功能，防止论文变成材料堆砌。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manuscript/reverse_outline.md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反向提纲比目录更能暴露逻辑断点。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00">
                <a:solidFill>
                  <a:srgbClr val="EEF2F7"/>
                </a:solidFill>
                <a:latin typeface="Courier New"/>
              </a:defRPr>
            </a:pPr>
            <a:r>
              <a:t>请生成 manuscript/reverse_outline.md。按章节列出 paragraph purpose、topic sentence、evidence、citation、link to next paragraph、risk。每段只服务一个核心功能。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每段目的明确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主题句可见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证据对应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段落有推进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风险可修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推荐写作顺序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743200"/>
                <a:gridCol w="6720840"/>
              </a:tblGrid>
              <a:tr h="535577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顺序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章节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原因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Methods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最依赖事实，先写可防止虚构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Results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先固定数值和图表叙事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Introduction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围绕真实结果和 gap 组织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Literature/Theory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解释机制和假设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Discussion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解释发现、贡献、限制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Abstract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最后总结全文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532120"/>
            <a:ext cx="10378440" cy="65836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532120"/>
            <a:ext cx="73152" cy="6583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6601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不要这样做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044183"/>
            <a:ext cx="10076688" cy="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不要第一步就让 Agent 写完整论文；这样最容易引用不实、结果漂移和贡献夸大。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7：写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先写最可核验、最不该发挥的章节。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manuscript/methods.md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Methods 缺细节，审稿人会质疑复现。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00">
                <a:solidFill>
                  <a:srgbClr val="EEF2F7"/>
                </a:solidFill>
                <a:latin typeface="Courier New"/>
              </a:defRPr>
            </a:pPr>
            <a:r>
              <a:t>请基于 input/方法计划.md 和 evidence_pack.md，写 manuscript/methods.md。包含样本、程序、变量、测量、统计方法、伦理、排除规则。不确定处标待人工核验。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可复现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变量清楚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排除规则清楚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伦理声明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不编造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8：写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从表格和统计输出生成结果正文，不改变数值。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manuscript/results.md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Results 只报告证据，Discussion 再解释。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00">
                <a:solidFill>
                  <a:srgbClr val="EEF2F7"/>
                </a:solidFill>
                <a:latin typeface="Courier New"/>
              </a:defRPr>
            </a:pPr>
            <a:r>
              <a:t>请基于 input/结果表.xlsx 和 input/统计输出.md，写 manuscript/results.md。所有数值必须来自输入。报告主结果、机制、稳健性、非显著结果、效应量和 CI。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数值一致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非显著透明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效应量/CI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图表对应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不写因果过度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统计报告底线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549640"/>
              </a:tblGrid>
              <a:tr h="535577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要求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 值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不改大小、不只写显著/不显著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CI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区间方向和数值一致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effect size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能报告就报告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样本量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与方法和表格一致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非显著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计划检验需透明报告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因果语言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由设计决定，不由显著性决定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532120"/>
            <a:ext cx="10378440" cy="65836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532120"/>
            <a:ext cx="73152" cy="6583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6601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排版 Skill 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044183"/>
            <a:ext cx="10076688" cy="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journal-statistics-units-style 可以改统计符号格式，但绝对不能改数值。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9：写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用问题、文献张力、gap、方案和贡献推进。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manuscript/introduction.md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Introduction 不是背景介绍，而是问题设置。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00">
                <a:solidFill>
                  <a:srgbClr val="EEF2F7"/>
                </a:solidFill>
                <a:latin typeface="Courier New"/>
              </a:defRPr>
            </a:pPr>
            <a:r>
              <a:t>请基于 manuscript_storyline.md、reverse_outline.md 和 reference_audit.xlsx，写 manuscript/introduction.md。引用必须真实支持句子，不确定引用标待人工核验。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问题具体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gap 有证据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贡献可支持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引用真实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段落推进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10：引用核验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把每条引用从“像真的”变成“可核验”。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references/reference_audit.xlsx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AI 最危险的错误之一是伪造引用。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00">
                <a:solidFill>
                  <a:srgbClr val="EEF2F7"/>
                </a:solidFill>
                <a:latin typeface="Courier New"/>
              </a:defRPr>
            </a:pPr>
            <a:r>
              <a:t>请使用 citation-management。读取 manuscript/ 草稿和 references/references.bib，生成 references/reference_audit.xlsx。检查 in-text、bib、DOI、year、journal、volume、pages、support sentence。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正文文末一致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DOI 不编造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缺字段标注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句子支持核验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待人工项清楚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引用核验表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01000"/>
              </a:tblGrid>
              <a:tr h="535577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citation_key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正文和 BibTeX 对齐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in_text_sentence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核验引用支持哪句话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DOI / journal / year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确认文献真实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missing_fields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缺字段标待核验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supports_claim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防止引用不支持主张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manual_check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人工数据库复核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532120"/>
            <a:ext cx="10378440" cy="65836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532120"/>
            <a:ext cx="73152" cy="6583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6601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044183"/>
            <a:ext cx="10076688" cy="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缺失 DOI、期号或页码时，Agent 只能查证或标注，不能补造。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11：审稿人式自查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在投稿前先模拟审稿人攻击论文。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qc/reviewer_risk_audit.md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致命设计问题不能靠润色解决。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00">
                <a:solidFill>
                  <a:srgbClr val="EEF2F7"/>
                </a:solidFill>
                <a:latin typeface="Courier New"/>
              </a:defRPr>
            </a:pPr>
            <a:r>
              <a:t>请使用 peer-review 和 scientific-critical-thinking，生成 qc/reviewer_risk_audit.md。按 severity 列 contribution、theory、method、statistics、causality、citation、figure/table、reproducibility、ethics 风险。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严重问题排前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原因具体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修正可执行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must-fix 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不粉饰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审稿风险分类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19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183879"/>
              </a:tblGrid>
              <a:tr h="537210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典型问题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Contribution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只是换场景，没有理论增量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Theory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理论标签化，不能解释机制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Method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设计不能回答问题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Statistics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模型、效应量、CI 或稳健性不足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Causality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非因果设计写成因果证明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Citation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引用不真实或不支持句子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Reproducibility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数据、代码、材料和流程不透明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期刊排版 10 个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225296"/>
          <a:ext cx="1097279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749039"/>
                <a:gridCol w="649224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编号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处理内容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journal-title-page-metadata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标题、作者、单位、通讯作者、基金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journal-abstract-keywords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摘要字数、关键词格式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journal-heading-hierarchy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一级、二级、三级标题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journal-intext-citation-style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正文引用格式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journal-reference-list-format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参考文献列表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journal-table-figure-caption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图表标题和注释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journal-statistics-units-style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统计符号、p 值、CI、单位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journal-layout-spacing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页边距、行距、缩进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journal-footnote-endnote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脚注/尾注转换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journal-blind-review-anonymizer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盲审匿名化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12：生成排版流水线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把目标期刊要求拆成可执行格式模块。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formatting_pipeline.md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投稿前必须看期刊官网最新指南。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00">
                <a:solidFill>
                  <a:srgbClr val="EEF2F7"/>
                </a:solidFill>
                <a:latin typeface="Courier New"/>
              </a:defRPr>
            </a:pPr>
            <a:r>
              <a:t>请生成 formatting/formatting_pipeline.md。目标格式：[APA 7/期刊名]。依次处理 title page、abstract、headings、citations、references、captions、statistics、layout、footnotes、blind review。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目标规则清楚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每步输入输出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不改学术内容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人工核验项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缺规则标注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APA 7 和目标期刊适配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4434840"/>
              </a:tblGrid>
              <a:tr h="561702">
                <a:tc>
                  <a:txBody>
                    <a:bodyPr/>
                    <a:lstStyle/>
                    <a:p>
                      <a:pPr algn="l">
                        <a:defRPr sz="9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APA 7 常见要求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目标期刊核验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Title page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标题、作者、单位、作者注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是否匿名、running head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Abstract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通常 150-250 words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结构式/非结构式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Headings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五级标题规则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期刊可能自定义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References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作者年份、句式和 DOI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参考文献数量和格式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Tables/Figures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标题、注释、编号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分辨率、上传格式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Stats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斜体符号、p 值格式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专门统计指南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650992"/>
            <a:ext cx="10378440" cy="566928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650992"/>
            <a:ext cx="73152" cy="566928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79007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提醒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163056"/>
            <a:ext cx="1007668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APA 7 可做训练格式，但正式投稿必须按目标期刊 author guidelines 二次核验。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13：盲审匿名化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生成作者版和盲审版差异清单，清除身份线索。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blind_review_checklist.md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盲审不只删 title page，还要查隐藏元数据。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00">
                <a:solidFill>
                  <a:srgbClr val="EEF2F7"/>
                </a:solidFill>
                <a:latin typeface="Courier New"/>
              </a:defRPr>
            </a:pPr>
            <a:r>
              <a:t>请使用 journal-blind-review-anonymizer，生成 formatting/blind_review_checklist.md。检查 author names、affiliations、acknowledgments、funding、self-citations、file properties、supplement、repository links。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正文无身份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自引处理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文件元数据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补充材料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10">
                <a:solidFill>
                  <a:srgbClr val="202A36"/>
                </a:solidFill>
                <a:latin typeface="Microsoft YaHei"/>
              </a:defRPr>
            </a:pPr>
            <a:r>
              <a:t>仓库匿名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投稿包应该包含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08660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manuscript_author_version.docx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含作者信息的正式版本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manuscript_blind_version.docx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双盲审稿版本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cover_letter.md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投稿信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reference_audit.xlsx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引用真实性和完整性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journal_formatting_audit.xlsx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格式模块核验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blind_review_checklist.xlsx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匿名化核验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submission_checklist.md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最终人工提交清单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596128"/>
            <a:ext cx="10378440" cy="56692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596128"/>
            <a:ext cx="73152" cy="5669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24144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最终判断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108192"/>
            <a:ext cx="1007668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所有 must-fix 清零后，才建议进入投稿系统。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课堂示范：从 BCI 结果到论文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2588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73252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章节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写法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Introduction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AI 信任与脑电智能建模的理论问题，不写成纯工程任务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Methods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 采集、预处理、特征、split、模型和泄漏防护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Results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subject-wise 指标、baseline、confusion matrix、失败被试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Discussion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解释模型结果与理论机制的关系，但不夸大神经机制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Limitations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offline/online、样本量、跨被试泛化、模型解释边界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Formatting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统计符号、图表标题、参考文献和盲审匿名化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989320"/>
            <a:ext cx="10378440" cy="45720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989320"/>
            <a:ext cx="73152" cy="4572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1173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最大风险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501383"/>
            <a:ext cx="10076688" cy="-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把模型准确率写成对信任神经机制的证明。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常见错误与修正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71600"/>
          <a:ext cx="1074419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749039"/>
                <a:gridCol w="466344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直接写全文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逻辑和证据漂移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先 evidence pack 和 outline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引用未核验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伪引用或错引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reference audit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结果正文改数值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学术诚信风险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结果表锁定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贡献夸大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审稿人攻击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reviewer risk audit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排版改内容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数据完整性风险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格式处理只改结构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盲审只删作者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元数据泄露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匿名化清单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课堂 180 分钟带做安排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98448"/>
          <a:ext cx="109270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572000"/>
                <a:gridCol w="4754880"/>
              </a:tblGrid>
              <a:tr h="436418">
                <a:tc>
                  <a:txBody>
                    <a:bodyPr/>
                    <a:lstStyle/>
                    <a:p>
                      <a:pPr algn="l">
                        <a:defRPr sz="8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教师带做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学生产出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0-15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研究包到投稿包逻辑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理解底线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15-30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工作区、Skills、AGENTS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可运行工作区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30-50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整理 input 和 evidence pack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evidence_pack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50-70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故事线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storyline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70-90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Reverse outline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reverse_outline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90-115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Methods / Results 写作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section drafts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115-135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Introduction 和引用核验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intro / reference_audit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135-155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审稿自查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reviewer_risk_audit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155-175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排版流水线和盲审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formatting / blind_review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36420"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175-180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投稿包检查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submission package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课后提交要求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173736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80">
                <a:solidFill>
                  <a:srgbClr val="202A36"/>
                </a:solidFill>
                <a:latin typeface="Microsoft YaHei"/>
              </a:defRPr>
            </a:pPr>
            <a:r>
              <a:t>提交文件夹：姓名_第12讲_论文写作审稿自查与期刊排版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80">
                <a:solidFill>
                  <a:srgbClr val="202A36"/>
                </a:solidFill>
                <a:latin typeface="Microsoft YaHei"/>
              </a:defRPr>
            </a:pPr>
            <a:r>
              <a:t>必须包含 evidence_pack、storyline、reverse_outline、至少 3 个章节草稿、reference_audit、reviewer_risk_audit、formatting_pipeline、blind_review_checklist、cover_letter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80">
                <a:solidFill>
                  <a:srgbClr val="202A36"/>
                </a:solidFill>
                <a:latin typeface="Microsoft YaHei"/>
              </a:defRPr>
            </a:pPr>
            <a:r>
              <a:t>目标期刊不明确时，用 APA 7 训练格式，并标注投稿前需二次核验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80">
                <a:solidFill>
                  <a:srgbClr val="202A36"/>
                </a:solidFill>
                <a:latin typeface="Microsoft YaHei"/>
              </a:defRPr>
            </a:pPr>
            <a:r>
              <a:t>附 400-600 字反思：最大拒稿风险、最需核验引用、最容易出错格式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65960" y="3611880"/>
          <a:ext cx="8092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0574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1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评分项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证据包与故事线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章节写作质量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引用真实性核验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审稿自查深度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排版与盲审检查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60120" y="5806440"/>
            <a:ext cx="10195560" cy="56692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5806440"/>
            <a:ext cx="73152" cy="5669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934455"/>
            <a:ext cx="9921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一票否决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318504"/>
            <a:ext cx="989380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编造引用、编造统计、排版改数据、非因果写成因果、盲审残留身份。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931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12 讲 · 论文写作、审稿自查与期刊排版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教师课堂收尾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241280" cy="105156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36776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今天真正完成的事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0824"/>
            <a:ext cx="993952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不是让 AI 写完一篇论文，而是建立一条从证据到写作、从审稿到排版、从作者版到盲审版的投稿生产线。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64512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1088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故事线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3927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14624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1200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章节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14039" y="3520440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64736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1312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引用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64152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514848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1424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数值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14263" y="3520440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664959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1535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审稿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64375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815072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1647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排版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14488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965184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1759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盲审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4600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15296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51871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投稿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14712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4400" y="4736592"/>
            <a:ext cx="10241280" cy="86868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736592"/>
            <a:ext cx="73152" cy="86868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864607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结束标准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48656"/>
            <a:ext cx="99395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每个主张、引用、数值、图表和格式都能被追踪和人工核验。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