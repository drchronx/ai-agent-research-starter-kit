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92024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AI Agent</a:t>
            </a:r>
            <a:br/>
            <a:r>
              <a:t>科研入门与部署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40680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170432"/>
            <a:ext cx="7955279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800" b="1">
                <a:solidFill>
                  <a:srgbClr val="1F2933"/>
                </a:solidFill>
                <a:latin typeface="Microsoft YaHei"/>
              </a:defRPr>
            </a:pPr>
            <a:r>
              <a:t>从零搭建可复用的科研 Agent 工作区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3552" y="1901952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5B6770"/>
                </a:solidFill>
                <a:latin typeface="Microsoft YaHei"/>
              </a:defRPr>
            </a:pPr>
            <a:r>
              <a:t>Codex / Claude Code / OpenClaw / Hermes · Skills · MCP · Ai4Scholar · AMiner · 飞书/IMA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选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4672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7824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选模型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68368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3224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6376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配记忆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6920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51775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装 Skills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05471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20327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3479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接 MCP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74023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88879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62031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跑任务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42575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46120" y="4251960"/>
            <a:ext cx="8001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4251960"/>
            <a:ext cx="731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0712" y="4389120"/>
            <a:ext cx="7744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4818888"/>
            <a:ext cx="770839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一个项目级科研工作区：AGENTS.md、skills/、mcp.example.json、research_log.md、first_agent_test.md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本节课解决什么科研问题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212080" cy="41148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工具混用：不知道任务该交给哪个 Agent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模型乱选：只看“强不强”，忽视费用、合规、工具调用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配置散落：API Key、MCP、Skills、记忆文件没有统一管理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输出不可复现：今天做出的流程，明天学生自己跑不出来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文献不可信：模型可能生成看似合理但不可核验的引用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渠道割裂：飞书、IMA、文献平台和本地工作区没有打通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64208"/>
            <a:ext cx="4754880" cy="1874519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64208"/>
            <a:ext cx="73152" cy="187451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01368"/>
            <a:ext cx="44988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Microsoft YaHei"/>
              </a:defRPr>
            </a:pPr>
            <a:r>
              <a:t>本讲核心目标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31136"/>
            <a:ext cx="4462272" cy="121615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1F2933"/>
                </a:solidFill>
                <a:latin typeface="Microsoft YaHei"/>
              </a:defRPr>
            </a:pPr>
            <a:r>
              <a:t>把“会聊天”升级为“会部署科研工作流”：每个学生都建立一个可复制、可核验、可交作业的 Agent 工作区。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86200"/>
            <a:ext cx="4754880" cy="14630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886200"/>
            <a:ext cx="73152" cy="14630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023360"/>
            <a:ext cx="44988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  <a:latin typeface="Microsoft YaHei"/>
              </a:defRPr>
            </a:pPr>
            <a:r>
              <a:t>课堂底线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453128"/>
            <a:ext cx="4462272" cy="8046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1F2933"/>
                </a:solidFill>
                <a:latin typeface="Microsoft YaHei"/>
              </a:defRPr>
            </a:pPr>
            <a:r>
              <a:t>文献、数据、API Key 和组织权限必须人工核验。Agent 可以执行流程，但不能替代科研责任。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每一讲固定教学模板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458200"/>
              </a:tblGrid>
              <a:tr h="56007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课堂必须回答的问题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科研问题和需求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这节课到底解决什么真实科研痛点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需要哪些 Skills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哪些能力要复制到项目工作区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输入材料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学生要准备什么文件、账号和数据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 怎么执行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任务卡、步骤、命令、日志怎么写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输出文件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最终交付物路径、格式和合格标准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人工核验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哪些地方不能交给模型自动决定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课后作业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如何证明学生真的能独立完成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9893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  <a:latin typeface="Microsoft YaHei"/>
              </a:defRPr>
            </a:pPr>
            <a:r>
              <a:t>课程不是工具清单，而是“输入 - 执行 - 输出 - 核验”的科研生产线。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本讲结束时学生必须产出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项目文件夹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7272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0424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记忆文件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10968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3024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6176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skills/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36720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08776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MCP 示例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62472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34528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7680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测试输出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8224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60280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3432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日志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13976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2468880"/>
          <a:ext cx="107899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772400"/>
              </a:tblGrid>
              <a:tr h="476794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合格标准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AGENTS.md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学科背景、引用规则、理论规则、写作风格、安全规则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skills/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至少包含 Ai4Scholar / AMiner / 项目管理相关 Skills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configs/mcp.example.json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密钥全部用环境变量占位，不出现真实 Token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project_status.md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写清目标、输入、下一步任务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research_log.md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记录一次 Agent 执行过程和人工核验结果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output/first_agent_test.md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列出已发现 Skills、配置状态、未核验项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科研 Agent 基础设施架构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684020" cy="676656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82495"/>
            <a:ext cx="1537716" cy="4937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学生需求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4412" y="1554480"/>
            <a:ext cx="1684020" cy="676656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7564" y="1682495"/>
            <a:ext cx="1537716" cy="4937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Agent 客户端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88107" y="1892807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3024" y="1554480"/>
            <a:ext cx="1684020" cy="676656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6176" y="1682495"/>
            <a:ext cx="1537716" cy="4937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模型/中转站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36720" y="1892807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31636" y="1554480"/>
            <a:ext cx="1684020" cy="676656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4788" y="1682495"/>
            <a:ext cx="1537716" cy="4937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Skills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5331" y="1892807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80247" y="1554480"/>
            <a:ext cx="1684020" cy="676656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3399" y="1682495"/>
            <a:ext cx="1537716" cy="4937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MCP/外部平台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33943" y="1892807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28860" y="1554480"/>
            <a:ext cx="1684020" cy="676656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2012" y="1682495"/>
            <a:ext cx="1537716" cy="4937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本地输出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82556" y="1892807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2880360"/>
            <a:ext cx="3429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288036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3017520"/>
            <a:ext cx="3172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Agent 客户端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447288"/>
            <a:ext cx="313639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Codex、Claude Code、OpenClaw、Hermes。负责理解任务、调用工具、读写文件。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2880360"/>
            <a:ext cx="3429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28803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3017520"/>
            <a:ext cx="3172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模型/中转站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3447288"/>
            <a:ext cx="313639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按任务选择国内/国外模型，评估推理、代码、中文、长上下文、工具调用和成本。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2880360"/>
            <a:ext cx="3429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2880360"/>
            <a:ext cx="731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3017520"/>
            <a:ext cx="3172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MCP/平台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3447288"/>
            <a:ext cx="313639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Ai4Scholar、AMiner、Zotero、飞书、浏览器、数据库。用真实工具替代模型记忆。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800" b="1">
                <a:solidFill>
                  <a:srgbClr val="1F2933"/>
                </a:solidFill>
                <a:latin typeface="Microsoft YaHei"/>
              </a:defRPr>
            </a:pPr>
            <a:r>
              <a:t>关键原则：模型负责推理，Skills 负责流程，MCP 负责外部真实能力，本地日志负责复现。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四个 Agent 的区别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063240"/>
                <a:gridCol w="6537960"/>
              </a:tblGrid>
              <a:tr h="749807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Agent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核心定位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科研中优先使用的场景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Codex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本地工作区、文件、代码与自动化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资料整理、生成 docx/pptx/xlsx、批处理数据、维护 Skills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Claude Code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终端型长上下文代码/文档协作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长论文结构修改、大项目理解、CLAUDE.md 记忆、MCP 调用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 网关、插件和多工具连接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 插件、MCP、浏览器、飞书/渠道工具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Hermes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可配置记忆、人格和工具的 Agent 客户端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演示 SOUL/MEMORY/USER、工具装配、本地优先 Agent 行为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486400"/>
            <a:ext cx="10652760" cy="68580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486400"/>
            <a:ext cx="73152" cy="6858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623560"/>
            <a:ext cx="103967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1">
                <a:solidFill>
                  <a:srgbClr val="B45309"/>
                </a:solidFill>
                <a:latin typeface="Microsoft YaHei"/>
              </a:defRPr>
            </a:pPr>
            <a:r>
              <a:t>教学判断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6053328"/>
            <a:ext cx="10360152" cy="27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不是哪个 Agent 永远最好，而是“任务 - 工具 - 数据 - 输出格式”决定 Agent 选择。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Codex：本地科研工作区自动化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212080" cy="22860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适合：资料整理、脚本、批量文件处理、Word/PPT/Excel 生成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项目记忆：优先使用项目根目录 AGENTS.md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Skills：课堂默认放在项目工作区 skills/，不塞根目录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常用输出：docs/、output/、analysis/、research_log.md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4892040" cy="118872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400">
                <a:solidFill>
                  <a:srgbClr val="EBEFF5"/>
                </a:solidFill>
                <a:latin typeface="Courier New"/>
              </a:defRPr>
            </a:pPr>
            <a:r>
              <a:t>npm install -g @openai/codex</a:t>
            </a:r>
            <a:br/>
            <a:r>
              <a:t>cd "D:\AI科研训练营\第01讲_我的Agent工作区"</a:t>
            </a:r>
            <a:br/>
            <a:r>
              <a:t>codex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63240"/>
            <a:ext cx="4892040" cy="150876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06324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200400"/>
            <a:ext cx="46360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课堂提醒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630168"/>
            <a:ext cx="4599431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安装命令以 OpenAI 官方或当前课程版本为准。Codex 的价值不是替代文献数据库，而是把本地科研流程做成可复现文件。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Microsoft YaHei"/>
              </a:defRPr>
            </a:pPr>
            <a:r>
              <a:t>典型任务：把 30 篇 PDF 读取为论文卡片 + 文献筛选表 + 未核验项清单。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Claude Code：长上下文项目协作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166360" cy="11430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400">
                <a:solidFill>
                  <a:srgbClr val="EBEFF5"/>
                </a:solidFill>
                <a:latin typeface="Courier New"/>
              </a:defRPr>
            </a:pPr>
            <a:r>
              <a:t>npm install -g @anthropic-ai/claude-code</a:t>
            </a:r>
            <a:br/>
            <a:r>
              <a:t>cd "D:\AI科研训练营\第01讲_我的Agent工作区"</a:t>
            </a:r>
            <a:br/>
            <a:r>
              <a:t>claude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26080"/>
            <a:ext cx="5166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063240"/>
            <a:ext cx="49103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适合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493008"/>
            <a:ext cx="487375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长代码库理解、长篇论文结构调整、项目级记忆、MCP 工具调用、复杂文档重构。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4846320" cy="292608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CLAUDE.md 写项目规则，不写密钥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稳定偏好可以放用户级记忆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长文档任务要让 Agent 输出修改依据和核验项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未配置文献工具时，不允许声称已完成真实检索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892040"/>
            <a:ext cx="4846320" cy="82296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4892040"/>
            <a:ext cx="73152" cy="8229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5029200"/>
            <a:ext cx="459028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1">
                <a:solidFill>
                  <a:srgbClr val="B45309"/>
                </a:solidFill>
                <a:latin typeface="Microsoft YaHei"/>
              </a:defRPr>
            </a:pPr>
            <a:r>
              <a:t>课堂提醒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5458968"/>
            <a:ext cx="4553712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Claude Code 的记忆能提升协作一致性，但不能替代事实核验。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OpenClaw：插件、MCP 与渠道网关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212080" cy="29718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适合：统一接入 AI4Scholar、浏览器、MCP、插件和渠道工具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课堂重点：OpenClaw gateway + 插件 + MCP 配置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Windows 安装失败时，优先切换轻量 MCP 模式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所有 API Key 使用环境变量或私有配置文件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1874519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openclaw plugins install ai4scholar</a:t>
            </a:r>
            <a:br/>
            <a:r>
              <a:t># 或按版本使用：openclaw plugins install clawhub:ai4scholar</a:t>
            </a:r>
            <a:br/>
            <a:r>
              <a:t>openclaw gateway stop</a:t>
            </a:r>
            <a:br/>
            <a:r>
              <a:t>openclaw gateway start</a:t>
            </a:r>
            <a:br/>
            <a:r>
              <a:t>openclaw plugins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703320"/>
            <a:ext cx="5074920" cy="132588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3703320"/>
            <a:ext cx="73152" cy="1325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3840480"/>
            <a:ext cx="481888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科研应用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4270248"/>
            <a:ext cx="4782312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AI4Scholar 插件/工具可用于论文搜索、全文、引用网络、自动引用、科学绘图；具体可用工具以当前插件返回为准。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Hermes：记忆、灵魂与工具装配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2120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325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49560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课堂定位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4919472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Hermes 用来讲清 Agent 的“配置层”：SOUL、USER、MEMORY、TOOLS 如何影响行为。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3108960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79476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SOUL.md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原则、边界、科研伦理、沟通方式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USER.md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使用者背景、研究方向、写作偏好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MEMORY.md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长期项目记忆、已排除方向、可复用经验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TOOLS.md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可用工具、MCP、Skills、脚本入口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46520" y="1600200"/>
            <a:ext cx="4663440" cy="246888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版本差异较大，安装命令必须按官方或课程包确认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Windows 学生可优先 WSL / Git Bash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不要把人格设定当成理论解释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工具未配置时，不要让 Agent 假装能检索真实文献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526280"/>
            <a:ext cx="4663440" cy="96012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452628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4663440"/>
            <a:ext cx="44074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教学价值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5093208"/>
            <a:ext cx="4370831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让学生理解：Agent 能力不是来自“口号”，而是来自明确的记忆、工具、数据和核验流程。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如何按科研任务选择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270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331720"/>
                <a:gridCol w="5623560"/>
              </a:tblGrid>
              <a:tr h="662939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 Agent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生成 Word/PPT/Excel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Codex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本地文件读写和脚本执行强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长论文结构修改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Claude Code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长上下文和项目记忆适合复杂文本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接入 AI4Scholar/MCP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插件和网关型工具更合适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演示记忆/人格/工具装配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Hermes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适合讲配置层和本地 Agent 行为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飞书/IMA 协作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OpenClaw 或 Lark 工具 Agent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关键是渠道权限和工具配置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06440"/>
            <a:ext cx="10241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600" b="1">
                <a:solidFill>
                  <a:srgbClr val="B45309"/>
                </a:solidFill>
                <a:latin typeface="Microsoft YaHei"/>
              </a:defRPr>
            </a:pPr>
            <a:r>
              <a:t>判断句式：这个任务的输入在哪里？要调用什么工具？输出文件是什么？哪些必须人工核验？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模型与中转站选择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0">
                <a:solidFill>
                  <a:srgbClr val="5B6770"/>
                </a:solidFill>
                <a:latin typeface="Microsoft YaHei"/>
              </a:defRPr>
            </a:pPr>
            <a:r>
              <a:t>课堂参考入口：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234440"/>
            <a:ext cx="4754880" cy="566928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500">
                <a:solidFill>
                  <a:srgbClr val="EBEFF5"/>
                </a:solidFill>
                <a:latin typeface="Courier New"/>
              </a:defRPr>
            </a:pPr>
            <a:r>
              <a:t>https://hvoy.ai/model-select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148840"/>
          <a:ext cx="108356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3017520"/>
                <a:gridCol w="484632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更适合模型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选择依据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脚本/数据/文档生成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强代码模型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工具调用、代码可靠性、成本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英文论文写作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强推理/长上下文模型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篇章逻辑、语气、审稿式修改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中文资料/协作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国内模型或中文强模型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访问稳定、中文理解、合规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模型 + MCP/数据库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不能只靠模型记忆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EEG/BCI 代码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强代码模型 + 本地环境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可复现、可调试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国内模型与国外模型的取舍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212080" cy="141732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49560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国内模型优势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4919472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国内访问稳定；中文任务和本土平台集成方便；成本可能更低；组织合规沟通更容易。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212080" cy="141732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54480"/>
            <a:ext cx="49560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国外模型优势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84248"/>
            <a:ext cx="4919472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复杂推理、英文论文写作、代码和长上下文通常更强；工具生态成熟；适合跨学科英文材料。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10332720" cy="20574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不是按国家标签判断，而是按任务能力、成本、合规和工具支持判断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未公开数据、企业数据、被试隐私数据不能随意上传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中转站要评估日志留存、稳定性、价格、限速和模型版本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文献检索必须接数据库或 MCP，不能只问模型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API Key 与安全边界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212080" cy="128016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49560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允许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4919472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使用环境变量、私有配置文件、课堂占位符。示例中统一写 ${API_KEY_NAME}。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212080" cy="128016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73152" cy="12801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54480"/>
            <a:ext cx="49560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禁止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84248"/>
            <a:ext cx="4919472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把真实 Key 写进 PPT、讲义、聊天记录、Git、飞书共享文档或学生作业。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154680"/>
            <a:ext cx="10058400" cy="11430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400">
                <a:solidFill>
                  <a:srgbClr val="EBEFF5"/>
                </a:solidFill>
                <a:latin typeface="Courier New"/>
              </a:defRPr>
            </a:pPr>
            <a:r>
              <a:t>$env:AI4SCHOLAR_API_KEY="你的真实key"</a:t>
            </a:r>
            <a:br/>
            <a:r>
              <a:t>$env:AMINER_MCP_TOKEN="你的真实token"</a:t>
            </a:r>
            <a:br/>
            <a:r>
              <a:t># 提交作业时只保留 ${AI4SCHOLAR_API_KEY}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800" b="1">
                <a:solidFill>
                  <a:srgbClr val="B45309"/>
                </a:solidFill>
                <a:latin typeface="Microsoft YaHei"/>
              </a:defRPr>
            </a:pPr>
            <a:r>
              <a:t>科研自动化的第一条合规规则：能不上传的原始数据不要上传，能不共享的密钥绝不共享。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记忆、灵魂、用户画像文件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5120640"/>
                <a:gridCol w="4389120"/>
              </a:tblGrid>
              <a:tr h="67056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写什么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不写什么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AGENTS.md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项目规则、引用标准、理论规则、写作风格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密钥、密码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CLAUDE.md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Claude Code 项目记忆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不可公开数据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SOUL.md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 原则、边界、科研伦理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虚构事实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USER.md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学生背景、研究方向、输出偏好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私人敏感信息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MEMORY.md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项目进展、可复用经验、待核验项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未经授权的原始数据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600" b="1">
                <a:solidFill>
                  <a:srgbClr val="0F766E"/>
                </a:solidFill>
                <a:latin typeface="Microsoft YaHei"/>
              </a:defRPr>
            </a:pPr>
            <a:r>
              <a:t>记忆文件越具体，Agent 越稳定；记忆文件越混乱，Agent 越容易把偏好当事实。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AGENTS.md 最小模板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532120" cy="48006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100">
                <a:solidFill>
                  <a:srgbClr val="EBEFF5"/>
                </a:solidFill>
                <a:latin typeface="Courier New"/>
              </a:defRPr>
            </a:pPr>
            <a:r>
              <a:t># 项目协作规则</a:t>
            </a:r>
            <a:br/>
            <a:br/>
            <a:r>
              <a:t>## 文献规则</a:t>
            </a:r>
            <a:br/>
            <a:r>
              <a:t>- 必须引用真实文献</a:t>
            </a:r>
            <a:br/>
            <a:r>
              <a:t>- 无法核验时标注“未核验”</a:t>
            </a:r>
            <a:br/>
            <a:r>
              <a:t>- 禁止编造 DOI、作者、期刊、年份</a:t>
            </a:r>
            <a:br/>
            <a:br/>
            <a:r>
              <a:t>## 理论规则</a:t>
            </a:r>
            <a:br/>
            <a:r>
              <a:t>- 理论必须解释机制</a:t>
            </a:r>
            <a:br/>
            <a:r>
              <a:t>- 禁止标签化套用理论</a:t>
            </a:r>
            <a:br/>
            <a:br/>
            <a:r>
              <a:t>## 写作风格</a:t>
            </a:r>
            <a:br/>
            <a:r>
              <a:t>- 简洁、准确、有推进感</a:t>
            </a:r>
            <a:br/>
            <a:r>
              <a:t>- 避免空泛表达</a:t>
            </a:r>
            <a:br/>
            <a:br/>
            <a:r>
              <a:t>## 安全规则</a:t>
            </a:r>
            <a:br/>
            <a:r>
              <a:t>- 不输出 API Key</a:t>
            </a:r>
            <a:br/>
            <a:r>
              <a:t>- 不上传敏感数据到不合规模型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526280" cy="20574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项目级规则写在项目根目录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稳定规则可以跨 Agent 复用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学生每次新项目先改 AGENTS.md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引用和数据安全规则必须显式写出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4114800"/>
            <a:ext cx="4526280" cy="96012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4114800"/>
            <a:ext cx="73152" cy="960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4251960"/>
            <a:ext cx="4270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课堂要求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4681728"/>
            <a:ext cx="4233672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每个学生都要提交自己的 AGENTS.md，不能只复制老师模板。</a:t>
            </a:r>
          </a:p>
        </p:txBody>
      </p:sp>
    </p:spTree>
  </p:cSld>
  <p:clrMapOvr>
    <a:masterClrMapping/>
  </p:clrMapOvr>
</p:sld>
</file>

<file path=ppt/slides/slide17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7F8F5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F76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45720"/><a:ext cx="1463040" cy="201168"/></a:xfrm><a:prstGeom prst="rect"><a:avLst/></a:prstGeom><a:noFill/></p:spPr><p:txBody><a:bodyPr wrap="square" lIns="45720" rIns="45720" tIns="27432" bIns="27432" anchor="t"><a:spAutoFit/></a:bodyPr><a:lstStyle/><a:p><a:pPr algn="l"><a:defRPr sz="800" b="1"><a:solidFill><a:srgbClr val="FFFFFF"/></a:solidFill><a:latin typeface="Microsoft YaHei"/></a:defRPr></a:pPr><a:r><a:t>第 01 讲</a:t></a:r></a:p></p:txBody></p:sp><p:sp><p:nvSpPr><p:cNvPr id="4" name="TextBox 3"/><p:cNvSpPr txBox="1"/><p:nvPr/></p:nvSpPr><p:spPr><a:xfrm><a:off x="11018520" y="36576"/><a:ext cx="640080" cy="228600"/></a:xfrm><a:prstGeom prst="rect"><a:avLst/></a:prstGeom><a:noFill/></p:spPr><p:txBody><a:bodyPr wrap="square" lIns="45720" rIns="45720" tIns="27432" bIns="27432" anchor="t"><a:spAutoFit/></a:bodyPr><a:lstStyle/><a:p><a:pPr algn="r"><a:defRPr sz="1000" b="1"><a:solidFill><a:srgbClr val="FFFFFF"/></a:solidFill><a:latin typeface="Microsoft YaHei"/></a:defRPr></a:pPr><a:r><a:t>17</a:t></a:r></a:p></p:txBody></p:sp><p:sp><p:nvSpPr><p:cNvPr id="5" name="TextBox 4"/><p:cNvSpPr txBox="1"/><p:nvPr/></p:nvSpPr><p:spPr><a:xfrm><a:off x="502920" y="566928"/><a:ext cx="10789920" cy="502920"/></a:xfrm><a:prstGeom prst="rect"><a:avLst/></a:prstGeom><a:noFill/></p:spPr><p:txBody><a:bodyPr wrap="square" lIns="45720" rIns="45720" tIns="27432" bIns="27432" anchor="t"><a:spAutoFit/></a:bodyPr><a:lstStyle/><a:p><a:pPr algn="l"><a:defRPr sz="2500" b="1"><a:solidFill><a:srgbClr val="1F2933"/></a:solidFill><a:latin typeface="Microsoft YaHei"/></a:defRPr></a:pPr><a:r><a:t>Skills 是什么</a:t></a:r></a:p></p:txBody></p:sp><p:sp><p:nvSpPr><p:cNvPr id="6" name="Rectangle 5"/><p:cNvSpPr/><p:nvPr/></p:nvSpPr><p:spPr><a:xfrm><a:off x="502920" y="1106424"/><a:ext cx="1005840" cy="54864"/></a:xfrm><a:prstGeom prst="rect"><a:avLst/></a:prstGeom><a:solidFill><a:srgbClr val="B4530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822960" y="1325880"/><a:ext cx="10424160" cy="457200"/></a:xfrm><a:prstGeom prst="rect"><a:avLst/></a:prstGeom><a:noFill/></p:spPr><p:txBody><a:bodyPr wrap="square" lIns="45720" rIns="45720" tIns="27432" bIns="27432" anchor="t"><a:spAutoFit/></a:bodyPr><a:lstStyle/><a:p><a:pPr algn="ctr"><a:defRPr sz="2200" b="1"><a:solidFill><a:srgbClr val="0F766E"/></a:solidFill><a:latin typeface="Microsoft YaHei"/></a:defRPr></a:pPr><a:r><a:t>Skill = 本地指令 + 可选脚本/模板/参考资料</a:t></a:r></a:p></p:txBody></p:sp><p:sp><p:nvSpPr><p:cNvPr id="8" name="Rounded Rectangle 7"/><p:cNvSpPr/><p:nvPr/></p:nvSpPr><p:spPr><a:xfrm><a:off x="868680" y="2103120"/><a:ext cx="3703320" cy="2011680"/></a:xfrm><a:prstGeom prst="roundRect"><a:avLst/></a:prstGeom><a:solidFill><a:srgbClr val="212B36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lIns="137160" rIns="137160" tIns="109728" bIns="73152" wrap="square"/><a:lstStyle/><a:p><a:pPr algn="ctr"><a:defRPr sz="1500"><a:solidFill><a:srgbClr val="EBEFF5"/></a:solidFill><a:latin typeface="Courier New"/></a:defRPr></a:pPr><a:r><a:t>skill-name/</a:t></a:r><a:br/><a:r><a:t>├─ SKILL.md</a:t></a:r><a:br/><a:r><a:t>├─ scripts/</a:t></a:r><a:br/><a:r><a:t>├─ references/</a:t></a:r><a:br/><a:r><a:t>├─ assets/</a:t></a:r><a:br/><a:r><a:t>└─ templates/</a:t></a:r></a:p></p:txBody></p:sp><p:sp><p:nvSpPr><p:cNvPr id="9" name="TextBox 8"/><p:cNvSpPr txBox="1"/><p:nvPr/></p:nvSpPr><p:spPr><a:xfrm><a:off x="5166360" y="1920240"/><a:ext cx="5852160" cy="2560320"/></a:xfrm><a:prstGeom prst="rect"><a:avLst/></a:prstGeom><a:noFill/></p:spPr><p:txBody><a:bodyPr wrap="square" lIns="73152" rIns="54864" tIns="27432" bIns="27432"><a:spAutoFit/></a:bodyPr><a:lstStyle/><a:p><a:pPr><a:lnSpc><a:spcPct val="110000"/></a:lnSpc><a:spcAft><a:spcPts val="400"/></a:spcAft><a:defRPr sz="1800"><a:solidFill><a:srgbClr val="1F2933"/></a:solidFill><a:latin typeface="Microsoft YaHei"/></a:defRPr></a:pPr><a:r><a:t>告诉 Agent 什么时候用这个能力</a:t></a:r></a:p><a:p><a:pPr><a:lnSpc><a:spcPct val="110000"/></a:lnSpc><a:spcAft><a:spcPts val="400"/></a:spcAft><a:defRPr sz="1800"><a:solidFill><a:srgbClr val="1F2933"/></a:solidFill><a:latin typeface="Microsoft YaHei"/></a:defRPr></a:pPr><a:r><a:t>规定输入、步骤、输出和安全边界</a:t></a:r></a:p><a:p><a:pPr><a:lnSpc><a:spcPct val="110000"/></a:lnSpc><a:spcAft><a:spcPts val="400"/></a:spcAft><a:defRPr sz="1800"><a:solidFill><a:srgbClr val="1F2933"/></a:solidFill><a:latin typeface="Microsoft YaHei"/></a:defRPr></a:pPr><a:r><a:t>把课程经验封装成可复用科研流程</a:t></a:r></a:p><a:p><a:pPr><a:lnSpc><a:spcPct val="110000"/></a:lnSpc><a:spcAft><a:spcPts val="400"/></a:spcAft><a:defRPr sz="1800"><a:solidFill><a:srgbClr val="1F2933"/></a:solidFill><a:latin typeface="Microsoft YaHei"/></a:defRPr></a:pPr><a:r><a:t>不是模型本身，也不是插件市场宣传语</a:t></a:r></a:p><a:p><a:pPr><a:lnSpc><a:spcPct val="110000"/></a:lnSpc><a:spcAft><a:spcPts val="400"/></a:spcAft><a:defRPr sz="1800"><a:solidFill><a:srgbClr val="1F2933"/></a:solidFill><a:latin typeface="Microsoft YaHei"/></a:defRPr></a:pPr><a:r><a:t>好的 Skill 必须能产出可检查文件</a:t></a:r></a:p></p:txBody></p:sp><p:sp><p:nvSpPr><p:cNvPr id="10" name="Rounded Rectangle 9"/><p:cNvSpPr/><p:nvPr/></p:nvSpPr><p:spPr><a:xfrm><a:off x="868680" y="4800600"/><a:ext cx="10424160" cy="822960"/></a:xfrm><a:prstGeom prst="roundRect"><a:avLst/></a:prstGeom><a:solidFill><a:srgbClr val="E2EBFF"/></a:solidFill><a:ln w="10160"><a:solidFill><a:srgbClr val="D2D7DC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1" name="Rectangle 10"/><p:cNvSpPr/><p:nvPr/></p:nvSpPr><p:spPr><a:xfrm><a:off x="868680" y="4800600"/><a:ext cx="73152" cy="822960"/></a:xfrm><a:prstGeom prst="rect"><a:avLst/></a:prstGeom><a:solidFill><a:srgbClr val="2563E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2" name="TextBox 11"/><p:cNvSpPr txBox="1"/><p:nvPr/></p:nvSpPr><p:spPr><a:xfrm><a:off x="1033271" y="4937760"/><a:ext cx="10168128" cy="320040"/></a:xfrm><a:prstGeom prst="rect"><a:avLst/></a:prstGeom><a:noFill/></p:spPr><p:txBody><a:bodyPr wrap="square" lIns="45720" rIns="45720" tIns="27432" bIns="27432" anchor="t"><a:spAutoFit/></a:bodyPr><a:lstStyle/><a:p><a:pPr algn="l"><a:defRPr sz="1200" b="1"><a:solidFill><a:srgbClr val="2563EB"/></a:solidFill><a:latin typeface="Microsoft YaHei"/></a:defRPr></a:pPr><a:r><a:t>本地库位置</a:t></a:r></a:p></p:txBody></p:sp><p:sp><p:nvSpPr><p:cNvPr id="13" name="TextBox 12"/><p:cNvSpPr txBox="1"/><p:nvPr/></p:nvSpPr><p:spPr><a:xfrm><a:off x="1033271" y="5367528"/><a:ext cx="10131552" cy="164592"/></a:xfrm><a:prstGeom prst="rect"><a:avLst/></a:prstGeom><a:noFill/></p:spPr><p:txBody><a:bodyPr wrap="square" lIns="45720" rIns="45720" tIns="27432" bIns="27432" anchor="t"><a:spAutoFit/></a:bodyPr><a:lstStyle/><a:p><a:pPr algn="l"><a:defRPr sz="1300" b="0"><a:solidFill><a:srgbClr val="1F2933"/></a:solidFill><a:latin typeface="Microsoft YaHei"/></a:defRPr></a:pPr><a:r><a:t><本项目路径>\本地Skills功能分类库</a:t></a:r></a:p></p:txBody></p:sp></p:spTree></p:cSld><p:clrMapOvr><a:masterClrMapping/></p:clrMapOvr>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Skills 放根目录还是工作区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651760"/>
                <a:gridCol w="3566160"/>
                <a:gridCol w="2788920"/>
              </a:tblGrid>
              <a:tr h="70866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课堂建议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 根目录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全局可用、省事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污染所有项目；触发原因不透明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固定成熟流程再用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项目 skills/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可复现、可交作业、可隔离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每个项目要复制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本课程默认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临时复制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演示快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容易丢失、不可追踪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只用于课堂演示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709160"/>
            <a:ext cx="10607040" cy="10515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powershell -ExecutionPolicy Bypass -File .\00_工具脚本\copy_skill_to_workspace.ps1 `</a:t>
            </a:r>
            <a:br/>
            <a:r>
              <a:t>  -SkillName ai4scholar-research,aminer-mcp-research `</a:t>
            </a:r>
            <a:br/>
            <a:r>
              <a:t>  -Workspace "D:\AI科研训练营\第01讲_我的Agent工作区"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本地 Skills 功能分类库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17804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功能区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课堂用途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02 文献检索综述引用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Ai4Scholar、AMiner、OpenAlex、引用核验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07 自动化 MCP 浏览器与 Agent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OpenClaw、MCP、Skill 创建、浏览器自动化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 情景实验与行为研究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顶刊情景实验设计、操纵检验、结果汇报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12 EEG/ERP 神经科学实验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预处理、ERP、频域、连接、脑电写作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 BCI 脑电智能建模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机器学习、深度学习、跨被试、防泄漏评估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17 Zotero/Obsidian 知识库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论文卡片、理论变量方法矩阵、知识图谱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本讲只复制最小组合；后续课程按功能区逐步复制。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MCP：Agent 连接外部能力的标准接口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417320"/>
            <a:ext cx="1898294" cy="658368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545336"/>
            <a:ext cx="175199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8726" y="1417320"/>
            <a:ext cx="1898294" cy="658368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41878" y="1545336"/>
            <a:ext cx="175199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MCP Client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2422" y="1746504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31612" y="1417320"/>
            <a:ext cx="1898294" cy="658368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4764" y="1545336"/>
            <a:ext cx="175199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MCP Server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85308" y="1746504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94499" y="1417320"/>
            <a:ext cx="1898294" cy="658368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7651" y="1545336"/>
            <a:ext cx="175199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工具/数据库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8195" y="1746504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57385" y="1417320"/>
            <a:ext cx="1898294" cy="658368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0537" y="1545336"/>
            <a:ext cx="175199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真实结果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11081" y="1746504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2743200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274320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2880360"/>
            <a:ext cx="4727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为什么科研需要 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310128"/>
            <a:ext cx="4690872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文献、学者、Zotero、飞书、浏览器、数据库不能只靠模型记忆。MCP 让 Agent 能调用可核验工具。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743200"/>
            <a:ext cx="4983480" cy="150876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743200"/>
            <a:ext cx="73152" cy="1508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880360"/>
            <a:ext cx="4727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MCP 不等于万能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310128"/>
            <a:ext cx="4690872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工具返回什么、权限是否够、数据是否真实、结果是否过期，仍然需要人工核验。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469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700" b="1">
                <a:solidFill>
                  <a:srgbClr val="0F766E"/>
                </a:solidFill>
                <a:latin typeface="Microsoft YaHei"/>
              </a:defRPr>
            </a:pPr>
            <a:r>
              <a:t>课堂判断：凡是涉及外部事实、文献、学者、机构、文件系统，都优先考虑 MCP 或真实数据库。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Ai4Scholar-MCP：真实文献能力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257800" cy="224028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论文搜索、论文详情、PDF/全文阅读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DOI/PMID/arXiv 等元数据核验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引用网络、推荐、作者信息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自动引用、BibTeX、科学绘图等能力按当前工具暴露为准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074920" cy="29718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100">
                <a:solidFill>
                  <a:srgbClr val="EBEFF5"/>
                </a:solidFill>
                <a:latin typeface="Courier New"/>
              </a:defRPr>
            </a:pPr>
            <a:r>
              <a:t>{</a:t>
            </a:r>
            <a:br/>
            <a:r>
              <a:t>  "mcpServers": {</a:t>
            </a:r>
            <a:br/>
            <a:r>
              <a:t>    "ai4scholar": {</a:t>
            </a:r>
            <a:br/>
            <a:r>
              <a:t>      "url": "https://mcp.ai4scholar.net/sse",</a:t>
            </a:r>
            <a:br/>
            <a:r>
              <a:t>      "headers": {</a:t>
            </a:r>
            <a:br/>
            <a:r>
              <a:t>        "Authorization": "Bearer ${AI4SCHOLAR_API_KEY}"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10515600" cy="96012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526280"/>
            <a:ext cx="73152" cy="960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63440"/>
            <a:ext cx="102595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093208"/>
            <a:ext cx="10222992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检索结果不等于可引用结果。必须检查 DOI、期刊、作者、年份、主题匹配和是否为真实来源。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AMiner-MCP：学者、机构与知识图谱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349240" cy="25603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学者画像：姓名、机构、研究领域、代表作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作者同名消歧：机构、合作网络、代表论文交叉判断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机构/团队分析：研究方向、合作关系、影响力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专利和应用成果：适合管理、HCI、神经营销、BCI 交叉研究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5029200" cy="278892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100">
                <a:solidFill>
                  <a:srgbClr val="EBEFF5"/>
                </a:solidFill>
                <a:latin typeface="Courier New"/>
              </a:defRPr>
            </a:pPr>
            <a:r>
              <a:t>{</a:t>
            </a:r>
            <a:br/>
            <a:r>
              <a:t>  "mcpServers": {</a:t>
            </a:r>
            <a:br/>
            <a:r>
              <a:t>    "aminer": {</a:t>
            </a:r>
            <a:br/>
            <a:r>
              <a:t>      "url": "https://mcp.aminer.cn/sse",</a:t>
            </a:r>
            <a:br/>
            <a:r>
              <a:t>      "headers": {</a:t>
            </a:r>
            <a:br/>
            <a:r>
              <a:t>        "Authorization": "Bearer ${AMINER_MCP_TOKEN}"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72000"/>
            <a:ext cx="10515600" cy="91440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73152" cy="914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709160"/>
            <a:ext cx="102595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138928"/>
            <a:ext cx="1022299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中文姓名同名非常常见，不能把第一条结果直接当作目标学者。必须用机构、领域、代表作和主页交叉确认。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Ai4Scholar 与 AMiner 怎么分工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154680"/>
                <a:gridCol w="4206240"/>
              </a:tblGrid>
              <a:tr h="662939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优先工具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这篇论文是否真实、DOI 是否对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 / OpenAlex / Crossref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论文级元数据核验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某个学者是谁、属于哪个机构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学者画像和知识图谱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一个方向有哪些核心论文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 + AMiner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论文检索 + 专家/团队补充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文献池如何进入 Zotero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 / pyzotero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长期知识库管理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结果如何写进论文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paper-writing + citation-management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写作和引用格式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76072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700" b="1">
                <a:solidFill>
                  <a:srgbClr val="0F766E"/>
                </a:solidFill>
                <a:latin typeface="Microsoft YaHei"/>
              </a:defRPr>
            </a:pPr>
            <a:r>
              <a:t>科研检索不是一个工具通吃，而是多平台交叉核验。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飞书 / IMA 渠道连接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934870" cy="658368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45336"/>
            <a:ext cx="1788566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飞书/IMA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3862" y="1417320"/>
            <a:ext cx="1934870" cy="658368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7014" y="1545336"/>
            <a:ext cx="1788566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Agent 网关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67558" y="1746504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13324" y="1417320"/>
            <a:ext cx="1934870" cy="658368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6476" y="1545336"/>
            <a:ext cx="1788566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模型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67020" y="1746504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12787" y="1417320"/>
            <a:ext cx="1934870" cy="658368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5939" y="1545336"/>
            <a:ext cx="1788566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Skills/MCP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66483" y="1746504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12249" y="1417320"/>
            <a:ext cx="1934870" cy="658368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5401" y="1545336"/>
            <a:ext cx="1788566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本地/云端输出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65945" y="1746504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77240" y="2468880"/>
          <a:ext cx="5440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11880"/>
              </a:tblGrid>
              <a:tr h="5105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连接对象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科研用途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飞书文档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讲义、论文草稿、会议纪要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飞书知识库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课程资料、论文卡片、方法手册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飞书多维表格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文献筛选、实验进度、任务看板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飞书消息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触发 Agent、接收摘要、推送提醒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IMA / 其他渠道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作为消息或知识库入口，按 Webhook/Bot/API 能力接入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720840" y="2606040"/>
            <a:ext cx="4389120" cy="22860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确认组织权限和 scope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密钥只放环境变量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先用低风险测试文档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不要把未公开数据直接发到外部渠道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输出要回写到 research_log.md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标准科研工作区结构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166360" cy="484632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第01讲_我的Agent工作区/</a:t>
            </a:r>
            <a:br/>
            <a:r>
              <a:t>├─ AGENTS.md</a:t>
            </a:r>
            <a:br/>
            <a:r>
              <a:t>├─ CLAUDE.md</a:t>
            </a:r>
            <a:br/>
            <a:r>
              <a:t>├─ MEMORY.md</a:t>
            </a:r>
            <a:br/>
            <a:r>
              <a:t>├─ SOUL.md</a:t>
            </a:r>
            <a:br/>
            <a:r>
              <a:t>├─ USER.md</a:t>
            </a:r>
            <a:br/>
            <a:r>
              <a:t>├─ project_status.md</a:t>
            </a:r>
            <a:br/>
            <a:r>
              <a:t>├─ research_log.md</a:t>
            </a:r>
            <a:br/>
            <a:r>
              <a:t>├─ skills/</a:t>
            </a:r>
            <a:br/>
            <a:r>
              <a:t>├─ input/</a:t>
            </a:r>
            <a:br/>
            <a:r>
              <a:t>├─ literature/</a:t>
            </a:r>
            <a:br/>
            <a:r>
              <a:t>├─ data/</a:t>
            </a:r>
            <a:br/>
            <a:r>
              <a:t>│  ├─ raw/</a:t>
            </a:r>
            <a:br/>
            <a:r>
              <a:t>│  └─ processed/</a:t>
            </a:r>
            <a:br/>
            <a:r>
              <a:t>├─ output/</a:t>
            </a:r>
            <a:br/>
            <a:r>
              <a:t>└─ configs/</a:t>
            </a:r>
            <a:br/>
            <a:r>
              <a:t>   ├─ mcp.example.json</a:t>
            </a:r>
            <a:br/>
            <a:r>
              <a:t>   └─ env.example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800600" cy="30175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input：原始输入，不随意覆盖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literature：文献检索、筛选表、BibTeX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data/raw：原始数据；data/processed：清洗后数据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output：Agent 输出文件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configs：只放示例和占位，不放真实密钥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research_log：每次执行都记录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5074920"/>
            <a:ext cx="4800600" cy="7772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5074920"/>
            <a:ext cx="73152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5212080"/>
            <a:ext cx="45445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课堂标准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641848"/>
            <a:ext cx="4507992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学生提交的是文件夹，不是聊天截图。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Agent 日常任务部署模板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5486400" cy="489204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100">
                <a:solidFill>
                  <a:srgbClr val="EBEFF5"/>
                </a:solidFill>
                <a:latin typeface="Courier New"/>
              </a:defRPr>
            </a:pPr>
            <a:r>
              <a:t># 今日 Agent 任务</a:t>
            </a:r>
            <a:br/>
            <a:br/>
            <a:r>
              <a:t>## 目标</a:t>
            </a:r>
            <a:br/>
            <a:r>
              <a:t>形成 20 篇候选文献表。</a:t>
            </a:r>
            <a:br/>
            <a:br/>
            <a:r>
              <a:t>## 输入</a:t>
            </a:r>
            <a:br/>
            <a:r>
              <a:t>关键词、时间范围、数据库。</a:t>
            </a:r>
            <a:br/>
            <a:br/>
            <a:r>
              <a:t>## 可用 Skills</a:t>
            </a:r>
            <a:br/>
            <a:r>
              <a:t>ai4scholar-research, aminer-mcp-research。</a:t>
            </a:r>
            <a:br/>
            <a:br/>
            <a:r>
              <a:t>## 执行要求</a:t>
            </a:r>
            <a:br/>
            <a:r>
              <a:t>每篇论文必须有题名、作者、年份、来源、DOI/URL。</a:t>
            </a:r>
            <a:br/>
            <a:r>
              <a:t>无法核验标注“未核验”。</a:t>
            </a:r>
            <a:br/>
            <a:br/>
            <a:r>
              <a:t>## 输出</a:t>
            </a:r>
            <a:br/>
            <a:r>
              <a:t>literature/candidate_papers.xlsx</a:t>
            </a:r>
            <a:br/>
            <a:r>
              <a:t>literature/search_log.md</a:t>
            </a:r>
            <a:br/>
            <a:r>
              <a:t>literature/unverified_items.md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91640"/>
            <a:ext cx="4526280" cy="21488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任务卡把需求转成可执行流程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先定义输入和输出，再让 Agent 执行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所有未核验项单独成文件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执行后更新 project_status.md 和 research_log.md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4434840"/>
            <a:ext cx="4526280" cy="86868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4434840"/>
            <a:ext cx="73152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4572000"/>
            <a:ext cx="4270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课堂要求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5001768"/>
            <a:ext cx="4233672" cy="21031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以后每次用 Agent 做科研，都先写任务卡。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1：建立工作区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972800" cy="22860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New-Item -ItemType Directory -Force -Path "D:\AI科研训练营\第01讲_我的Agent工作区"</a:t>
            </a:r>
            <a:br/>
            <a:r>
              <a:t>cd "D:\AI科研训练营\第01讲_我的Agent工作区"</a:t>
            </a:r>
            <a:br/>
            <a:br/>
            <a:r>
              <a:t>New-Item -ItemType Directory -Force -Path skills,input,literature,output,configs,data,docs</a:t>
            </a:r>
            <a:br/>
            <a:r>
              <a:t>New-Item -ItemType Directory -Force -Path data\raw,data\processed</a:t>
            </a:r>
            <a:br/>
            <a:r>
              <a:t>New-Item -ItemType File -Force -Path AGENTS.md,CLAUDE.md,SOUL.md,USER.md,MEMORY.md,project_status.md,research_log.md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10241280" cy="14630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先建结构，再让 Agent 工作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不要把所有输出堆在桌面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不要把 Skills 直接装到根目录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每个学生用自己的姓名/主题命名项目</a:t>
            </a:r>
          </a:p>
        </p:txBody>
      </p:sp>
    </p:spTree>
  </p:cSld>
  <p:clrMapOvr>
    <a:masterClrMapping/>
  </p:clrMapOvr>
</p:sld>
</file>

<file path=ppt/slides/slide28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7F8F5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F76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45720"/><a:ext cx="1463040" cy="201168"/></a:xfrm><a:prstGeom prst="rect"><a:avLst/></a:prstGeom><a:noFill/></p:spPr><p:txBody><a:bodyPr wrap="square" lIns="45720" rIns="45720" tIns="27432" bIns="27432" anchor="t"><a:spAutoFit/></a:bodyPr><a:lstStyle/><a:p><a:pPr algn="l"><a:defRPr sz="800" b="1"><a:solidFill><a:srgbClr val="FFFFFF"/></a:solidFill><a:latin typeface="Microsoft YaHei"/></a:defRPr></a:pPr><a:r><a:t>第 01 讲</a:t></a:r></a:p></p:txBody></p:sp><p:sp><p:nvSpPr><p:cNvPr id="4" name="TextBox 3"/><p:cNvSpPr txBox="1"/><p:nvPr/></p:nvSpPr><p:spPr><a:xfrm><a:off x="11018520" y="36576"/><a:ext cx="640080" cy="228600"/></a:xfrm><a:prstGeom prst="rect"><a:avLst/></a:prstGeom><a:noFill/></p:spPr><p:txBody><a:bodyPr wrap="square" lIns="45720" rIns="45720" tIns="27432" bIns="27432" anchor="t"><a:spAutoFit/></a:bodyPr><a:lstStyle/><a:p><a:pPr algn="r"><a:defRPr sz="1000" b="1"><a:solidFill><a:srgbClr val="FFFFFF"/></a:solidFill><a:latin typeface="Microsoft YaHei"/></a:defRPr></a:pPr><a:r><a:t>28</a:t></a:r></a:p></p:txBody></p:sp><p:sp><p:nvSpPr><p:cNvPr id="5" name="TextBox 4"/><p:cNvSpPr txBox="1"/><p:nvPr/></p:nvSpPr><p:spPr><a:xfrm><a:off x="502920" y="566928"/><a:ext cx="10789920" cy="502920"/></a:xfrm><a:prstGeom prst="rect"><a:avLst/></a:prstGeom><a:noFill/></p:spPr><p:txBody><a:bodyPr wrap="square" lIns="45720" rIns="45720" tIns="27432" bIns="27432" anchor="t"><a:spAutoFit/></a:bodyPr><a:lstStyle/><a:p><a:pPr algn="l"><a:defRPr sz="2500" b="1"><a:solidFill><a:srgbClr val="1F2933"/></a:solidFill><a:latin typeface="Microsoft YaHei"/></a:defRPr></a:pPr><a:r><a:t>课堂实操 2：复制本讲 Skills</a:t></a:r></a:p></p:txBody></p:sp><p:sp><p:nvSpPr><p:cNvPr id="6" name="Rectangle 5"/><p:cNvSpPr/><p:nvPr/></p:nvSpPr><p:spPr><a:xfrm><a:off x="502920" y="1106424"/><a:ext cx="1005840" cy="54864"/></a:xfrm><a:prstGeom prst="rect"><a:avLst/></a:prstGeom><a:solidFill><a:srgbClr val="B4530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31520" y="1417320"/><a:ext cx="10972800" cy="2377440"/></a:xfrm><a:prstGeom prst="roundRect"><a:avLst/></a:prstGeom><a:solidFill><a:srgbClr val="212B36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lIns="137160" rIns="137160" tIns="109728" bIns="73152" wrap="square"/><a:lstStyle/><a:p><a:pPr algn="ctr"><a:defRPr sz="1200"><a:solidFill><a:srgbClr val="EBEFF5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ai4scholar-mcp-openclaw-setup,aminer-mcp-research,find-skills,skill-creator `</a:t></a:r><a:br/><a:r><a:t>  -Workspace "D:\AI科研训练营\第01讲_我的Agent工作区"</a:t></a:r><a:br/><a:br/><a:r><a:t>Get-ChildItem "D:\AI科研训练营\第01讲_我的Agent工作区\skills" -Directory</a:t></a:r></a:p></p:txBody></p:sp><p:sp><p:nvSpPr><p:cNvPr id="8" name="Rounded Rectangle 7"/><p:cNvSpPr/><p:nvPr/></p:nvSpPr><p:spPr><a:xfrm><a:off x="914400" y="4297680"/><a:ext cx="10195560" cy="822960"/></a:xfrm><a:prstGeom prst="roundRect"><a:avLst/></a:prstGeom><a:solidFill><a:srgbClr val="E2EBFF"/></a:solidFill><a:ln w="10160"><a:solidFill><a:srgbClr val="D2D7DC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Rectangle 8"/><p:cNvSpPr/><p:nvPr/></p:nvSpPr><p:spPr><a:xfrm><a:off x="914400" y="4297680"/><a:ext cx="73152" cy="822960"/></a:xfrm><a:prstGeom prst="rect"><a:avLst/></a:prstGeom><a:solidFill><a:srgbClr val="2563E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1078992" y="4434840"/><a:ext cx="9939528" cy="320040"/></a:xfrm><a:prstGeom prst="rect"><a:avLst/></a:prstGeom><a:noFill/></p:spPr><p:txBody><a:bodyPr wrap="square" lIns="45720" rIns="45720" tIns="27432" bIns="27432" anchor="t"><a:spAutoFit/></a:bodyPr><a:lstStyle/><a:p><a:pPr algn="l"><a:defRPr sz="1500" b="1"><a:solidFill><a:srgbClr val="2563EB"/></a:solidFill><a:latin typeface="Microsoft YaHei"/></a:defRPr></a:pPr><a:r><a:t>检查点</a:t></a:r></a:p></p:txBody></p:sp><p:sp><p:nvSpPr><p:cNvPr id="11" name="TextBox 10"/><p:cNvSpPr txBox="1"/><p:nvPr/></p:nvSpPr><p:spPr><a:xfrm><a:off x="1078992" y="4864608"/><a:ext cx="9902952" cy="164592"/></a:xfrm><a:prstGeom prst="rect"><a:avLst/></a:prstGeom><a:noFill/></p:spPr><p:txBody><a:bodyPr wrap="square" lIns="45720" rIns="45720" tIns="27432" bIns="27432" anchor="t"><a:spAutoFit/></a:bodyPr><a:lstStyle/><a:p><a:pPr algn="l"><a:defRPr sz="1400" b="0"><a:solidFill><a:srgbClr val="1F2933"/></a:solidFill><a:latin typeface="Microsoft YaHei"/></a:defRPr></a:pPr><a:r><a:t>看到 skills 文件夹下出现对应 Skill 目录，且每个目录中至少有 SKILL.md。</a:t></a:r></a:p></p:txBody></p:sp><p:sp><p:nvSpPr><p:cNvPr id="12" name="TextBox 11"/><p:cNvSpPr txBox="1"/><p:nvPr/></p:nvSpPr><p:spPr><a:xfrm><a:off x="914400" y="5486400"/><a:ext cx="10241280" cy="320040"/></a:xfrm><a:prstGeom prst="rect"><a:avLst/></a:prstGeom><a:noFill/></p:spPr><p:txBody><a:bodyPr wrap="square" lIns="45720" rIns="45720" tIns="27432" bIns="27432" anchor="t"><a:spAutoFit/></a:bodyPr><a:lstStyle/><a:p><a:pPr algn="ctr"><a:defRPr sz="1500" b="1"><a:solidFill><a:srgbClr val="B45309"/></a:solidFill><a:latin typeface="Microsoft YaHei"/></a:defRPr></a:pPr><a:r><a:t>如果失败，先检查路径空格、PowerShell 执行策略和 Skill 名称。</a:t></a:r></a:p></p:txBody></p:sp></p:spTree></p:cSld><p:clrMapOvr><a:masterClrMapping/></p:clrMapOvr>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3：写 MCP 示例配置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715000" cy="416052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{</a:t>
            </a:r>
            <a:br/>
            <a:r>
              <a:t>  "mcpServers": {</a:t>
            </a:r>
            <a:br/>
            <a:r>
              <a:t>    "ai4scholar": {</a:t>
            </a:r>
            <a:br/>
            <a:r>
              <a:t>      "url": "https://mcp.ai4scholar.net/sse",</a:t>
            </a:r>
            <a:br/>
            <a:r>
              <a:t>      "headers": {"Authorization": "Bearer ${AI4SCHOLAR_API_KEY}"}</a:t>
            </a:r>
            <a:br/>
            <a:r>
              <a:t>    },</a:t>
            </a:r>
            <a:br/>
            <a:r>
              <a:t>    "aminer": {</a:t>
            </a:r>
            <a:br/>
            <a:r>
              <a:t>      "url": "https://mcp.aminer.cn/sse",</a:t>
            </a:r>
            <a:br/>
            <a:r>
              <a:t>      "headers": {"Authorization": "Bearer ${AMINER_MCP_TOKEN}"}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600200"/>
            <a:ext cx="4206240" cy="25603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文件名：configs/mcp.example.json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真实 Key 只在本机环境变量中配置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配置后重启 Agent 或 MCP gateway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第一次测试只跑低成本查询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失败时输出排查清单，不编造结果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4：第一次低风险测试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214884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请检查当前工作区的 skills 文件夹，确认是否有 ai4scholar-mcp-openclaw-setup 和 aminer-mcp-research。</a:t>
            </a:r>
            <a:br/>
            <a:r>
              <a:t>不要读取或输出任何真实 API Key。</a:t>
            </a:r>
            <a:br/>
            <a:r>
              <a:t>根据 configs/mcp.example.json 生成 MCP 配置核验表。</a:t>
            </a:r>
            <a:br/>
            <a:r>
              <a:t>如果无法连接 MCP，请不要编造检索结果，只输出下一步排查清单。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977639"/>
          <a:ext cx="10789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4672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输出文件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必须包含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output/first_agent_test.md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已发现 Skills、MCP 配置状态、需要人工补充的 Token、下一步测试提示词、未核验项列表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research_log.md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执行时间、Agent、输入、输出路径、人工核验结果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600" b="1">
                <a:solidFill>
                  <a:srgbClr val="B91C1C"/>
                </a:solidFill>
                <a:latin typeface="Microsoft YaHei"/>
              </a:defRPr>
            </a:pPr>
            <a:r>
              <a:t>课堂验收只看可复现文件，不看“我问过 AI 了”。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必须人工核验的地方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2396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人工核验点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密钥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是否泄露；权限是否过大；是否写入共享文件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费用、隐私、长上下文、工具调用是否满足任务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标题、作者、年份、期刊、DOI/URL 是否真实匹配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同名作者是否误配；机构和代表作是否一致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飞书/IMA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组织权限、文档权限、消息范围、日志留存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是否把相关写成因果；是否夸大贡献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700" b="1">
                <a:solidFill>
                  <a:srgbClr val="B45309"/>
                </a:solidFill>
                <a:latin typeface="Microsoft YaHei"/>
              </a:defRPr>
            </a:pPr>
            <a:r>
              <a:t>Agent 能提高效率，但不能承担作者责任。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课后作业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486400" cy="28346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提交：姓名_第01讲_Agent科研工作区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必须包含：AGENTS.md、CLAUDE.md、SOUL.md、USER.md、MEMORY.md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必须包含：configs/mcp.example.json、skills/、research_log.md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完成一次 Ai4Scholar 或 AMiner 低风险测试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提交 300 字反思：你更适合先用哪个 Agent，为什么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20840" y="1508760"/>
          <a:ext cx="41605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34440"/>
              </a:tblGrid>
              <a:tr h="42454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分值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工作区结构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记忆文件质量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Skills 部署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MCP 配置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测试记录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反思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166360"/>
            <a:ext cx="10195560" cy="82296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166360"/>
            <a:ext cx="73152" cy="8229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30352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不合格情况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5733288"/>
            <a:ext cx="9902952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出现真实 API Key、编造文献、只交聊天截图、没有 research_log.md。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课程总路线：按功能区逐讲推进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726948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讲次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核心产出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基础设施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01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 工作区、Skills、MCP、渠道连接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文献与知识库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02-05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论文卡片、文献池、Zotero/Obsidian、研究问题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方法设计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06-09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CNKI 选题、情景实验、统计因果、文本挖掘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脑电与 BCI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10-11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EEG/ERP 分析、BCI 智能建模、防泄漏评估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论文与传播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12-13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论文写作审稿排版、PPT/海报/图表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综合项目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可复现科研 Agent 项目包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700" b="1">
                <a:solidFill>
                  <a:srgbClr val="0F766E"/>
                </a:solidFill>
                <a:latin typeface="Microsoft YaHei"/>
              </a:defRPr>
            </a:pPr>
            <a:r>
              <a:t>第一讲是地基；后面每一讲都在同一个工作区规范上增加能力。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外部资料入口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789920" cy="31089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Claude Code：https://docs.anthropic.com/en/docs/claude-code/overview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Claude Code memory：https://docs.anthropic.com/en/docs/claude-code/memory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OpenAI Codex：https://github.com/openai/codex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MCP 官方文档：https://modelcontextprotocol.io/docs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Ai4Scholar：https://ai4scholar.net；MCP：https://mcp.ai4scholar.net/sse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AMiner 开放文档：https://www.aminer.cn/open/docs；MCP：https://mcp.aminer.cn/sse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500">
                <a:solidFill>
                  <a:srgbClr val="1F2933"/>
                </a:solidFill>
                <a:latin typeface="Microsoft YaHei"/>
              </a:defRPr>
            </a:pPr>
            <a:r>
              <a:t>模型选择参考：https://hvoy.ai/model-select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10469880" cy="91440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73152" cy="914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029200"/>
            <a:ext cx="102138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版本原则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458968"/>
            <a:ext cx="1017727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部署命令会随工具版本变化。课件中涉及外部工具的安装步骤，学生必须以官方当前文档或课程包当前版本再次确认。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01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本讲一句话总结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6696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3000" b="1">
                <a:solidFill>
                  <a:srgbClr val="1F2933"/>
                </a:solidFill>
                <a:latin typeface="Microsoft YaHei"/>
              </a:defRPr>
            </a:pPr>
            <a:r>
              <a:t>科研 Agent 不是一个聊天窗口，</a:t>
            </a:r>
            <a:br/>
            <a:r>
              <a:t>而是一套可追踪的工作区、记忆、Skills、MCP、模型和人工核验流程。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输入明确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6742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9894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工具明确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0438" y="450342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59044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2196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输出明确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2740" y="450342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21347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4499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核验明确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75043" y="450342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83649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6801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日志明确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37345" y="450342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