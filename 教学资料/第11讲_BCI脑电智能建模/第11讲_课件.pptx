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 11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554480"/>
            <a:ext cx="2057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BCI 脑电</a:t>
            </a:r>
            <a:br/>
            <a:r>
              <a:t>智能建模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77840"/>
            <a:ext cx="2057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从 EEG 特征到可审计解码系统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05840"/>
            <a:ext cx="80010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700" b="1">
                <a:solidFill>
                  <a:srgbClr val="202A36"/>
                </a:solidFill>
                <a:latin typeface="Microsoft YaHei"/>
              </a:defRPr>
            </a:pPr>
            <a:r>
              <a:t>让脑电机器学习结果能泛化、可复现、经得起审稿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83080"/>
            <a:ext cx="8001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586572"/>
                </a:solidFill>
                <a:latin typeface="Microsoft YaHei"/>
              </a:defRPr>
            </a:pPr>
            <a:r>
              <a:t>Data Structure · Features · Baselines · Deep Learning · Transfer · Online · Leakage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711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368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标签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6526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238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895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特征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41797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7652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4228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Baseline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7068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92923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499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深度模型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92339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8194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4770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迁移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17611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43465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0041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在线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2882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68736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05312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00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68153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40" y="4069080"/>
            <a:ext cx="797356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069080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1970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81144"/>
            <a:ext cx="7671816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40" b="0">
                <a:solidFill>
                  <a:srgbClr val="202A36"/>
                </a:solidFill>
                <a:latin typeface="Microsoft YaHei"/>
              </a:defRPr>
            </a:pPr>
            <a:r>
              <a:t>bci_project_structure、dataset_selection、prediction_task、feature_engineering_plan、classical_ml_plan、deep_learning_plan、transfer_plan、online_plan、leakage_audit、results_report。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5413248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5413248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5541264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925312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split 决定 claim；没有泄漏审计的高准确率不能写进论文主结论。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440680" cy="292608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有 EEG 数据，但不知道怎么变成 BCI 建模研究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模型准确率很高，但可能只是训练测试泄漏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不清楚 within-subject、cross-session、cross-subject 各自能声称什么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想用 EEGNet/Transformer，但没有 baseline 和验证边界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想做在线 BCI，却把离线结果包装成实时系统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论文里缺 subject-wise 指标、失败被试和模型限制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663440" cy="10972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72768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43616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不追求漂亮准确率；不把模型解释直接写成神经机制；不隐藏失败被试。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63240"/>
            <a:ext cx="4663440" cy="10972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063240"/>
            <a:ext cx="73152" cy="10972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19125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75304"/>
            <a:ext cx="43616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建立一套可复现、可审计、可写进论文的 EEG/BCI 智能建模流程。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698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356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标签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6640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6529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187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特征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471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6360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18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模型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6302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6191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849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验证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133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022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680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泄漏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964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5853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511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795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35024"/>
          <a:ext cx="1092708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343400"/>
                <a:gridCol w="5166360"/>
              </a:tblGrid>
              <a:tr h="569214">
                <a:tc>
                  <a:txBody>
                    <a:bodyPr/>
                    <a:lstStyle/>
                    <a:p>
                      <a:pPr algn="l">
                        <a:defRPr sz="8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bci_project_structure.md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subject/session/run/trial/window 与 metadata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bci_dataset_selection.md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公开 benchmark 或自有数据适用性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bci_prediction_task.md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标签、预测时刻、split 和 claim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bci_feature_engineering_plan.md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band power、ERP、CSP、Riemannian、连接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classical_ml_plan / deep_learning_plan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baseline、深度模型、调参和对照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迁移/在线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transfer_plan / online_decoding_plan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跨被试、校准、延迟、反馈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审计/报告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leakage_audit / results_report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防泄漏、subject-wise 指标和论文写作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25312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25312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5332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37376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没有泄漏审计、没有 split disclosure、没有 subject-wise metrics 的结果不能作为主结论。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98448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60520"/>
                <a:gridCol w="5394960"/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bci-data-structure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层级、metadata、label schema、split unit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bci-benchmark-datasets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MOABB、PhysioNet、OpenNeuro、BCI Competition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eeg-feature-engineering-bci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PSD、ERP、CSP、FBCSP、Riemannian、连接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eeg-ml-classical-bci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LDA、SVM、CSP+LDA、Riemannian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深度模型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eeg-deep-learning-bci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EEGNet、DeepConvNet、TCN、Transformer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迁移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eeg-cross-subject-transfer-bci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LOSO、domain adaptation、few-shot calibration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在线/报告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bci-online-decoding / bci-results-reporting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latency、ITR、subject-wise、limitations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eeg-model-evaluation-leakage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window、subject、normalization、tuning 泄漏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286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9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"D:\AI科研训练营\第11讲_BCI脑电智能建模工作区"</a:t>
            </a:r>
            <a:br/>
            <a:r>
              <a:t>cd "D:\AI科研训练营\第11讲_BCI脑电智能建模工作区"</a:t>
            </a:r>
            <a:br/>
            <a:br/>
            <a:r>
              <a:t>New-Item -ItemType Directory -Force -Path data,data\raw,data\events,data\labels,data\features,data\metadata,bci,bci\scripts,bci\models,bci\figures,qc,output,skills,input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69080"/>
            <a:ext cx="512064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069080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9709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81144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raw 只放原始 EEG；features 放衍生特征；models 放训练产物；qc 放审计。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69080"/>
            <a:ext cx="5120640" cy="9601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069080"/>
            <a:ext cx="73152" cy="9601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9709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输入示例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81144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clean epochs、events.tsv、labels.csv、公开 benchmark 文档、预处理 QC。</a:t>
            </a:r>
          </a:p>
        </p:txBody>
      </p:sp>
    </p:spTree>
  </p:cSld>
  <p:clrMapOvr>
    <a:masterClrMapping/>
  </p:clrMapOvr>
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320040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11 讲 · BCI 脑电智能建模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06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53312"/><a:ext cx="10744200" cy="2670048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28016" rIns="109728" tIns="91440" bIns="73152"/><a:lstStyle/><a:p><a:pPr algn="ctr"><a:lnSpc><a:spcPct val="100000"/></a:lnSpc><a:defRPr sz="800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bci-data-structure,bci-benchmark-datasets,eeg-feature-engineering-bci,eeg-ml-classical-bci,eeg-deep-learning-bci,eeg-cross-subject-transfer-bci,eeg-model-evaluation-leakage,eeg-model-interpretability-bci,bci-online-decoding,bci-results-reporting `</a:t></a:r><a:br/><a:r><a:t>  -Workspace "D:\AI科研训练营\第11讲_BCI脑电智能建模工作区"</a:t></a:r></a:p></p:txBody></p:sp><p:sp><p:nvSpPr><p:cNvPr id="8" name="TextBox 7"/><p:cNvSpPr txBox="1"/><p:nvPr/></p:nvSpPr><p:spPr><a:xfrm><a:off x="868680" y="4343400"/><a:ext cx="10149840" cy="914400"/></a:xfrm><a:prstGeom prst="rect"><a:avLst/></a:prstGeom><a:noFill/></p:spPr><p:txBody><a:bodyPr wrap="square" lIns="73152" rIns="45720" tIns="18288" bIns="18288"><a:spAutoFit/></a:bodyPr><a:lstStyle/><a:p><a:pPr><a:lnSpc><a:spcPct val="105000"/></a:lnSpc><a:spcAft><a:spcPts val="300"/></a:spcAft><a:defRPr sz="1420"><a:solidFill><a:srgbClr val="202A36"/></a:solidFill><a:latin typeface="Microsoft YaHei"/></a:defRPr></a:pPr><a:r><a:t>复制后检查 skills/ 文件夹。</a:t></a:r></a:p><a:p><a:pPr><a:lnSpc><a:spcPct val="105000"/></a:lnSpc><a:spcAft><a:spcPts val="300"/></a:spcAft><a:defRPr sz="1420"><a:solidFill><a:srgbClr val="202A36"/></a:solidFill><a:latin typeface="Microsoft YaHei"/></a:defRPr></a:pPr><a:r><a:t>本讲 Skills 只放工作区，后续按需复制到自己的项目。</a:t></a:r></a:p><a:p><a:pPr><a:lnSpc><a:spcPct val="105000"/></a:lnSpc><a:spcAft><a:spcPts val="300"/></a:spcAft><a:defRPr sz="1420"><a:solidFill><a:srgbClr val="202A36"/></a:solidFill><a:latin typeface="Microsoft YaHei"/></a:defRPr></a:pPr><a:r><a:t>缺失 Skill 要写入 research_log.md，不要假装已使用。</a:t></a:r></a:p></p:txBody></p:sp></p:spTree></p:cSld><p:clrMapOvr><a:masterClrMapping/></p:clrMapOvr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97880" cy="3200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# 第11讲工作区 Agent 指令</a:t>
            </a:r>
            <a:br/>
            <a:br/>
            <a:r>
              <a:t>你是 BCI 脑电智能建模助手。</a:t>
            </a:r>
            <a:br/>
            <a:br/>
            <a:r>
              <a:t>原则：</a:t>
            </a:r>
            <a:br/>
            <a:r>
              <a:t>- 禁止覆盖 raw EEG。</a:t>
            </a:r>
            <a:br/>
            <a:r>
              <a:t>- 禁止同一 trial windows 跨 train/test。</a:t>
            </a:r>
            <a:br/>
            <a:r>
              <a:t>- 禁止 test set 调参。</a:t>
            </a:r>
            <a:br/>
            <a:r>
              <a:t>- 禁止全数据 fit scaler/CSP/PCA。</a:t>
            </a:r>
            <a:br/>
            <a:r>
              <a:t>- 禁止 target test labels 做迁移。</a:t>
            </a:r>
            <a:br/>
            <a:r>
              <a:t>- 必须报告 subject-wise metrics。</a:t>
            </a:r>
            <a:br/>
            <a:r>
              <a:t>- offline、pseudo-online、real online 必须区分。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554480"/>
            <a:ext cx="406908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728" y="1554480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5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66543"/>
            <a:ext cx="376732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 建模自由度很高，先把不可碰的边界写进工作区。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26080"/>
            <a:ext cx="40690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292608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054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可直接复制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438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使用 lesson11_workspace_AGENTS_template.md。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069080"/>
            <a:ext cx="406908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06908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197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581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没有边界时，Agent 容易把泄漏结果包装成模型进步。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BCI 建模全流程地图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研究任务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5764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2340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数据结构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75180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4873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标签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74289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73982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0558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split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73398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3091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9667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特征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72507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baseline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71616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71308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7884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深度模型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70724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70417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6993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迁移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69833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69526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6102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在线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8942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568635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5211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40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68051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960120" y="2514600"/>
          <a:ext cx="101498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22376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如果缺失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metadata 不清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无法追溯 subject/session/trial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标签时刻不清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可能 label leakage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split unit 不清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claim 不成立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baseline 缺失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无法判断新模型价值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泄漏审计缺失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高准确率不可信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960120" y="5559552"/>
            <a:ext cx="10149840" cy="530352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0120" y="5559552"/>
            <a:ext cx="73152" cy="5303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687568"/>
            <a:ext cx="98755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原则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071616"/>
            <a:ext cx="9848088" cy="-548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先定义 split 和 claim，再训练模型；不要看结果后倒推验证方式。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4：建立数据结构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定义 subject、session、run、trial、window 和 label schema。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bci/bci_project_structure.md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大多数 BCI 泄漏从数据结构混乱开始。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skills/bci-data-structure，生成 bci/bci_project_structure.md。写清 metadata、label schema、split unit、class balance 和 leakage risks。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层级唯一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标签来源清楚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split unit 先定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class balance 可查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raw 不覆盖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数据结构应长什么样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172200"/>
              </a:tblGrid>
              <a:tr h="581297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例子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建模意义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sub-001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跨被试泛化必须隔离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session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ses-01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 session 泛化必须隔离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run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run-01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采集批次和漂移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trial-001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滑窗不能跨 split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window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win-001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模型输入单位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label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high workload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预测目标和 chance level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687568"/>
            <a:ext cx="10378440" cy="56692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687568"/>
            <a:ext cx="73152" cy="5669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15583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199631"/>
            <a:ext cx="1007668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如果同一 trial 被切成多个 window，它们必须一起进入 train 或 test。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5：选择 benchmark 或自有数据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确认数据集是否真正支持研究任务和论文 claim。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bci/bci_dataset_selection.md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不确定数据集细节时必须标待人工核验。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skills/bci-benchmark-datasets，生成 bci/bci_dataset_selection.md。比较 task、subjects、sessions、channels、labels、license、citation、split 和限制。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数据集真实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license 可用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标签匹配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split 可比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citation 待核验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6：定义预测任务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把研究问题变成明确的 prediction target 和 evaluation claim。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bci/bci_prediction_task.md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预测任务定义不好，后面所有模型都会失焦。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请生成 bci/bci_prediction_task.md。包括 target、class labels、label source、prediction time、input unit、evaluation claim、class balance、chance level、cannot-claim boundary。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target 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标签时刻可用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chance level 正确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claim 与 split 匹配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不能声称写清楚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Split 决定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251960"/>
              </a:tblGrid>
              <a:tr h="617220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Split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不能说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random epoch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同一数据内部分类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跨被试/真实泛化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within-subject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同一被试离线预测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新被试泛化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cross-session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同一被试跨时间泛化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新被试泛化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LOSO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新被试离线泛化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真实在线表现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online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实时系统表现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如果没有延迟和反馈记录就不能说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声称跨被试泛化，却随机划分 epoch，是 BCI 论文中非常严重的问题。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7：生成特征工程计划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选择可解释、可复现、适合任务的 EEG 特征。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bci/bci_feature_engineering_plan.md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特征工程是测量选择，不是模型装饰。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skills/eeg-feature-engineering-bci，生成 bci/bci_feature_engineering_plan.md。比较 band power、ERP、CSP/FBCSP、Riemannian、connectivity、time-window features。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窗口/通道/频段清楚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fit 在训练 fold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输出字段清楚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特征与任务匹配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泄漏风险写明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常用 BCI 特征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698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794760"/>
                <a:gridCol w="4526280"/>
              </a:tblGrid>
              <a:tr h="586740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注意事项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Band power / PSD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负荷、注意、情绪、MI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频段和归一化要先验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 amplitude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P300、ERN、FRN 等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窗口和 ROI 不能后验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CSP / FBCSP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运动想象等空间模式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CSP 必须 fold 内 fit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Riemannian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协方差模式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split 和正则化要清楚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Connectivity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耦合模式探索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不能写成因果方向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76672"/>
            <a:ext cx="10378440" cy="68580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76672"/>
            <a:ext cx="73152" cy="6858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04688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88736"/>
            <a:ext cx="10076688" cy="1005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特征数量远大于样本数时，要先降维、正则化或改为更稳定的特征。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8：建立 Classical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先用简单模型建立可信对照，再讨论复杂模型。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bci/bci_classical_ml_plan.md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没有 baseline 的 deep learning 结果说服力很弱。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skills/eeg-ml-classical-bci，生成 bci/bci_classical_ml_plan.md。至少包括 chance、majority、LDA/logistic、SVM、CSP+LDA、Riemannian。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同一 split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nested CV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不只 best run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subject-wise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permutation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Baseline 层次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chance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383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041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majority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325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3786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444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LDA/logistic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728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8189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847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SVM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8131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2592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250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CSP+LDA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534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6995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653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Riemannian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937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1398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056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proposed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1340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60120" y="2423160"/>
          <a:ext cx="101498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406640"/>
              </a:tblGrid>
              <a:tr h="424542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chance / majority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确认任务不是类别比例造成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LDA / logistic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线性可解释 baseline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SVM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传统强 baseline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CSP+LDA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运动想象常用对照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Riemannian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协方差特征强 baseline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proposed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必须超过合理对照才有意义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9：判断深度学习是否必要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在数据量、验证设计和 baseline 足够时才引入深度模型。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bci/bci_deep_learning_plan.md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小数据直接上 Transformer 通常不是好主意。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skills/eeg-deep-learning-bci，生成 bci/bci_deep_learning_plan.md。包括 EEGNet、DeepConvNet、ShallowConvNet、CNN-LSTM、TCN、Transformer 适用性、tensor schema、augmentation 和 early stopping。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数据量足够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tensor schema 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augmentation split 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有 baseline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不夸大机制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Deep Learning 适用边界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18120"/>
              </a:tblGrid>
              <a:tr h="58674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情况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小样本、少被试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先 classical baseline；深度模型只做探索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多被试、多 session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可考虑 EEGNet/DeepConvNet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时间动态强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可考虑 TCN/CNN-LSTM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跨被试迁移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需要 LOSO、校准和 subject-wise report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Transformer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需要足够数据、正则和对照，不做默认选择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76672"/>
            <a:ext cx="10378440" cy="6858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76672"/>
            <a:ext cx="73152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04688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88736"/>
            <a:ext cx="10076688" cy="1005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深度模型要和 classical baseline 在同一 split 下比较，不能只报最好 seed。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10：跨被试迁移计划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设计新被试、新 session 或新设备的泛化验证。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bci/bci_cross_subject_transfer_plan.md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zero-calibration 和 few-shot calibration 必须严格区分。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skills/eeg-cross-subject-transfer-bci，生成 bci/bci_cross_subject_transfer_plan.md。说明 deployment、validation、source/target split、adaptation、calibration、subject-wise metrics。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LOSO 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target labels 不泄漏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calibration 数量写明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失败被试报告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不只 pooled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跨被试迁移常见路线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60520"/>
              </a:tblGrid>
              <a:tr h="58674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用法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LOSO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每次留一被试做 test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 variance 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covariance alignment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对齐协方差分布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不能用 target test labels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Riemannian alignment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协方差空间对齐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参数估计要透明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fine-tuning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少量 target calibration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必须说明 target labels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domain adversarial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跨域学习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需要严格验证和 baseline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76672"/>
            <a:ext cx="10378440" cy="6858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76672"/>
            <a:ext cx="73152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04688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报告要求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88736"/>
            <a:ext cx="10076688" cy="1005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每个 left-out subject 都要有指标；失败被试不能删除后只报平均。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11：在线或伪在线解码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把离线模型转成可讨论延迟、窗口和反馈的系统计划。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bci/bci_online_decoding_plan.md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离线准确率不能写成实时 BCI 性能。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skills/bci-online-decoding，生成 bci/bci_online_decoding_plan.md。包括 offline/pseudo-online/real online、window、step、causal preprocessing、decision rule、latency、metrics。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不用未来样本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latency 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threshold 不用 test 调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反馈时序清楚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offline-online gap 写明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Online BCI 结果怎么写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54964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需要报告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Offline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split、features、metrics、limitations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Pseudo-online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时间顺序、滑窗、因果处理、模拟决策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Real online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硬件、延迟、反馈、ITR、false positives、疲劳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All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decision rule、threshold、rejection class、失败 session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800600"/>
            <a:ext cx="10378440" cy="74980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800600"/>
            <a:ext cx="73152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2861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12664"/>
            <a:ext cx="10076688" cy="1645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80" b="0">
                <a:solidFill>
                  <a:srgbClr val="202A36"/>
                </a:solidFill>
                <a:latin typeface="Microsoft YaHei"/>
              </a:defRPr>
            </a:pPr>
            <a:r>
              <a:t>如果滤波或特征用了未来样本，它不是严格在线流程。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12：泄漏审计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在结果报告之前逐项排除训练测试泄漏。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qc/bci_leakage_audit.md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泄漏审计不过，不建议继续写论文结果。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skills/eeg-model-evaluation-leakage，生成 qc/bci_leakage_audit.md。检查 window、subject、session、normalization、CSP/PCA、feature selection、tuning、augmentation、target labels。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每项 pass/revise/fail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fail 不进结果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修正方案清楚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证据文件可查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claim 重新匹配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泄漏类型速查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34840"/>
                <a:gridCol w="4206240"/>
              </a:tblGrid>
              <a:tr h="574765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泄漏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例子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window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 trial windows 跨 train/test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按 trial 分组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同一被试同时训练和测试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按 subject 分组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normalization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全数据 fit scaler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fold 内 fit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feature selection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全标签选特征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训练 fold 内选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tuning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test 上选参数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nested CV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augmentation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增强样本跨集合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split 后只增强 train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模型解释：能说什么，不能说什么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069080"/>
              </a:tblGrid>
              <a:tr h="61722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解释方法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不能说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feature importance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模型依赖哪些特征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该脑区产生心理机制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saliency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输入时间/通道敏感区域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真实神经因果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ablation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去掉特征后性能变化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构念被证明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topomap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空间模式描述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直接定位脑源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SHAP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预测贡献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生理机制结论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写作边界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模型解释服务于模型透明度，不等同神经机制证据。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13：结果报告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把模型结果写成可投稿的 BCI Results 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bci/bci_results_report.md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没有真实结果时只输出模板，不能编造指标。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19">
                <a:solidFill>
                  <a:srgbClr val="EEF2F7"/>
                </a:solidFill>
                <a:latin typeface="Courier New"/>
              </a:defRPr>
            </a:pPr>
            <a:r>
              <a:t>请使用 skills/bci-results-reporting，生成 bci/bci_results_report.md。先报告 split，再报告 baseline、chance、subject-wise、aggregate、confusion matrix、统计比较、leakage safeguards、limitations。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split 先写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subject-wise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失败被试不隐藏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不只 accuracy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offline/online 边界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BCI 结果表应该包含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01000"/>
              </a:tblGrid>
              <a:tr h="624839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必须字段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Model comparison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model、split、balanced accuracy、AUC、F1、CI/SD、chance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Subject-wise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subject、metrics、failed、failure reason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Confusion matrix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true labels、predicted labels、class counts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Statistical tests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paired/permutation、effect size、CI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Leakage disclosure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split、fold-internal transform、tuning、augmentation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审稿人会看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你的结论是否由 split 支持，失败被试是否透明，指标是否处理类别不平衡。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课堂示范：AI 信任 EEG BCI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91540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示范内容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根据 EEG 预测用户是否处于高认知负荷或低信任状态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 推荐阅读任务、事件码、行为采纳、量表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额中 theta、顶区 alpha、P3/LPP、Riemannian covariance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SVM / Riemannian baseline；EEGNet 作为探索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split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被试内用于个体适配；LOSO 才讨论新用户泛化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模型预测低信任状态，不等于证明信任神经机制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最大风险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标签来自事后量表时，不能直接说实时预测用户信任。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1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749039"/>
                <a:gridCol w="466344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随机 epoch split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跨被试 claim 不成立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Group split / LOSO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全数据标准化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normalization leakage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Pipeline fold 内 fit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只报最好 seed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结果不稳定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重复种子和均值/CI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 baseline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无法证明改进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classical baseline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隐藏失败被试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泛化性被夸大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subject-wise 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offline 写成 online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部署 claim 错误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区分结果类型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 150 分钟带做安排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526280"/>
              </a:tblGrid>
              <a:tr h="4617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教师带做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学生产出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0-15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BCI claim 与 split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理解底线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15-30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工作区、Skills、AGENTS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可运行工作区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30-50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数据结构和预测任务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project_structure / task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50-65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benchmark 选择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dataset_selection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65-85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特征工程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feature_plan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85-105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classical baseline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classical_ml_plan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105-120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deep learning 判断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deep_learning_plan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120-135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迁移和在线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transfer / online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135-150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泄漏审计和报告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audit / report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64592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30">
                <a:solidFill>
                  <a:srgbClr val="202A36"/>
                </a:solidFill>
                <a:latin typeface="Microsoft YaHei"/>
              </a:defRPr>
            </a:pPr>
            <a:r>
              <a:t>提交文件夹：姓名_第11讲_BCI脑电智能建模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30">
                <a:solidFill>
                  <a:srgbClr val="202A36"/>
                </a:solidFill>
                <a:latin typeface="Microsoft YaHei"/>
              </a:defRPr>
            </a:pPr>
            <a:r>
              <a:t>必须包含 project_structure、dataset_selection、prediction_task、feature_plan、classical_ml_plan、deep_learning_plan、transfer_plan、online_plan、leakage_audit、results_report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30">
                <a:solidFill>
                  <a:srgbClr val="202A36"/>
                </a:solidFill>
                <a:latin typeface="Microsoft YaHei"/>
              </a:defRPr>
            </a:pPr>
            <a:r>
              <a:t>至少填写 3 个 Excel 模板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30">
                <a:solidFill>
                  <a:srgbClr val="202A36"/>
                </a:solidFill>
                <a:latin typeface="Microsoft YaHei"/>
              </a:defRPr>
            </a:pPr>
            <a:r>
              <a:t>附 300-500 字反思：你的验证设计最多支持什么 claim，最大泄漏风险是什么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520440"/>
          <a:ext cx="8092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数据结构与标签定义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split 与 claim 匹配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特征和 baseline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deep/transfer/online 判断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泄漏审计和报告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一票否决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编造指标、window 泄漏、subject 泄漏、test 调参、只报 pooled accuracy。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11 讲 · BCI 脑电智能建模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不是得到一个高准确率，而是建立一套让 BCI 结果和科研声称严格匹配的建模系统。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9500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6076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标签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48916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84601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1177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4017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19702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6278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特征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19118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54803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1379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baseline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54219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89904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deep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9320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25004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1580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transfer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24420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60105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681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online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59521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95206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1782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audit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9462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230307" y="3200400"/>
            <a:ext cx="925372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6883" y="3328416"/>
            <a:ext cx="852220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202A36"/>
                </a:solidFill>
                <a:latin typeface="Microsoft YaHei"/>
              </a:defRPr>
            </a:pPr>
            <a:r>
              <a:t>report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29723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学生把第11讲结果接入第12讲论文写作、审稿自查和投稿排版流程。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