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88920" cy="685800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554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第 07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554480"/>
            <a:ext cx="20574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情景实验</a:t>
            </a:r>
            <a:br/>
            <a:r>
              <a:t>行为研究</a:t>
            </a:r>
            <a:br/>
            <a:r>
              <a:t>量表开发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57784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从假设到可执行实验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024128"/>
            <a:ext cx="800100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700" b="1">
                <a:solidFill>
                  <a:srgbClr val="202A36"/>
                </a:solidFill>
                <a:latin typeface="Microsoft YaHei"/>
              </a:defRPr>
            </a:pPr>
            <a:r>
              <a:t>从顶刊实验范式到 2 组 / 2×2 情景实验方案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3552" y="1783080"/>
            <a:ext cx="8001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50" b="0">
                <a:solidFill>
                  <a:srgbClr val="586572"/>
                </a:solidFill>
                <a:latin typeface="Microsoft YaHei"/>
              </a:defRPr>
            </a:pPr>
            <a:r>
              <a:t>Benchmark · Stimuli · Checks · Scales · Pretest · Analysis · Reporting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834640"/>
            <a:ext cx="1054172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2962656"/>
            <a:ext cx="9810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19" b="1">
                <a:solidFill>
                  <a:srgbClr val="202A36"/>
                </a:solidFill>
                <a:latin typeface="Microsoft YaHei"/>
              </a:defRPr>
            </a:pPr>
            <a:r>
              <a:t>因果结构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4884" y="2834640"/>
            <a:ext cx="1054172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1460" y="2962656"/>
            <a:ext cx="9810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19" b="1">
                <a:solidFill>
                  <a:srgbClr val="202A36"/>
                </a:solidFill>
                <a:latin typeface="Microsoft YaHei"/>
              </a:defRPr>
            </a:pPr>
            <a:r>
              <a:t>顶刊范式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55156" y="311810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637929" y="2834640"/>
            <a:ext cx="1054172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74505" y="2962656"/>
            <a:ext cx="9810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19" b="1">
                <a:solidFill>
                  <a:srgbClr val="202A36"/>
                </a:solidFill>
                <a:latin typeface="Microsoft YaHei"/>
              </a:defRPr>
            </a:pPr>
            <a:r>
              <a:t>情景材料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28201" y="311810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810973" y="2834640"/>
            <a:ext cx="1054172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47549" y="2962656"/>
            <a:ext cx="9810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19" b="1">
                <a:solidFill>
                  <a:srgbClr val="202A36"/>
                </a:solidFill>
                <a:latin typeface="Microsoft YaHei"/>
              </a:defRPr>
            </a:pPr>
            <a:r>
              <a:t>检查项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01245" y="311810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984018" y="2834640"/>
            <a:ext cx="1054172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0594" y="2962656"/>
            <a:ext cx="9810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19" b="1">
                <a:solidFill>
                  <a:srgbClr val="202A36"/>
                </a:solidFill>
                <a:latin typeface="Microsoft YaHei"/>
              </a:defRPr>
            </a:pPr>
            <a:r>
              <a:t>量表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74290" y="311810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57062" y="2834640"/>
            <a:ext cx="1054172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93638" y="2962656"/>
            <a:ext cx="9810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19" b="1">
                <a:solidFill>
                  <a:srgbClr val="202A36"/>
                </a:solidFill>
                <a:latin typeface="Microsoft YaHei"/>
              </a:defRPr>
            </a:pPr>
            <a:r>
              <a:t>预测试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47334" y="311810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330107" y="2834640"/>
            <a:ext cx="1054172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66683" y="2962656"/>
            <a:ext cx="9810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19" b="1">
                <a:solidFill>
                  <a:srgbClr val="202A36"/>
                </a:solidFill>
                <a:latin typeface="Microsoft YaHei"/>
              </a:defRPr>
            </a:pPr>
            <a:r>
              <a:t>报告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220379" y="311810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291840" y="4069080"/>
            <a:ext cx="7973568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4069080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4197096"/>
            <a:ext cx="76992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本讲交付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581144"/>
            <a:ext cx="7671816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20" b="0">
                <a:solidFill>
                  <a:srgbClr val="202A36"/>
                </a:solidFill>
                <a:latin typeface="Microsoft YaHei"/>
              </a:defRPr>
            </a:pPr>
            <a:r>
              <a:t>causal_model、benchmark_matrix、stimuli、condition_difference_table、checks、scales、pretest_plan、procedure、analysis_plan、method_results_template、design_audit。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0" y="5413248"/>
            <a:ext cx="7973568" cy="786384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0" y="5413248"/>
            <a:ext cx="73152" cy="78638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5541264"/>
            <a:ext cx="76992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底线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925312"/>
            <a:ext cx="7671816" cy="20116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不编造顶刊论文和量表来源；不把问卷包装成实验；不让操纵同时改变多个构念。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07 讲 · 情景实验与量表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本讲解决什么问题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5394960" cy="283464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600">
                <a:solidFill>
                  <a:srgbClr val="202A36"/>
                </a:solidFill>
                <a:latin typeface="Microsoft YaHei"/>
              </a:defRPr>
            </a:pPr>
            <a:r>
              <a:t>研究假设有了，但不知道如何实验操纵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600">
                <a:solidFill>
                  <a:srgbClr val="202A36"/>
                </a:solidFill>
                <a:latin typeface="Microsoft YaHei"/>
              </a:defRPr>
            </a:pPr>
            <a:r>
              <a:t>情景材料像作文，不能形成干净因果对比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600">
                <a:solidFill>
                  <a:srgbClr val="202A36"/>
                </a:solidFill>
                <a:latin typeface="Microsoft YaHei"/>
              </a:defRPr>
            </a:pPr>
            <a:r>
              <a:t>操纵同时改变多个构念，导致混淆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600">
                <a:solidFill>
                  <a:srgbClr val="202A36"/>
                </a:solidFill>
                <a:latin typeface="Microsoft YaHei"/>
              </a:defRPr>
            </a:pPr>
            <a:r>
              <a:t>不会设计操纵、现实感、注意力和混淆检验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600">
                <a:solidFill>
                  <a:srgbClr val="202A36"/>
                </a:solidFill>
                <a:latin typeface="Microsoft YaHei"/>
              </a:defRPr>
            </a:pPr>
            <a:r>
              <a:t>量表来源不清楚，翻译后误当成验证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600">
                <a:solidFill>
                  <a:srgbClr val="202A36"/>
                </a:solidFill>
                <a:latin typeface="Microsoft YaHei"/>
              </a:defRPr>
            </a:pPr>
            <a:r>
              <a:t>不会规划预测试、主实验、分析和报告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572768"/>
            <a:ext cx="4663440" cy="109728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572768"/>
            <a:ext cx="73152" cy="10972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700784"/>
            <a:ext cx="4389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本讲不做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84832"/>
            <a:ext cx="4361688" cy="5120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20" b="0">
                <a:solidFill>
                  <a:srgbClr val="202A36"/>
                </a:solidFill>
                <a:latin typeface="Microsoft YaHei"/>
              </a:defRPr>
            </a:pPr>
            <a:r>
              <a:t>不把问卷包装成实验；不追求复杂模型；不凭空引用顶刊和量表。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3063240"/>
            <a:ext cx="4663440" cy="109728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3063240"/>
            <a:ext cx="73152" cy="109728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191256"/>
            <a:ext cx="4389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本讲要做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575304"/>
            <a:ext cx="4361688" cy="5120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20" b="0">
                <a:solidFill>
                  <a:srgbClr val="202A36"/>
                </a:solidFill>
                <a:latin typeface="Microsoft YaHei"/>
              </a:defRPr>
            </a:pPr>
            <a:r>
              <a:t>把研究问题转成可操纵、可测量、可预测试、可分析、可报告的实验系统。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166360"/>
            <a:ext cx="1380744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5294376"/>
            <a:ext cx="130759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50" b="1">
                <a:solidFill>
                  <a:srgbClr val="202A36"/>
                </a:solidFill>
                <a:latin typeface="Microsoft YaHei"/>
              </a:defRPr>
            </a:pPr>
            <a:r>
              <a:t>假设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68296" y="5166360"/>
            <a:ext cx="1380744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04872" y="5294376"/>
            <a:ext cx="130759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50" b="1">
                <a:solidFill>
                  <a:srgbClr val="202A36"/>
                </a:solidFill>
                <a:latin typeface="Microsoft YaHei"/>
              </a:defRPr>
            </a:pPr>
            <a:r>
              <a:t>操纵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58568" y="544982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67912" y="5166360"/>
            <a:ext cx="1380744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04488" y="5294376"/>
            <a:ext cx="130759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50" b="1">
                <a:solidFill>
                  <a:srgbClr val="202A36"/>
                </a:solidFill>
                <a:latin typeface="Microsoft YaHei"/>
              </a:defRPr>
            </a:pPr>
            <a:r>
              <a:t>检查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58184" y="544982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367528" y="5166360"/>
            <a:ext cx="1380744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04104" y="5294376"/>
            <a:ext cx="130759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50" b="1">
                <a:solidFill>
                  <a:srgbClr val="202A36"/>
                </a:solidFill>
                <a:latin typeface="Microsoft YaHei"/>
              </a:defRPr>
            </a:pPr>
            <a:r>
              <a:t>量表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57800" y="544982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867144" y="5166360"/>
            <a:ext cx="1380744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5294376"/>
            <a:ext cx="130759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50" b="1">
                <a:solidFill>
                  <a:srgbClr val="202A36"/>
                </a:solidFill>
                <a:latin typeface="Microsoft YaHei"/>
              </a:defRPr>
            </a:pPr>
            <a:r>
              <a:t>流程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57416" y="544982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366760" y="5166360"/>
            <a:ext cx="1380744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03336" y="5294376"/>
            <a:ext cx="130759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50" b="1">
                <a:solidFill>
                  <a:srgbClr val="202A36"/>
                </a:solidFill>
                <a:latin typeface="Microsoft YaHei"/>
              </a:defRPr>
            </a:pPr>
            <a:r>
              <a:t>分析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57031" y="5449824"/>
            <a:ext cx="91441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866376" y="5166360"/>
            <a:ext cx="1380744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02951" y="5294376"/>
            <a:ext cx="130759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50" b="1">
                <a:solidFill>
                  <a:srgbClr val="202A36"/>
                </a:solidFill>
                <a:latin typeface="Microsoft YaHei"/>
              </a:defRPr>
            </a:pPr>
            <a:r>
              <a:t>报告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56647" y="5449824"/>
            <a:ext cx="91441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07 讲 · 情景实验与量表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本讲最终产出文件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353312"/>
          <a:ext cx="1092708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297680"/>
                <a:gridCol w="5212080"/>
              </a:tblGrid>
              <a:tr h="554355">
                <a:tc>
                  <a:txBody>
                    <a:bodyPr/>
                    <a:lstStyle/>
                    <a:p>
                      <a:pPr algn="l">
                        <a:defRPr sz="9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文件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因果结构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experiment/causal_model.md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IV、DV、中介、调节、竞争解释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顶刊范式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experiment/benchmark_matrix.xlsx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抽取真实论文的实验结构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情景材料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experiment/stimuli.md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写各条件材料和操纵句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差异控制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experiment/condition_difference_table.xlsx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检查各条件只改变目标操纵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检查项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experiment/checks_and_attention.md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操纵、现实感、注意力、混淆、怀疑检验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量表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experiment/scales.xlsx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真实量表来源、题项、锚点和适配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分析报告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analysis/analysis_plan.md / reporting/method_results_template.md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模型、效应量、结果报告和附录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925312"/>
            <a:ext cx="10561320" cy="512064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925312"/>
            <a:ext cx="73152" cy="5120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6053328"/>
            <a:ext cx="10287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提交底线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437376"/>
            <a:ext cx="10259568" cy="-73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80" b="0">
                <a:solidFill>
                  <a:srgbClr val="202A36"/>
                </a:solidFill>
                <a:latin typeface="Microsoft YaHei"/>
              </a:defRPr>
            </a:pPr>
            <a:r>
              <a:t>任何量表和顶刊样例都必须可核验；情景实验必须有预测试计划和设计审计。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07 讲 · 情景实验与量表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需要哪些 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53312"/>
          <a:ext cx="1097280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389120"/>
                <a:gridCol w="5166360"/>
              </a:tblGrid>
              <a:tr h="554355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功能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Skills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顶刊范式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scenario-experiment-benchmark-mining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抽取真实顶刊实验结构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实验设计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scenario-experiment-design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设计 2 组、2×2、中介、调节实验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数据分析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scenario-experiment-analysis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操纵检验、主效应、中介/调节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结果汇报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scenario-experiment-reporting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Method、Results、表格、附录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量表选择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scale-selection-adaptation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真实量表、翻译回译、题项适配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信效度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scale-reliability-validity / efa-cfa-measurement-model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alpha、omega、CR、AVE、CFA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偏差审计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common-method-bias-invariance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共同方法偏差和测量不变性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897880"/>
            <a:ext cx="10561320" cy="512064"/>
          </a:xfrm>
          <a:prstGeom prst="roundRect">
            <a:avLst/>
          </a:prstGeom>
          <a:solidFill>
            <a:srgbClr val="E2EB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897880"/>
            <a:ext cx="73152" cy="5120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6025896"/>
            <a:ext cx="10287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配套模板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409944"/>
            <a:ext cx="10259568" cy="-73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Microsoft YaHei"/>
              </a:defRPr>
            </a:pPr>
            <a:r>
              <a:t>本讲已提供 benchmark、condition difference、scales、data dictionary 四个 Excel 模板。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07 讲 · 情景实验与量表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1：创建工作区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652760" cy="2286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1000">
                <a:solidFill>
                  <a:srgbClr val="EEF2F7"/>
                </a:solidFill>
                <a:latin typeface="Courier New"/>
              </a:defRPr>
            </a:pPr>
            <a:r>
              <a:t>New-Item -ItemType Directory -Force -Path "D:\AI科研训练营\第07讲_情景实验行为研究与量表开发工作区"</a:t>
            </a:r>
            <a:br/>
            <a:r>
              <a:t>cd "D:\AI科研训练营\第07讲_情景实验行为研究与量表开发工作区"</a:t>
            </a:r>
            <a:br/>
            <a:br/>
            <a:r>
              <a:t>New-Item -ItemType Directory -Force -Path input,experiment,analysis,reporting,qc,output,skills</a:t>
            </a:r>
            <a:br/>
            <a:r>
              <a:t>New-Item -ItemType Directory -Force -Path input\lesson05_outputs,input\lesson06_outputs,input\target_journal_examples</a:t>
            </a:r>
            <a:br/>
            <a:r>
              <a:t>New-Item -ItemType File -Force -Path AGENTS.md,research_log.md,input\initial_experiment_idea.md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069080"/>
            <a:ext cx="5120640" cy="96012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4069080"/>
            <a:ext cx="73152" cy="96012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197096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检查标准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581144"/>
            <a:ext cx="481888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20" b="0">
                <a:solidFill>
                  <a:srgbClr val="202A36"/>
                </a:solidFill>
                <a:latin typeface="Microsoft YaHei"/>
              </a:defRPr>
            </a:pPr>
            <a:r>
              <a:t>有 input、experiment、analysis、reporting、qc、skills 文件夹；有 AGENTS.md、research_log.md 和初始实验想法。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069080"/>
            <a:ext cx="5120640" cy="96012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4069080"/>
            <a:ext cx="73152" cy="96012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197096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输入来源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581144"/>
            <a:ext cx="481888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20" b="0">
                <a:solidFill>
                  <a:srgbClr val="202A36"/>
                </a:solidFill>
                <a:latin typeface="Microsoft YaHei"/>
              </a:defRPr>
            </a:pPr>
            <a:r>
              <a:t>第 05 讲提供理论机制和假设；第 06 讲提供目标语境和投稿版本。</a:t>
            </a:r>
          </a:p>
        </p:txBody>
      </p:sp>
    </p:spTree>
  </p:cSld>
  <p:clrMapOvr>
    <a:masterClrMapping/>
  </p:clrMapOvr>
</p:sld>
</file>

<file path=ppt/slides/slide6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bg><p:bgPr><a:solidFill><a:srgbClr val="F8F9F7"/></a:solidFill><a:effectLst/></p:bgPr></p:bg><p:spTree><p:nvGrpSpPr><p:cNvPr id="1" name=""/><p:cNvGrpSpPr/><p:nvPr/></p:nvGrpSpPr><p:grpSpPr/><p:sp><p:nvSpPr><p:cNvPr id="2" name="Rectangle 1"/><p:cNvSpPr/><p:nvPr/></p:nvSpPr><p:spPr><a:xfrm><a:off x="0" y="0"/><a:ext cx="12191695" cy="310896"/></a:xfrm><a:prstGeom prst="rect"><a:avLst/></a:prstGeom><a:solidFill><a:srgbClr val="0D746E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411480" y="50292"/><a:ext cx="2377440" cy="201168"/></a:xfrm><a:prstGeom prst="rect"><a:avLst/></a:prstGeom><a:noFill/></p:spPr><p:txBody><a:bodyPr wrap="square" lIns="45720" rIns="45720" tIns="18288" bIns="18288" anchor="t"><a:spAutoFit/></a:bodyPr><a:lstStyle/><a:p><a:pPr algn="l"><a:defRPr sz="850" b="1"><a:solidFill><a:srgbClr val="FFFFFF"/></a:solidFill><a:latin typeface="Microsoft YaHei"/></a:defRPr></a:pPr><a:r><a:t>第 07 讲 · 情景实验与量表</a:t></a:r></a:p></p:txBody></p:sp><p:sp><p:nvSpPr><p:cNvPr id="4" name="TextBox 3"/><p:cNvSpPr txBox="1"/><p:nvPr/></p:nvSpPr><p:spPr><a:xfrm><a:off x="11155680" y="45720"/><a:ext cx="502920" cy="201168"/></a:xfrm><a:prstGeom prst="rect"><a:avLst/></a:prstGeom><a:noFill/></p:spPr><p:txBody><a:bodyPr wrap="square" lIns="45720" rIns="45720" tIns="18288" bIns="18288" anchor="t"><a:spAutoFit/></a:bodyPr><a:lstStyle/><a:p><a:pPr algn="r"><a:defRPr sz="900" b="1"><a:solidFill><a:srgbClr val="FFFFFF"/></a:solidFill><a:latin typeface="Microsoft YaHei"/></a:defRPr></a:pPr><a:r><a:t>06</a:t></a:r></a:p></p:txBody></p:sp><p:sp><p:nvSpPr><p:cNvPr id="5" name="TextBox 4"/><p:cNvSpPr txBox="1"/><p:nvPr/></p:nvSpPr><p:spPr><a:xfrm><a:off x="530352" y="548640"/><a:ext cx="10789920" cy="502920"/></a:xfrm><a:prstGeom prst="rect"><a:avLst/></a:prstGeom><a:noFill/></p:spPr><p:txBody><a:bodyPr wrap="square" lIns="45720" rIns="45720" tIns="18288" bIns="18288" anchor="t"><a:spAutoFit/></a:bodyPr><a:lstStyle/><a:p><a:pPr algn="l"><a:defRPr sz="2400" b="1"><a:solidFill><a:srgbClr val="202A36"/></a:solidFill><a:latin typeface="Microsoft YaHei"/></a:defRPr></a:pPr><a:r><a:t>实操 2：复制本讲 Skills</a:t></a:r></a:p></p:txBody></p:sp><p:sp><p:nvSpPr><p:cNvPr id="6" name="Rectangle 5"/><p:cNvSpPr/><p:nvPr/></p:nvSpPr><p:spPr><a:xfrm><a:off x="530352" y="1097280"/><a:ext cx="960120" cy="54864"/></a:xfrm><a:prstGeom prst="rect"><a:avLst/></a:prstGeom><a:solidFill><a:srgbClr val="B55D0E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Rounded Rectangle 6"/><p:cNvSpPr/><p:nvPr/></p:nvSpPr><p:spPr><a:xfrm><a:off x="731520" y="1371600"/><a:ext cx="10744200" cy="2560320"/></a:xfrm><a:prstGeom prst="roundRect"><a:avLst/></a:prstGeom><a:solidFill><a:srgbClr val="1F2937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 wrap="square" lIns="128016" rIns="109728" tIns="91440" bIns="73152"/><a:lstStyle/><a:p><a:pPr algn="ctr"><a:lnSpc><a:spcPct val="100000"/></a:lnSpc><a:defRPr sz="910"><a:solidFill><a:srgbClr val="EEF2F7"/></a:solidFill><a:latin typeface="Courier New"/></a:defRPr></a:pPr><a:r><a:t>cd "<本项目路径>\本地Skills功能分类库"</a:t></a:r><a:br/><a:br/><a:r><a:t>powershell -ExecutionPolicy Bypass -File .\00_工具脚本\copy_skill_to_workspace.ps1 `</a:t></a:r><a:br/><a:r><a:t>  -SkillName scenario-experiment-benchmark-mining,scenario-experiment-design,scenario-experiment-analysis,scenario-experiment-reporting,scale-selection-adaptation,scale-reliability-validity,efa-cfa-measurement-model,common-method-bias-invariance,questionnaire-reporting-template,statistical-analysis,causal-inference-design-audit `</a:t></a:r><a:br/><a:r><a:t>  -Workspace "D:\AI科研训练营\第07讲_情景实验行为研究与量表开发工作区"</a:t></a:r></a:p></p:txBody></p:sp><p:sp><p:nvSpPr><p:cNvPr id="8" name="TextBox 7"/><p:cNvSpPr txBox="1"/><p:nvPr/></p:nvSpPr><p:spPr><a:xfrm><a:off x="868680" y="4343400"/><a:ext cx="10149840" cy="914400"/></a:xfrm><a:prstGeom prst="rect"><a:avLst/></a:prstGeom><a:noFill/></p:spPr><p:txBody><a:bodyPr wrap="square" lIns="73152" rIns="45720" tIns="18288" bIns="18288"><a:spAutoFit/></a:bodyPr><a:lstStyle/><a:p><a:pPr><a:lnSpc><a:spcPct val="105000"/></a:lnSpc><a:spcAft><a:spcPts val="300"/></a:spcAft><a:defRPr sz="1500"><a:solidFill><a:srgbClr val="202A36"/></a:solidFill><a:latin typeface="Microsoft YaHei"/></a:defRPr></a:pPr><a:r><a:t>复制后检查 skills/ 文件夹。</a:t></a:r></a:p><a:p><a:pPr><a:lnSpc><a:spcPct val="105000"/></a:lnSpc><a:spcAft><a:spcPts val="300"/></a:spcAft><a:defRPr sz="1500"><a:solidFill><a:srgbClr val="202A36"/></a:solidFill><a:latin typeface="Microsoft YaHei"/></a:defRPr></a:pPr><a:r><a:t>缺失 Skill 写入 research_log.md。</a:t></a:r></a:p><a:p><a:pPr><a:lnSpc><a:spcPct val="105000"/></a:lnSpc><a:spcAft><a:spcPts val="300"/></a:spcAft><a:defRPr sz="1500"><a:solidFill><a:srgbClr val="202A36"/></a:solidFill><a:latin typeface="Microsoft YaHei"/></a:defRPr></a:pPr><a:r><a:t>Skills 放当前工作区，不放 Codex 根目录。</a:t></a:r></a:p></p:txBody></p:sp><p:sp><p:nvSpPr><p:cNvPr id="9" name="Rounded Rectangle 8"/><p:cNvSpPr/><p:nvPr/></p:nvSpPr><p:spPr><a:xfrm><a:off x="868680" y="5532120"/><a:ext cx="10149840" cy="594360"/></a:xfrm><a:prstGeom prst="roundRect"><a:avLst/></a:prstGeom><a:solidFill><a:srgbClr val="FFE5E5"/></a:solidFill><a:ln w="10160"><a:solidFill><a:srgbClr val="D2D8DE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0" name="Rectangle 9"/><p:cNvSpPr/><p:nvPr/></p:nvSpPr><p:spPr><a:xfrm><a:off x="868680" y="5532120"/><a:ext cx="73152" cy="594360"/></a:xfrm><a:prstGeom prst="rect"><a:avLst/></a:prstGeom><a:solidFill><a:srgbClr val="B91C1C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1" name="TextBox 10"/><p:cNvSpPr txBox="1"/><p:nvPr/></p:nvSpPr><p:spPr><a:xfrm><a:off x="1051560" y="5660136"/><a:ext cx="9875519" cy="292608"/></a:xfrm><a:prstGeom prst="rect"><a:avLst/></a:prstGeom><a:noFill/></p:spPr><p:txBody><a:bodyPr wrap="square" lIns="45720" rIns="45720" tIns="18288" bIns="18288" anchor="t"><a:spAutoFit/></a:bodyPr><a:lstStyle/><a:p><a:pPr algn="l"><a:defRPr sz="1400" b="1"><a:solidFill><a:srgbClr val="B91C1C"/></a:solidFill><a:latin typeface="Microsoft YaHei"/></a:defRPr></a:pPr><a:r><a:t>课堂提醒</a:t></a:r></a:p></p:txBody></p:sp><p:sp><p:nvSpPr><p:cNvPr id="12" name="TextBox 11"/><p:cNvSpPr txBox="1"/><p:nvPr/></p:nvSpPr><p:spPr><a:xfrm><a:off x="1051560" y="6044183"/><a:ext cx="9848088" cy="9144"/></a:xfrm><a:prstGeom prst="rect"><a:avLst/></a:prstGeom><a:noFill/></p:spPr><p:txBody><a:bodyPr wrap="square" lIns="45720" rIns="45720" tIns="18288" bIns="18288" anchor="t"><a:spAutoFit/></a:bodyPr><a:lstStyle/><a:p><a:pPr algn="l"><a:defRPr sz="1250" b="0"><a:solidFill><a:srgbClr val="202A36"/></a:solidFill><a:latin typeface="Microsoft YaHei"/></a:defRPr></a:pPr><a:r><a:t>实验设计和量表来源需要真实文献支持，缺失时先标待核验，不让 Agent 补假来源。</a:t></a:r></a:p></p:txBody></p:sp></p:spTree></p:cSld><p:clrMapOvr><a:masterClrMapping/></p:clrMapOvr>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07 讲 · 情景实验与量表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3：写 AGENTS.md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897880" cy="32004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80">
                <a:solidFill>
                  <a:srgbClr val="EEF2F7"/>
                </a:solidFill>
                <a:latin typeface="Courier New"/>
              </a:defRPr>
            </a:pPr>
            <a:r>
              <a:t># 第07讲工作区 Agent 指令</a:t>
            </a:r>
            <a:br/>
            <a:br/>
            <a:r>
              <a:t>你是情景实验、行为研究与量表开发助手。</a:t>
            </a:r>
            <a:br/>
            <a:br/>
            <a:r>
              <a:t>原则：</a:t>
            </a:r>
            <a:br/>
            <a:r>
              <a:t>- 禁止编造顶刊论文、样本量、DOI、量表来源、信度或效度。</a:t>
            </a:r>
            <a:br/>
            <a:r>
              <a:t>- 情景操纵必须对应理论构念。</a:t>
            </a:r>
            <a:br/>
            <a:r>
              <a:t>- 各条件只改变目标操纵，不引入能力、风险、成本、隐私等混淆。</a:t>
            </a:r>
            <a:br/>
            <a:r>
              <a:t>- 操纵检验、现实感检验、注意力检验、混淆检验和怀疑检验要分开。</a:t>
            </a:r>
            <a:br/>
            <a:r>
              <a:t>- 翻译量表不等于验证量表。</a:t>
            </a:r>
            <a:br/>
            <a:r>
              <a:t>- 所有伦理风险都要说明。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67728" y="1554480"/>
            <a:ext cx="4069080" cy="100584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67728" y="1554480"/>
            <a:ext cx="73152" cy="100584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8" y="1682495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为什么要写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0608" y="2066543"/>
            <a:ext cx="3767328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20" b="0">
                <a:solidFill>
                  <a:srgbClr val="202A36"/>
                </a:solidFill>
                <a:latin typeface="Microsoft YaHei"/>
              </a:defRPr>
            </a:pPr>
            <a:r>
              <a:t>本讲最容易发生“情景不干净”和“量表来源不实”。项目指令用来提前设边界。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67728" y="2926080"/>
            <a:ext cx="40690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67728" y="2926080"/>
            <a:ext cx="73152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0608" y="3054096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可直接复制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3438144"/>
            <a:ext cx="3767328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20" b="0">
                <a:solidFill>
                  <a:srgbClr val="202A36"/>
                </a:solidFill>
                <a:latin typeface="Microsoft YaHei"/>
              </a:defRPr>
            </a:pPr>
            <a:r>
              <a:t>使用 lesson07_workspace_AGENTS_template.md。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67728" y="4069080"/>
            <a:ext cx="4069080" cy="73152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67728" y="4069080"/>
            <a:ext cx="73152" cy="7315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0608" y="4197096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不能省略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4581144"/>
            <a:ext cx="3767328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20" b="0">
                <a:solidFill>
                  <a:srgbClr val="202A36"/>
                </a:solidFill>
                <a:latin typeface="Microsoft YaHei"/>
              </a:defRPr>
            </a:pPr>
            <a:r>
              <a:t>没有约束时，Agent 容易把普通问卷写成实验。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07 讲 · 情景实验与量表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4：生成因果结构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从研究问题中抽出可实验化的 IV、DV、中介、调节和竞争解释。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experiment/causal_model.md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5156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40" b="0">
                <a:solidFill>
                  <a:srgbClr val="202A36"/>
                </a:solidFill>
                <a:latin typeface="Microsoft YaHei"/>
              </a:defRPr>
            </a:pPr>
            <a:r>
              <a:t>实验不是从写情景开始，而是从因果结构开始。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688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00">
                <a:solidFill>
                  <a:srgbClr val="EEF2F7"/>
                </a:solidFill>
                <a:latin typeface="Courier New"/>
              </a:defRPr>
            </a:pPr>
            <a:r>
              <a:t>请读取 input/lesson05_outputs、input/lesson06_outputs 和 input/initial_experiment_idea.md，生成 experiment/causal_model.md。</a:t>
            </a:r>
            <a:br/>
            <a:br/>
            <a:r>
              <a:t>提取研究问题、IV、DV、中介、调节、竞争解释、目标被试、单位随机化和理论机制。指出哪些关系能用情景实验检验，哪些不能。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3891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IV 能被操纵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DV 能被测量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中介不是操纵检验重复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有竞争解释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标注不能实验化的关系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07 讲 · 情景实验与量表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情景实验不是问卷包装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4892040" cy="91440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417320"/>
            <a:ext cx="73152" cy="9144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45336"/>
            <a:ext cx="4617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弱设计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29384"/>
            <a:ext cx="4590288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00" b="0">
                <a:solidFill>
                  <a:srgbClr val="202A36"/>
                </a:solidFill>
                <a:latin typeface="Microsoft YaHei"/>
              </a:defRPr>
            </a:pPr>
            <a:r>
              <a:t>让被试看一个 AI Agent 的介绍，然后问信任、满意度、使用意愿。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97480"/>
            <a:ext cx="48920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697480"/>
            <a:ext cx="73152" cy="1143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825496"/>
            <a:ext cx="4617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09544"/>
            <a:ext cx="4590288" cy="5577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30" b="0">
                <a:solidFill>
                  <a:srgbClr val="202A36"/>
                </a:solidFill>
                <a:latin typeface="Microsoft YaHei"/>
              </a:defRPr>
            </a:pPr>
            <a:r>
              <a:t>没有明确操纵；不知道哪部分导致结果变化；可能同时改变透明度、能力、风险、亲和力和新颖性。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417320"/>
            <a:ext cx="5166360" cy="141732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417320"/>
            <a:ext cx="73152" cy="141732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45336"/>
            <a:ext cx="4892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较好设计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929384"/>
            <a:ext cx="4864608" cy="8321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20" b="0">
                <a:solidFill>
                  <a:srgbClr val="202A36"/>
                </a:solidFill>
                <a:latin typeface="Microsoft YaHei"/>
              </a:defRPr>
            </a:pPr>
            <a:r>
              <a:t>随机分配到高解释透明度 vs 低解释透明度。两组保持任务、角色、成本、结果、系统能力一致，只改变 AI 是否解释推荐依据。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246120"/>
            <a:ext cx="5166360" cy="86868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3246120"/>
            <a:ext cx="73152" cy="86868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374136"/>
            <a:ext cx="4892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关键判断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758183"/>
            <a:ext cx="4864608" cy="2834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20" b="0">
                <a:solidFill>
                  <a:srgbClr val="202A36"/>
                </a:solidFill>
                <a:latin typeface="Microsoft YaHei"/>
              </a:defRPr>
            </a:pPr>
            <a:r>
              <a:t>能否说清：操纵改变了哪个构念？哪些替代解释被控制？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983480"/>
            <a:ext cx="1953158" cy="59436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5111496"/>
            <a:ext cx="188000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200" b="1">
                <a:solidFill>
                  <a:srgbClr val="202A36"/>
                </a:solidFill>
                <a:latin typeface="Microsoft YaHei"/>
              </a:defRPr>
            </a:pPr>
            <a:r>
              <a:t>操纵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86430" y="4983480"/>
            <a:ext cx="1953158" cy="59436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23006" y="5111496"/>
            <a:ext cx="188000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200" b="1">
                <a:solidFill>
                  <a:srgbClr val="202A36"/>
                </a:solidFill>
                <a:latin typeface="Microsoft YaHei"/>
              </a:defRPr>
            </a:pPr>
            <a:r>
              <a:t>构念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876702" y="5280660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058460" y="4983480"/>
            <a:ext cx="1953158" cy="59436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95036" y="5111496"/>
            <a:ext cx="188000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200" b="1">
                <a:solidFill>
                  <a:srgbClr val="202A36"/>
                </a:solidFill>
                <a:latin typeface="Microsoft YaHei"/>
              </a:defRPr>
            </a:pPr>
            <a:r>
              <a:t>机制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948732" y="5280660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130491" y="4983480"/>
            <a:ext cx="1953158" cy="59436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67067" y="5111496"/>
            <a:ext cx="188000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200" b="1">
                <a:solidFill>
                  <a:srgbClr val="202A36"/>
                </a:solidFill>
                <a:latin typeface="Microsoft YaHei"/>
              </a:defRPr>
            </a:pPr>
            <a:r>
              <a:t>测量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020763" y="5280660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202521" y="4983480"/>
            <a:ext cx="1953158" cy="59436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9097" y="5111496"/>
            <a:ext cx="188000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200" b="1">
                <a:solidFill>
                  <a:srgbClr val="202A36"/>
                </a:solidFill>
                <a:latin typeface="Microsoft YaHei"/>
              </a:defRPr>
            </a:pPr>
            <a:r>
              <a:t>分析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092793" y="5280660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07 讲 · 情景实验与量表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5：抽取顶刊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从真实顶刊论文中学习情景结构、操纵、预测试、检查项和报告方式。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experiment/benchmark_matrix.xlsx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5156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40" b="0">
                <a:solidFill>
                  <a:srgbClr val="202A36"/>
                </a:solidFill>
                <a:latin typeface="Microsoft YaHei"/>
              </a:defRPr>
            </a:pPr>
            <a:r>
              <a:t>不要凭想象设计实验。先看真实论文怎么做。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688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00">
                <a:solidFill>
                  <a:srgbClr val="EEF2F7"/>
                </a:solidFill>
                <a:latin typeface="Courier New"/>
              </a:defRPr>
            </a:pPr>
            <a:r>
              <a:t>请基于 input/target_journal_examples 中的真实论文，使用 scenario-experiment-benchmark-mining，生成 experiment/benchmark_matrix.xlsx 的内容草稿。</a:t>
            </a:r>
            <a:br/>
            <a:br/>
            <a:r>
              <a:t>提取论文信息、实验类型、操纵、样本、情景结构、操纵检验、现实感检验、注意力检验、混淆检验、排除规则、分析模型、报告风格和可复用设计经验。无法确认字段写 not verified。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3891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每篇论文真实可查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确实包含情景实验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没有编造 DOI/N/结果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提取的是可复用设计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07 讲 · 情景实验与量表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选择实验类型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71600"/>
          <a:ext cx="107442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251960"/>
                <a:gridCol w="4389120"/>
              </a:tblGrid>
              <a:tr h="62048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适用场景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例子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两组 between-subjects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一个清晰因果对比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AI 解释高 vs 低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2×2 between-subjects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两个 IV 或 IV×边界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透明度 × 任务复杂度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中介实验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机制是核心贡献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解释透明度 → 信任 → 采纳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调节中介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机制和边界都有理论必要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透明度经信任影响采纳，受专业经验调节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选择实验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DV 是选择、偏好或权衡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选择人类专家 vs AI Agent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20490"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多研究包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贡献需要三角验证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预测试 + 主实验 + 行为跟进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897880"/>
            <a:ext cx="10378440" cy="50292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897880"/>
            <a:ext cx="73152" cy="50292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602589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原则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409944"/>
            <a:ext cx="10076688" cy="-8229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选择最简洁、最能检验理论的设计。不要为了复杂而做 2×2 或调节中介。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07 讲 · 情景实验与量表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6：写情景材料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生成各实验条件材料，并确保条件之间只改变目标操纵。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experiment/stimuli.md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5156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40" b="0">
                <a:solidFill>
                  <a:srgbClr val="202A36"/>
                </a:solidFill>
                <a:latin typeface="Microsoft YaHei"/>
              </a:defRPr>
            </a:pPr>
            <a:r>
              <a:t>情景材料写得漂亮不够，关键是操纵干净。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688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00">
                <a:solidFill>
                  <a:srgbClr val="EEF2F7"/>
                </a:solidFill>
                <a:latin typeface="Courier New"/>
              </a:defRPr>
            </a:pPr>
            <a:r>
              <a:t>请基于 experiment/causal_model.md，生成 experiment/stimuli.md。</a:t>
            </a:r>
            <a:br/>
            <a:br/>
            <a:r>
              <a:t>写出所有条件情景材料；各条件长度尽量一致；保持角色、任务、背景、风险、成本、结果和语气一致；只改变目标操纵；标注每个操纵句对应的构念；不要让材料直接暴露假设。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3891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条件只改变目标操纵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非操纵元素一致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不额外改变能力/风险/隐私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语言符合被试经验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不暴露假设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07 讲 · 情景实验与量表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条件差异表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17320"/>
          <a:ext cx="1074420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7772400"/>
              </a:tblGrid>
              <a:tr h="508635"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condition_id / name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区分实验条件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manipulated_construct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说明操纵构念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exact_manipulated_text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记录具体操纵句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constant_elements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哪些元素保持一致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potential_confound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可能引入的混淆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confound_control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如何控制混淆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expected_check_direction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操纵检验预期方向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806440"/>
            <a:ext cx="10378440" cy="548640"/>
          </a:xfrm>
          <a:prstGeom prst="roundRect">
            <a:avLst/>
          </a:prstGeom>
          <a:solidFill>
            <a:srgbClr val="E2EB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806440"/>
            <a:ext cx="731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934455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模板文件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318504"/>
            <a:ext cx="10076688" cy="-365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20" b="0">
                <a:solidFill>
                  <a:srgbClr val="202A36"/>
                </a:solidFill>
                <a:latin typeface="Microsoft YaHei"/>
              </a:defRPr>
            </a:pPr>
            <a:r>
              <a:t>condition_difference_table_template.xlsx 已生成。学生复制到 experiment/ 下填写。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07 讲 · 情景实验与量表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7：设计检查项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设计操纵检验、现实感、清晰度、注意力、混淆和怀疑检验。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experiment/checks_and_attention.md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5156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40" b="0">
                <a:solidFill>
                  <a:srgbClr val="202A36"/>
                </a:solidFill>
                <a:latin typeface="Microsoft YaHei"/>
              </a:defRPr>
            </a:pPr>
            <a:r>
              <a:t>操纵检验显著不能补救混淆操纵。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688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00">
                <a:solidFill>
                  <a:srgbClr val="EEF2F7"/>
                </a:solidFill>
                <a:latin typeface="Courier New"/>
              </a:defRPr>
            </a:pPr>
            <a:r>
              <a:t>请基于 experiment/stimuli.md，生成 experiment/checks_and_attention.md。</a:t>
            </a:r>
            <a:br/>
            <a:br/>
            <a:r>
              <a:t>设计操纵检验、现实感检验、清晰度检验、注意力检验、混淆检验、怀疑检验和排除规则。操纵检验测目标操纵，不要和中介或因变量措辞高度重叠。混淆检验覆盖能力、风险、成本、友好度、任务难度、隐私等替代解释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3891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操纵检验不等于中介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有现实感和清晰度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有混淆检验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排除规则提前确定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07 讲 · 情景实验与量表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检查项的分工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417320"/>
          <a:ext cx="107442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297680"/>
                <a:gridCol w="4617720"/>
              </a:tblGrid>
              <a:tr h="640080"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检查项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回答的问题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常见错误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操纵检验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被试是否感知到目标操纵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题项和中介/DV 高度重复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现实感检验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情景是否可信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只问“是否认真阅读”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注意力检验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是否理解关键事实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设置过难或诱导性题目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混淆检验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替代解释是否被改变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遗漏能力、风险、隐私、成本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怀疑检验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是否猜到研究目的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只在结果不好时才看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715000"/>
            <a:ext cx="10378440" cy="59436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715000"/>
            <a:ext cx="73152" cy="5943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84301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底线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227064"/>
            <a:ext cx="10076688" cy="91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检查项要分开设计。操纵检验不是中介测量，也不是因变量测量。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07 讲 · 情景实验与量表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8：选择和适配量表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为每个构念选择真实量表，记录来源、题项、锚点、翻译和风险。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experiment/scales.xlsx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5156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40" b="0">
                <a:solidFill>
                  <a:srgbClr val="202A36"/>
                </a:solidFill>
                <a:latin typeface="Microsoft YaHei"/>
              </a:defRPr>
            </a:pPr>
            <a:r>
              <a:t>找题项不是量表开发。翻译也不是验证。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688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00">
                <a:solidFill>
                  <a:srgbClr val="EEF2F7"/>
                </a:solidFill>
                <a:latin typeface="Courier New"/>
              </a:defRPr>
            </a:pPr>
            <a:r>
              <a:t>请基于 experiment/causal_model.md，使用 scale-selection-adaptation，生成 experiment/scales.xlsx 的内容草稿。</a:t>
            </a:r>
            <a:br/>
            <a:br/>
            <a:r>
              <a:t>每个构念包括定义、量表来源、来源核验状态、原始题项、翻译题项、锚点、反向题、适配说明、版权说明、既有信度、预测试计划和测量风险。不要编造量表来源或信度。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3891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量表来源真实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有原始题项和锚点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翻译回译有计划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反向题编码明确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不把翻译当验证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07 讲 · 情景实验与量表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量表开发与心理测量底线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5349240" cy="237744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50">
                <a:solidFill>
                  <a:srgbClr val="202A36"/>
                </a:solidFill>
                <a:latin typeface="Microsoft YaHei"/>
              </a:defRPr>
            </a:pPr>
            <a:r>
              <a:t>不要编造 scale source 或 reliability。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50">
                <a:solidFill>
                  <a:srgbClr val="202A36"/>
                </a:solidFill>
                <a:latin typeface="Microsoft YaHei"/>
              </a:defRPr>
            </a:pPr>
            <a:r>
              <a:t>不要混用不同构念题项，除非有理论理由。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50">
                <a:solidFill>
                  <a:srgbClr val="202A36"/>
                </a:solidFill>
                <a:latin typeface="Microsoft YaHei"/>
              </a:defRPr>
            </a:pPr>
            <a:r>
              <a:t>不要因为 alpha 提升就随意删题。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50">
                <a:solidFill>
                  <a:srgbClr val="202A36"/>
                </a:solidFill>
                <a:latin typeface="Microsoft YaHei"/>
              </a:defRPr>
            </a:pPr>
            <a:r>
              <a:t>不要用同一批数据把 EFA 和 CFA 当成独立验证。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50">
                <a:solidFill>
                  <a:srgbClr val="202A36"/>
                </a:solidFill>
                <a:latin typeface="Microsoft YaHei"/>
              </a:defRPr>
            </a:pPr>
            <a:r>
              <a:t>不要说 Harman 单因子检验完全解决共同方法偏差。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554480"/>
            <a:ext cx="4663440" cy="141732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554480"/>
            <a:ext cx="73152" cy="141732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682495"/>
            <a:ext cx="4389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量表表必须有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66543"/>
            <a:ext cx="4361688" cy="8321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20" b="0">
                <a:solidFill>
                  <a:srgbClr val="202A36"/>
                </a:solidFill>
                <a:latin typeface="Microsoft YaHei"/>
              </a:defRPr>
            </a:pPr>
            <a:r>
              <a:t>构念定义、量表来源、原始题项、中文翻译、锚点、反向题、适配说明、版权或使用限制、既有信度、预测试计划。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3474720"/>
            <a:ext cx="4663440" cy="1143000"/>
          </a:xfrm>
          <a:prstGeom prst="roundRect">
            <a:avLst/>
          </a:prstGeom>
          <a:solidFill>
            <a:srgbClr val="E2EB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347472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602736"/>
            <a:ext cx="4389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后续分析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986783"/>
            <a:ext cx="4361688" cy="5577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20" b="0">
                <a:solidFill>
                  <a:srgbClr val="202A36"/>
                </a:solidFill>
                <a:latin typeface="Microsoft YaHei"/>
              </a:defRPr>
            </a:pPr>
            <a:r>
              <a:t>alpha / omega / CR / AVE / HTMT / CFA / 共同方法偏差 / 测量不变性根据数据和研究设计选择。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07 讲 · 情景实验与量表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9：规划预测试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在主实验前检验操纵强度、现实感、清晰度、混淆和题项质量。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experiment/pretest_plan.md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5156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40" b="0">
                <a:solidFill>
                  <a:srgbClr val="202A36"/>
                </a:solidFill>
                <a:latin typeface="Microsoft YaHei"/>
              </a:defRPr>
            </a:pPr>
            <a:r>
              <a:t>预测试不是形式，是避免主实验失败的低成本环节。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688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00">
                <a:solidFill>
                  <a:srgbClr val="EEF2F7"/>
                </a:solidFill>
                <a:latin typeface="Courier New"/>
              </a:defRPr>
            </a:pPr>
            <a:r>
              <a:t>请基于 experiment/stimuli.md、experiment/checks_and_attention.md 和 experiment/scales.xlsx，生成 experiment/pretest_plan.md。</a:t>
            </a:r>
            <a:br/>
            <a:br/>
            <a:r>
              <a:t>包含预测试目的、样本来源和建议 N、随机分配方式、操纵检验判据、现实感和清晰度判据、混淆检验判据、修改规则和进入主实验的标准。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3891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有明确预测试目的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有判据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有修改规则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先预测试再主实验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不看主结果后才改规则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07 讲 · 情景实验与量表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10：规划主实验流程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写出可直接执行的招募、知情同意、随机分配、情景阅读、测量和排除流程。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experiment/procedure.md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5156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40" b="0">
                <a:solidFill>
                  <a:srgbClr val="202A36"/>
                </a:solidFill>
                <a:latin typeface="Microsoft YaHei"/>
              </a:defRPr>
            </a:pPr>
            <a:r>
              <a:t>流程要能直接交给问卷平台或研究助理执行。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688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00">
                <a:solidFill>
                  <a:srgbClr val="EEF2F7"/>
                </a:solidFill>
                <a:latin typeface="Courier New"/>
              </a:defRPr>
            </a:pPr>
            <a:r>
              <a:t>请生成 experiment/procedure.md。</a:t>
            </a:r>
            <a:br/>
            <a:br/>
            <a:r>
              <a:t>包括招募平台和目标被试、知情同意、随机分配、情景阅读、操纵检验、中介和因变量测量、注意力/现实感/混淆检验、人口统计变量、退出权和伦理说明、排除规则、数据保存和匿名化。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3891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招募和目标被试清楚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随机分配清楚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排除规则透明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有伦理说明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有数据匿名化说明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07 讲 · 情景实验与量表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11：生成分析计划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提前确定数据审计、排除、操纵检验、主模型、机制模型、效应量和因果边界。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analysis/analysis_plan.md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5156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40" b="0">
                <a:solidFill>
                  <a:srgbClr val="202A36"/>
                </a:solidFill>
                <a:latin typeface="Microsoft YaHei"/>
              </a:defRPr>
            </a:pPr>
            <a:r>
              <a:t>不能根据显著性临时改模型、改排除或换 DV。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688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00">
                <a:solidFill>
                  <a:srgbClr val="EEF2F7"/>
                </a:solidFill>
                <a:latin typeface="Courier New"/>
              </a:defRPr>
            </a:pPr>
            <a:r>
              <a:t>请基于 experiment/causal_model.md、experiment/procedure.md 和 hypotheses，生成 analysis/analysis_plan.md。</a:t>
            </a:r>
            <a:br/>
            <a:br/>
            <a:r>
              <a:t>按数据审计、缺失和重复、排除规则、随机化检验、操纵检验、信度、主效应、中介或调节、效应量、稳健性、因果语言边界、表格和图形计划的顺序写。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3891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模型匹配设计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排除规则先于结果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报告效应量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区分确认性和探索性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标注因果语言边界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07 讲 · 情景实验与量表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分析顺序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239012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545336"/>
            <a:ext cx="11658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00" b="1">
                <a:solidFill>
                  <a:srgbClr val="202A36"/>
                </a:solidFill>
                <a:latin typeface="Microsoft YaHei"/>
              </a:defRPr>
            </a:pPr>
            <a:r>
              <a:t>数据审计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89404" y="1417320"/>
            <a:ext cx="1239012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25980" y="1545336"/>
            <a:ext cx="11658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00" b="1">
                <a:solidFill>
                  <a:srgbClr val="202A36"/>
                </a:solidFill>
                <a:latin typeface="Microsoft YaHei"/>
              </a:defRPr>
            </a:pPr>
            <a:r>
              <a:t>排除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79676" y="170078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47287" y="1417320"/>
            <a:ext cx="1239012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3863" y="1545336"/>
            <a:ext cx="11658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00" b="1">
                <a:solidFill>
                  <a:srgbClr val="202A36"/>
                </a:solidFill>
                <a:latin typeface="Microsoft YaHei"/>
              </a:defRPr>
            </a:pPr>
            <a:r>
              <a:t>随机化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37559" y="170078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805172" y="1417320"/>
            <a:ext cx="1239012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1748" y="1545336"/>
            <a:ext cx="11658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00" b="1">
                <a:solidFill>
                  <a:srgbClr val="202A36"/>
                </a:solidFill>
                <a:latin typeface="Microsoft YaHei"/>
              </a:defRPr>
            </a:pPr>
            <a:r>
              <a:t>操纵检验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95444" y="170078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63055" y="1417320"/>
            <a:ext cx="1239012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1" y="1545336"/>
            <a:ext cx="11658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00" b="1">
                <a:solidFill>
                  <a:srgbClr val="202A36"/>
                </a:solidFill>
                <a:latin typeface="Microsoft YaHei"/>
              </a:defRPr>
            </a:pPr>
            <a:r>
              <a:t>信度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53327" y="1700784"/>
            <a:ext cx="91441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520940" y="1417320"/>
            <a:ext cx="1239012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57515" y="1545336"/>
            <a:ext cx="11658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00" b="1">
                <a:solidFill>
                  <a:srgbClr val="202A36"/>
                </a:solidFill>
                <a:latin typeface="Microsoft YaHei"/>
              </a:defRPr>
            </a:pPr>
            <a:r>
              <a:t>主效应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11211" y="1700784"/>
            <a:ext cx="91441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878824" y="1417320"/>
            <a:ext cx="1239012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400" y="1545336"/>
            <a:ext cx="11658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00" b="1">
                <a:solidFill>
                  <a:srgbClr val="202A36"/>
                </a:solidFill>
                <a:latin typeface="Microsoft YaHei"/>
              </a:defRPr>
            </a:pPr>
            <a:r>
              <a:t>机制/边界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69096" y="170078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236708" y="1417320"/>
            <a:ext cx="1239012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73284" y="1545336"/>
            <a:ext cx="11658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00" b="1">
                <a:solidFill>
                  <a:srgbClr val="202A36"/>
                </a:solidFill>
                <a:latin typeface="Microsoft YaHei"/>
              </a:defRPr>
            </a:pPr>
            <a:r>
              <a:t>稳健性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126980" y="170078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914400" y="2514600"/>
          <a:ext cx="1028700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360920"/>
              </a:tblGrid>
              <a:tr h="394335">
                <a:tc>
                  <a:txBody>
                    <a:bodyPr/>
                    <a:lstStyle/>
                    <a:p>
                      <a:pPr algn="l">
                        <a:defRPr sz="10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设计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默认分析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两组 + 连续 DV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t-test + OLS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多组条件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ANOVA + planned contrasts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2×2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OLS/ANOVA interaction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二元选择 DV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Logistic regression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中介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Bootstrap indirect effect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调节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Interaction + simple slopes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调节中介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Conditional indirect effects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07 讲 · 情景实验与量表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12：生成 Method / Results 模板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把实验设计转成论文方法、结果、表格、图和附录的写作模板。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reporting/method_results_template.md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5156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40" b="0">
                <a:solidFill>
                  <a:srgbClr val="202A36"/>
                </a:solidFill>
                <a:latin typeface="Microsoft YaHei"/>
              </a:defRPr>
            </a:pPr>
            <a:r>
              <a:t>顶刊式报告要能让读者复现实验。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688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00">
                <a:solidFill>
                  <a:srgbClr val="EEF2F7"/>
                </a:solidFill>
                <a:latin typeface="Courier New"/>
              </a:defRPr>
            </a:pPr>
            <a:r>
              <a:t>请使用 scenario-experiment-reporting 和 questionnaire-reporting-template，生成 reporting/method_results_template.md。</a:t>
            </a:r>
            <a:br/>
            <a:br/>
            <a:r>
              <a:t>包括 Method section draft、Design and participants、Procedure、Stimuli and manipulation、Measures、Manipulation checks、Analysis plan、Results reporting template、Table plan、Figure plan、Appendix materials、Transparency statement。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3891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报告设计和条件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报告样本与排除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报告操纵检验和信度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报告效应量/CI/p值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有附录和透明度说明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07 讲 · 情景实验与量表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13：实验设计审计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用严格审稿人视角检查情景、操纵、量表、预测试、分析和伦理风险。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qc/experiment_design_audit.md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5156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40" b="0">
                <a:solidFill>
                  <a:srgbClr val="202A36"/>
                </a:solidFill>
                <a:latin typeface="Microsoft YaHei"/>
              </a:defRPr>
            </a:pPr>
            <a:r>
              <a:t>设计审计越严格，后期数据越不容易白收。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688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00">
                <a:solidFill>
                  <a:srgbClr val="EEF2F7"/>
                </a:solidFill>
                <a:latin typeface="Courier New"/>
              </a:defRPr>
            </a:pPr>
            <a:r>
              <a:t>请以严格审稿人视角，审计本工作区所有实验设计文件，生成 qc/experiment_design_audit.md。</a:t>
            </a:r>
            <a:br/>
            <a:br/>
            <a:r>
              <a:t>检查情景真实、操纵是否只影响目标构念、是否存在能力/风险/成本/隐私/情绪混淆、操纵检验是否与中介/DV 重叠、量表来源是否真实、预测试判据、排除规则、分析计划、因果语言和伦理风险。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3891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列出致命问题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列出重要问题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列出可修改问题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给出下一步行动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50">
                <a:solidFill>
                  <a:srgbClr val="202A36"/>
                </a:solidFill>
                <a:latin typeface="Microsoft YaHei"/>
              </a:defRPr>
            </a:pPr>
            <a:r>
              <a:t>明确 keep/revise/drop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07 讲 · 情景实验与量表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课堂示范：AI Agent 解释透明度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25880"/>
          <a:ext cx="107442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915400"/>
              </a:tblGrid>
              <a:tr h="646611"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示范内容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研究问题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解释透明度是否通过降低不确定性感知并提升信任，增加博士生采纳 AI 推荐文献的意愿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条件 A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AI 只给出推荐列表，不说明理由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条件 B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AI 给出推荐理由、证据来源、匹配逻辑和不确定性说明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保持一致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AI 能力、推荐数量、任务背景、时间压力、推荐质量、隐私描述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检查项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解释充分性感知；能力/友好度/隐私风险/任务难度混淆检验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中介/DV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不确定性感知、信任、采纳意愿或实际选择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989320"/>
            <a:ext cx="10378440" cy="45720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989320"/>
            <a:ext cx="73152" cy="4572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611733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最大风险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501383"/>
            <a:ext cx="10076688" cy="-1280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80" b="0">
                <a:solidFill>
                  <a:srgbClr val="202A36"/>
                </a:solidFill>
                <a:latin typeface="Microsoft YaHei"/>
              </a:defRPr>
            </a:pPr>
            <a:r>
              <a:t>解释透明度可能同时提升感知能力。必须用材料控制和能力混淆检验处理。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07 讲 · 情景实验与量表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常见错误与修正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71600"/>
          <a:ext cx="107442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703320"/>
                <a:gridCol w="4846320"/>
              </a:tblGrid>
              <a:tr h="646611">
                <a:tc>
                  <a:txBody>
                    <a:bodyPr/>
                    <a:lstStyle/>
                    <a:p>
                      <a:pPr algn="l">
                        <a:defRPr sz="10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错误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后果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修正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问卷包装成实验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没有因果识别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明确随机分配和操纵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操纵改变多个构念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结果无法解释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条件差异表和混淆检验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操纵检验等同中介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机制证据污染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分开测量，题项不重叠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量表来源不实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学术风险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逐条核验来源和题项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预测试省略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主实验失败成本高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先小样本检操纵和混淆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只报 p 值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结果不可审计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报告效应量、CI、表格和图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07 讲 · 情景实验与量表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课后提交要求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16002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50">
                <a:solidFill>
                  <a:srgbClr val="202A36"/>
                </a:solidFill>
                <a:latin typeface="Microsoft YaHei"/>
              </a:defRPr>
            </a:pPr>
            <a:r>
              <a:t>提交文件夹：姓名_第07讲_情景实验行为研究与量表开发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50">
                <a:solidFill>
                  <a:srgbClr val="202A36"/>
                </a:solidFill>
                <a:latin typeface="Microsoft YaHei"/>
              </a:defRPr>
            </a:pPr>
            <a:r>
              <a:t>必须包含 causal_model、benchmark_matrix、stimuli、condition_difference_table、checks、scales、pretest_plan、procedure、analysis_plan、method_results_template、design_audit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50">
                <a:solidFill>
                  <a:srgbClr val="202A36"/>
                </a:solidFill>
                <a:latin typeface="Microsoft YaHei"/>
              </a:defRPr>
            </a:pPr>
            <a:r>
              <a:t>附 300 字反思：你的实验最大混淆风险是什么，如何控制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50">
                <a:solidFill>
                  <a:srgbClr val="202A36"/>
                </a:solidFill>
                <a:latin typeface="Microsoft YaHei"/>
              </a:defRPr>
            </a:pPr>
            <a:r>
              <a:t>未核验论文和量表必须保留待核验标记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965960" y="3474720"/>
          <a:ext cx="80924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2057400"/>
              </a:tblGrid>
              <a:tr h="335280">
                <a:tc>
                  <a:txBody>
                    <a:bodyPr/>
                    <a:lstStyle/>
                    <a:p>
                      <a:pPr algn="l">
                        <a:defRPr sz="11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评分项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因果结构与实验类型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15%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情景材料与条件差异控制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25%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检查项和预测试设计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量表来源与适配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分析计划、报告和审计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60120" y="5806440"/>
            <a:ext cx="10195560" cy="566928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5806440"/>
            <a:ext cx="73152" cy="566928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934455"/>
            <a:ext cx="9921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最低合格线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6318504"/>
            <a:ext cx="9893808" cy="-182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30" b="0">
                <a:solidFill>
                  <a:srgbClr val="202A36"/>
                </a:solidFill>
                <a:latin typeface="Microsoft YaHei"/>
              </a:defRPr>
            </a:pPr>
            <a:r>
              <a:t>能说清：操纵什么、为什么操纵、如何避免混淆、怎么测量、怎么预测试、怎么分析和怎么报告。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07 讲 · 情景实验与量表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教师课堂收尾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241280" cy="105156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508760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36776"/>
            <a:ext cx="996695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今天真正完成的事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20824"/>
            <a:ext cx="993952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500" b="0">
                <a:solidFill>
                  <a:srgbClr val="202A36"/>
                </a:solidFill>
                <a:latin typeface="Microsoft YaHei"/>
              </a:defRPr>
            </a:pPr>
            <a:r>
              <a:t>不是写了一段情景材料，而是建立了一个能被预测试、主实验、统计分析和审稿人审计的实验系统。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00400"/>
            <a:ext cx="1176147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328416"/>
            <a:ext cx="1102994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202A36"/>
                </a:solidFill>
                <a:latin typeface="Microsoft YaHei"/>
              </a:defRPr>
            </a:pPr>
            <a:r>
              <a:t>因果结构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09419" y="3200400"/>
            <a:ext cx="1176147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5995" y="3328416"/>
            <a:ext cx="1102994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202A36"/>
                </a:solidFill>
                <a:latin typeface="Microsoft YaHei"/>
              </a:defRPr>
            </a:pPr>
            <a:r>
              <a:t>顶刊范式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99690" y="3520440"/>
            <a:ext cx="91441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504437" y="3200400"/>
            <a:ext cx="1176147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1013" y="3328416"/>
            <a:ext cx="1102994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202A36"/>
                </a:solidFill>
                <a:latin typeface="Microsoft YaHei"/>
              </a:defRPr>
            </a:pPr>
            <a:r>
              <a:t>操纵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94709" y="3520440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799456" y="3200400"/>
            <a:ext cx="1176147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36032" y="3328416"/>
            <a:ext cx="1102994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202A36"/>
                </a:solidFill>
                <a:latin typeface="Microsoft YaHei"/>
              </a:defRPr>
            </a:pPr>
            <a:r>
              <a:t>检查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89728" y="3520440"/>
            <a:ext cx="91441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094475" y="3200400"/>
            <a:ext cx="1176147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31051" y="3328416"/>
            <a:ext cx="1102994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202A36"/>
                </a:solidFill>
                <a:latin typeface="Microsoft YaHei"/>
              </a:defRPr>
            </a:pPr>
            <a:r>
              <a:t>量表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84747" y="3520440"/>
            <a:ext cx="91441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9494" y="3200400"/>
            <a:ext cx="1176147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26070" y="3328416"/>
            <a:ext cx="1102994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202A36"/>
                </a:solidFill>
                <a:latin typeface="Microsoft YaHei"/>
              </a:defRPr>
            </a:pPr>
            <a:r>
              <a:t>预测试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279766" y="3520440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684513" y="3200400"/>
            <a:ext cx="1176147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21089" y="3328416"/>
            <a:ext cx="1102994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202A36"/>
                </a:solidFill>
                <a:latin typeface="Microsoft YaHei"/>
              </a:defRPr>
            </a:pPr>
            <a:r>
              <a:t>分析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574785" y="3520440"/>
            <a:ext cx="91441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979532" y="3200400"/>
            <a:ext cx="1176147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16108" y="3328416"/>
            <a:ext cx="1102994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202A36"/>
                </a:solidFill>
                <a:latin typeface="Microsoft YaHei"/>
              </a:defRPr>
            </a:pPr>
            <a:r>
              <a:t>报告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869804" y="3520440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14400" y="4736592"/>
            <a:ext cx="10241280" cy="86868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" y="4736592"/>
            <a:ext cx="73152" cy="86868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4864607"/>
            <a:ext cx="996695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下一步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248656"/>
            <a:ext cx="9939528" cy="2834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0">
                <a:solidFill>
                  <a:srgbClr val="202A36"/>
                </a:solidFill>
                <a:latin typeface="Microsoft YaHei"/>
              </a:defRPr>
            </a:pPr>
            <a:r>
              <a:t>补真实量表来源和顶刊样例，修改混淆风险，先做预测试，再决定是否进入主实验。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Public Release</cp:lastModifiedBy>
  <cp:revision>1</cp:revision>
  <dcterms:created xsi:type="dcterms:W3CDTF">2013-01-27T09:14:16Z</dcterms:created>
  <dcterms:modified xsi:type="dcterms:W3CDTF">2013-01-27T09:15:58Z</dcterms:modified>
  <cp:category/>
</cp:coreProperties>
</file>