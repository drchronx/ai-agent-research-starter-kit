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0"/>
            <a:ext cx="214884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文献综述</a:t>
            </a:r>
            <a:br/>
            <a:r>
              <a:t>理论建构</a:t>
            </a:r>
            <a:br/>
            <a:r>
              <a:t>研究问题生成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4068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115568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700" b="1">
                <a:solidFill>
                  <a:srgbClr val="1F2933"/>
                </a:solidFill>
                <a:latin typeface="Microsoft YaHei"/>
              </a:defRPr>
            </a:pPr>
            <a:r>
              <a:t>从论文卡片到研究缺口、机制、假设与一页方案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0240"/>
            <a:ext cx="795527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5B6770"/>
                </a:solidFill>
                <a:latin typeface="Microsoft YaHei"/>
              </a:defRPr>
            </a:pPr>
            <a:r>
              <a:t>Literature Tree · Gap Audit · Theory Mechanism · Hypothesis Set · One-Page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文献卡片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4672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7824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文献树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8368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3224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6376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缺口审计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6920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51775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理论机制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5471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20327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3479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假设组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74023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88879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2031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一页方案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42575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46120" y="4251960"/>
            <a:ext cx="8001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425196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0712" y="4389120"/>
            <a:ext cx="7744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4818888"/>
            <a:ext cx="7708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literature_tree、research_gap_audit、synthesis_outline、theory_mechanism_chain、hypothesis_set、one_page_proposal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这节课解决什么问题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577840" cy="34747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文献综述只堆材料，没有结构推进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研究缺口写成“已有研究较少”，但没有证据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理论只是贴标签，不能解释机制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变量、构念、测量和假设之间不匹配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假设只是统计关系，不是理论预测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研究问题太大，无法用数据或实验检验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不知道如何从文献卡片生成选题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91640"/>
            <a:ext cx="4526280" cy="141732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69164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82880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本讲核心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258568"/>
            <a:ext cx="4233672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把文献从“材料”转成“问题结构”：问题、理论、机制、变量、方法、证据、缺口。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703320"/>
            <a:ext cx="4526280" cy="123444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3703320"/>
            <a:ext cx="73152" cy="1234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84048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4270248"/>
            <a:ext cx="423367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不能把“我没读到”写成“文献没有”；不能把理论名写成理论解释。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本讲操作路线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输入材料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3668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6820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文献树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77364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44418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7570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缺口候选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98113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65167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8319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缺口审计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8863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85916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综述提纲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9612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06665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9817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机制链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60361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27414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0566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假设组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81110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448163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1315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一页方案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01859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2514600"/>
          <a:ext cx="10835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2396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论文卡片、矩阵、图谱、BibTeX、候选文献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结构化综述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literature_tree.md, synthesis_outline.md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选题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research_gap_candidates.md, research_gap_audit.md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theory_mechanism_chain.md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假设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hypothesis_set.md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提案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one_page_research_proposal.md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审计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gap_and_theory_audit.md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7532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文献综述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literature-review, ssci-literature-review, literature-reviewer-skill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研究构思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research-ideation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想法比较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idea-tournament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假设生成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hypothesis-generation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批判审计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scientific-critical-thinking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论文规划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paper-planning, research-proposal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ai4scholar-research, ai4scholar-citation-network, citation-management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知识库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theory-variable-method-matrix, research-question-knowledge-graph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输入材料来自前几讲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571500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candidate_papers.xlsx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03 讲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20 篇真实候选文献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verified_references.bib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03 讲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10 条已核验 BibTeX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paper_cards/*.md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02/04 讲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5 张论文卡片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theory_variable_method_matrix.xlsx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04 讲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理论、变量、方法矩阵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research_question_graph.md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04 讲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初步研究问题图谱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研究方向/目标期刊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学生自选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不能太大，要有方法可行性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Microsoft YaHei"/>
              </a:defRPr>
            </a:pPr>
            <a:r>
              <a:t>没有真实输入，就不要让 Agent 生成研究缺口。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综述不是摘要：反例与修正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703320"/>
              </a:tblGrid>
              <a:tr h="7772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错误写法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为什么不行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修正方向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 研究发现... B 研究发现...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逐篇堆材料，没有问题推进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按问题、机制、证据组织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已有研究较少关注 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没有证据，像主观感受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说明已有研究做了什么、没解释什么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基于某理论，本文认为...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理论只是标签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写清理论如何解释变量关系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加入中介/调节变量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统计模型复杂但理论弱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先说明机制和边界条件必要性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623560"/>
            <a:ext cx="10195560" cy="68580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5623560"/>
            <a:ext cx="73152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76072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好综述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6190488"/>
            <a:ext cx="9902952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这个领域围绕什么问题形成了哪些解释、争议、证据和缺口？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972800" cy="24231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50">
                <a:solidFill>
                  <a:srgbClr val="EBEFF5"/>
                </a:solidFill>
                <a:latin typeface="Courier New"/>
              </a:defRPr>
            </a:pPr>
            <a:r>
              <a:t>New-Item -ItemType Directory -Force -Path "D:\AI科研训练营\第05讲_综述与选题工作区"</a:t>
            </a:r>
            <a:br/>
            <a:r>
              <a:t>cd "D:\AI科研训练营\第05讲_综述与选题工作区"</a:t>
            </a:r>
            <a:br/>
            <a:br/>
            <a:r>
              <a:t>New-Item -ItemType Directory -Force -Path input,review,theory,hypotheses,proposal,figures,qc,output,skills</a:t>
            </a:r>
            <a:br/>
            <a:r>
              <a:t>New-Item -ItemType Directory -Force -Path input\paper_cards,input\matrices,input\graphs,input\bibliography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149840" cy="11887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把第 03 讲候选文献和 BibTeX 放入 input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把第 04 讲论文卡片、矩阵、图谱放入 input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本讲输出全部放 review/theory/hypotheses/proposal/qc</a:t>
            </a:r>
          </a:p>
        </p:txBody>
      </p:sp>
    </p:spTree>
  </p:cSld>
  <p:clrMapOvr>
    <a:masterClrMapping/>
  </p:clrMapOvr>
</p:sld>
</file>

<file path=ppt/slides/slide8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7F8F5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F76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45720"/><a:ext cx="1463040" cy="201168"/></a:xfrm><a:prstGeom prst="rect"><a:avLst/></a:prstGeom><a:noFill/></p:spPr><p:txBody><a:bodyPr wrap="square" lIns="45720" rIns="45720" tIns="27432" bIns="27432" anchor="t"><a:spAutoFit/></a:bodyPr><a:lstStyle/><a:p><a:pPr algn="l"><a:defRPr sz="800" b="1"><a:solidFill><a:srgbClr val="FFFFFF"/></a:solidFill><a:latin typeface="Microsoft YaHei"/></a:defRPr></a:pPr><a:r><a:t>第 05 讲</a:t></a:r></a:p></p:txBody></p:sp><p:sp><p:nvSpPr><p:cNvPr id="4" name="TextBox 3"/><p:cNvSpPr txBox="1"/><p:nvPr/></p:nvSpPr><p:spPr><a:xfrm><a:off x="11018520" y="36576"/><a:ext cx="640080" cy="228600"/></a:xfrm><a:prstGeom prst="rect"><a:avLst/></a:prstGeom><a:noFill/></p:spPr><p:txBody><a:bodyPr wrap="square" lIns="45720" rIns="45720" tIns="27432" bIns="27432" anchor="t"><a:spAutoFit/></a:bodyPr><a:lstStyle/><a:p><a:pPr algn="r"><a:defRPr sz="1000" b="1"><a:solidFill><a:srgbClr val="FFFFFF"/></a:solidFill><a:latin typeface="Microsoft YaHei"/></a:defRPr></a:pPr><a:r><a:t>08</a:t></a:r></a:p></p:txBody></p:sp><p:sp><p:nvSpPr><p:cNvPr id="5" name="TextBox 4"/><p:cNvSpPr txBox="1"/><p:nvPr/></p:nvSpPr><p:spPr><a:xfrm><a:off x="502920" y="566928"/><a:ext cx="10789920" cy="502920"/></a:xfrm><a:prstGeom prst="rect"><a:avLst/></a:prstGeom><a:noFill/></p:spPr><p:txBody><a:bodyPr wrap="square" lIns="45720" rIns="45720" tIns="27432" bIns="27432" anchor="t"><a:spAutoFit/></a:bodyPr><a:lstStyle/><a:p><a:pPr algn="l"><a:defRPr sz="2500" b="1"><a:solidFill><a:srgbClr val="1F2933"/></a:solidFill><a:latin typeface="Microsoft YaHei"/></a:defRPr></a:pPr><a:r><a:t>Step 2：复制 Skills</a:t></a:r></a:p></p:txBody></p:sp><p:sp><p:nvSpPr><p:cNvPr id="6" name="Rectangle 5"/><p:cNvSpPr/><p:nvPr/></p:nvSpPr><p:spPr><a:xfrm><a:off x="502920" y="1106424"/><a:ext cx="1005840" cy="54864"/></a:xfrm><a:prstGeom prst="rect"><a:avLst/></a:prstGeom><a:solidFill><a:srgbClr val="B4530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685800" y="1325880"/><a:ext cx="10972800" cy="2377440"/></a:xfrm><a:prstGeom prst="roundRect"><a:avLst/></a:prstGeom><a:solidFill><a:srgbClr val="212B36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lIns="137160" rIns="137160" tIns="109728" bIns="73152" wrap="square"/><a:lstStyle/><a:p><a:pPr algn="ctr"><a:defRPr sz="1050"><a:solidFill><a:srgbClr val="EBEFF5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literature-review,ssci-literature-review,research-ideation,idea-tournament,hypothesis-generation,scientific-critical-thinking,paper-planning,research-proposal,ai4scholar-research,ai4scholar-citation-network,citation-management,theory-variable-method-matrix,research-question-knowledge-graph `</a:t></a:r><a:br/><a:r><a:t>  -Workspace "D:\AI科研训练营\第05讲_综述与选题工作区"</a:t></a:r></a:p></p:txBody></p:sp><p:sp><p:nvSpPr><p:cNvPr id="8" name="Rounded Rectangle 7"/><p:cNvSpPr/><p:nvPr/></p:nvSpPr><p:spPr><a:xfrm><a:off x="914400" y="4297680"/><a:ext cx="10195560" cy="822960"/></a:xfrm><a:prstGeom prst="roundRect"><a:avLst/></a:prstGeom><a:solidFill><a:srgbClr val="E2EBFF"/></a:solidFill><a:ln w="10160"><a:solidFill><a:srgbClr val="D2D7DC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Rectangle 8"/><p:cNvSpPr/><p:nvPr/></p:nvSpPr><p:spPr><a:xfrm><a:off x="914400" y="4297680"/><a:ext cx="73152" cy="822960"/></a:xfrm><a:prstGeom prst="rect"><a:avLst/></a:prstGeom><a:solidFill><a:srgbClr val="2563E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1078992" y="4434840"/><a:ext cx="9939528" cy="320040"/></a:xfrm><a:prstGeom prst="rect"><a:avLst/></a:prstGeom><a:noFill/></p:spPr><p:txBody><a:bodyPr wrap="square" lIns="45720" rIns="45720" tIns="27432" bIns="27432" anchor="t"><a:spAutoFit/></a:bodyPr><a:lstStyle/><a:p><a:pPr algn="l"><a:defRPr sz="1500" b="1"><a:solidFill><a:srgbClr val="2563EB"/></a:solidFill><a:latin typeface="Microsoft YaHei"/></a:defRPr></a:pPr><a:r><a:t>检查点</a:t></a:r></a:p></p:txBody></p:sp><p:sp><p:nvSpPr><p:cNvPr id="11" name="TextBox 10"/><p:cNvSpPr txBox="1"/><p:nvPr/></p:nvSpPr><p:spPr><a:xfrm><a:off x="1078992" y="4864608"/><a:ext cx="9902952" cy="164592"/></a:xfrm><a:prstGeom prst="rect"><a:avLst/></a:prstGeom><a:noFill/></p:spPr><p:txBody><a:bodyPr wrap="square" lIns="45720" rIns="45720" tIns="27432" bIns="27432" anchor="t"><a:spAutoFit/></a:bodyPr><a:lstStyle/><a:p><a:pPr algn="l"><a:defRPr sz="1400" b="0"><a:solidFill><a:srgbClr val="1F2933"/></a:solidFill><a:latin typeface="Microsoft YaHei"/></a:defRPr></a:pPr><a:r><a:t>skills 文件夹中至少有 literature/research ideation/hypothesis/critical thinking/citation 相关能力。</a:t></a:r></a:p></p:txBody></p:sp></p:spTree></p:cSld><p:clrMapOvr><a:masterClrMapping/></p:clrMapOvr>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3：明确研究方向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166360" cy="44805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## 第05讲研究方向</a:t>
            </a:r>
            <a:br/>
            <a:br/>
            <a:r>
              <a:t>### 我的研究方向</a:t>
            </a:r>
            <a:br/>
            <a:br/>
            <a:r>
              <a:t>### 长期目标</a:t>
            </a:r>
            <a:br/>
            <a:br/>
            <a:r>
              <a:t>### 目标学科/期刊</a:t>
            </a:r>
            <a:br/>
            <a:br/>
            <a:r>
              <a:t>### 可用方法</a:t>
            </a:r>
            <a:br/>
            <a:r>
              <a:t>- 情景实验</a:t>
            </a:r>
            <a:br/>
            <a:r>
              <a:t>- EEG/ERP</a:t>
            </a:r>
            <a:br/>
            <a:r>
              <a:t>- 文本挖掘</a:t>
            </a:r>
            <a:br/>
            <a:r>
              <a:t>- 机器学习/深度学习</a:t>
            </a:r>
            <a:br/>
            <a:r>
              <a:t>- 因果推断</a:t>
            </a:r>
            <a:br/>
            <a:br/>
            <a:r>
              <a:t>### 本讲希望生成的问题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663440" cy="20116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不能只写“AI agent”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要写研究对象、情境、机制或方法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要说明目标期刊或学科标准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要明确自己能做的数据或实验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4663440" cy="91440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29768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4434840"/>
            <a:ext cx="44074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例子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864608"/>
            <a:ext cx="4370831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AI agent 透明度如何通过降低不确定性感知影响用户对科研推荐系统的信任。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4：生成文献树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20574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Use research-ideation and literature-review to build a literature tree from my paper cards and theory-variable-method matrix.</a:t>
            </a:r>
            <a:br/>
            <a:r>
              <a:t>Create both:</a:t>
            </a:r>
            <a:br/>
            <a:r>
              <a:t>1. Novelty Tree</a:t>
            </a:r>
            <a:br/>
            <a:r>
              <a:t>2. Challenge-Insight Tree</a:t>
            </a:r>
            <a:br/>
            <a:r>
              <a:t>Output review/literature_tree.md.</a:t>
            </a:r>
            <a:br/>
            <a:r>
              <a:t>Do not summarize papers one by one.</a:t>
            </a:r>
            <a:br/>
            <a:r>
              <a:t>Organize by problems, mechanisms, variables, methods, and unresolved challenges.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794760"/>
          <a:ext cx="1078991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955279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Novelty Tree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理论新解释、新变量/构念、新情境、新方法/数据、新机制/边界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Challenge-Insight Tree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挑战、已有解决方式、代表文献、是否充分、新机会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验收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不是按年份，不是逐篇摘要，每个分支有代表文献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文献树模板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92440"/>
              </a:tblGrid>
              <a:tr h="672737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要填什么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研究方向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方向、长期目标、目标学科/期刊、主要方法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Novelty Tree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已有研究按贡献类型分类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Challenge-Insight Tree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挑战、已有解决方式、未解决问题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研究流派图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流派、核心问题、理论、变量、方法、局限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争议与矛盾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观点差异、差异来源、可能解释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缺口池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gap_id、缺口表述、支持证据、仍需核验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5：生成研究缺口候选池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16002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Based on review/literature_tree.md and input/matrices/theory_variable_method_matrix.xlsx, generate 5-8 candidate research gaps.</a:t>
            </a:r>
            <a:br/>
            <a:r>
              <a:t>For each gap, state:</a:t>
            </a:r>
            <a:br/>
            <a:r>
              <a:t>gap type, supporting papers, what is known, what remains unknown, why it matters, and what evidence is still missing.</a:t>
            </a:r>
            <a:br/>
            <a:r>
              <a:t>Output review/research_gap_candidates.md.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337560"/>
          <a:ext cx="10789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35922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缺口类型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理论缺口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现有理论不能解释某机制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机制缺口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变量关系存在，但中间过程不清楚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边界条件缺口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关系在什么条件下成立不清楚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测量缺口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构念测量不稳定或不适配新情境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方法缺口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现有方法不能捕捉关键现象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因果识别缺口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现有研究只能相关，不能支持因果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好缺口与坏缺口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120640" cy="105156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0515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48646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坏缺口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4828031" cy="3931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已有研究较少关注 AI agent 在科研中的应用。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214884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54480"/>
            <a:ext cx="49560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好缺口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84248"/>
            <a:ext cx="4919472" cy="1490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已有研究解释了推荐系统透明度对用户信任的影响，但在 AI agent 主动生成科研建议的情境中，用户面对的是持续自主行动者而非单次算法输出，原有透明度理论尚不能解释用户如何形成对代理行为的过程性信任。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149840" cy="12801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好缺口必须说明已有研究解释了什么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说明新情境为什么改变机制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说明缺口为什么重要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说明可以如何检验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6：缺口审计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16916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research_gap_audit_template.md to audit each candidate gap.</a:t>
            </a:r>
            <a:br/>
            <a:r>
              <a:t>For each gap, perform a well-established solution check:</a:t>
            </a:r>
            <a:br/>
            <a:r>
              <a:t>Has existing literature already solved it?</a:t>
            </a:r>
            <a:br/>
            <a:r>
              <a:t>Is it merely a new context/sample?</a:t>
            </a:r>
            <a:br/>
            <a:r>
              <a:t>Does it require new theory, new mechanism, new measurement, or new method?</a:t>
            </a:r>
            <a:br/>
            <a:r>
              <a:t>Output review/research_gap_audit.md.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47472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132320"/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审计问题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判断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是否已有直接解决方案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有则修改或放弃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是否只是换样本/情境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没有机制变化则弱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是否需要新理论或新机制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有才更可能贡献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是否能被数据检验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不能检验则暂缓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是否适合目标期刊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不适合则调整定位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7：生成综述提纲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486400" cy="36576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Create a literature review synthesis outline.</a:t>
            </a:r>
            <a:br/>
            <a:r>
              <a:t>Do not organize by year or by individual paper.</a:t>
            </a:r>
            <a:br/>
            <a:r>
              <a:t>Organize by:</a:t>
            </a:r>
            <a:br/>
            <a:r>
              <a:t>1. core problem,</a:t>
            </a:r>
            <a:br/>
            <a:r>
              <a:t>2. theoretical explanations,</a:t>
            </a:r>
            <a:br/>
            <a:r>
              <a:t>3. mechanisms and variables,</a:t>
            </a:r>
            <a:br/>
            <a:r>
              <a:t>4. methods and evidence,</a:t>
            </a:r>
            <a:br/>
            <a:r>
              <a:t>5. unresolved gaps,</a:t>
            </a:r>
            <a:br/>
            <a:r>
              <a:t>6. my study's position.</a:t>
            </a:r>
            <a:br/>
            <a:r>
              <a:t>Output review/synthesis_outline.md.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00200"/>
            <a:ext cx="4297680" cy="21945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综述提纲必须能推出自己的研究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每一节都有问题推进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理论、机制、方法和证据要互相连接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不要把文献综述写成参考文献说明书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389120"/>
            <a:ext cx="4297680" cy="91440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4389120"/>
            <a:ext cx="73152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4526280"/>
            <a:ext cx="40416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合格标准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4956048"/>
            <a:ext cx="40050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读完综述提纲，别人能明白为什么你的研究问题必须出现。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8：选择最强研究缺口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27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554480"/>
                <a:gridCol w="1737360"/>
                <a:gridCol w="1645920"/>
                <a:gridCol w="160020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gap_id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importance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novelty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feasibility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theory_value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method_fit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decision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G1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keep/revise/drop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G2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keep/revise/drop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G3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keep/revise/drop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160520"/>
            <a:ext cx="10149840" cy="13716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保留 1 个最强 gap，最多 1 个备选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不要同时推进 5 个方向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理论价值和方法可行性必须同时成立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低可行性但高新颖性的方向先放入备选库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9：理论机制链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16459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theory_mechanism_chain_template.md to build a theory mechanism chain for the strongest research gap.</a:t>
            </a:r>
            <a:br/>
            <a:r>
              <a:t>Connect:</a:t>
            </a:r>
            <a:br/>
            <a:r>
              <a:t>context/stimulus/technology change → psychological/cognitive mechanism → behavioral/attitudinal/performance outcome.</a:t>
            </a:r>
            <a:br/>
            <a:r>
              <a:t>Separate constructs from measured variables.</a:t>
            </a:r>
            <a:br/>
            <a:r>
              <a:t>Output theory/theory_mechanism_chain.md.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20440"/>
            <a:ext cx="2436876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648456"/>
            <a:ext cx="22905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情境/刺激/技术变化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5868" y="3520440"/>
            <a:ext cx="2436876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9020" y="3648456"/>
            <a:ext cx="22905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心理/认知机制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69564" y="3863339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17336" y="3520440"/>
            <a:ext cx="2436876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3648456"/>
            <a:ext cx="22905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行为/态度/绩效结果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2" y="3863339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18804" y="3520440"/>
            <a:ext cx="2436876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1956" y="3648456"/>
            <a:ext cx="229057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边界条件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72500" y="3863339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5074920"/>
            <a:ext cx="10195560" cy="7772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074920"/>
            <a:ext cx="73152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21208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5641848"/>
            <a:ext cx="9902952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理论必须解释机制；构念、变量和测量必须分开；每个环节有文献证据。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理论机制链模板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01000"/>
              </a:tblGrid>
              <a:tr h="588645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理论选择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理论名、来源文献、原始领域、适用原因、边界条件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理论核心命题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该理论真正解释什么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机制链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前因、机制、结果、边界条件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构念与变量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理论含义、变量名、测量/操纵方式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假设草案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H1/H2/H3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可检验预测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如果成立/不成立，应观察到什么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错误检查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理论标签化、变量错位、不可检验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10：生成假设组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18288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hypothesis-generation and hypothesis_set_template.md to create a testable hypothesis set.</a:t>
            </a:r>
            <a:br/>
            <a:r>
              <a:t>Include main effect, mediation, moderation, and conditional indirect effect only if theoretically justified.</a:t>
            </a:r>
            <a:br/>
            <a:r>
              <a:t>For each hypothesis, include mechanism explanation, literature support, measurement/design, analysis method, and causal language warning.</a:t>
            </a:r>
            <a:br/>
            <a:r>
              <a:t>Output hypotheses/hypothesis_set.md.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70332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假设类型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什么时候写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主效应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理论预测 IV 影响 DV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中介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理论解释为什么会影响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调节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理论解释何时更强/更弱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调节中介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边界条件改变间接机制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假设写法：弱 vs 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166360" cy="91440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914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49103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487375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H1: AI 透明度正向影响用户信任。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123444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54480"/>
            <a:ext cx="49103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84248"/>
            <a:ext cx="487375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H1: AI agent 的过程透明度通过降低用户对其自主决策过程的不确定性感知，提高用户对科研建议的信任。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149840" cy="13716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强假设说明机制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强假设暗含可测中介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强假设能指导实验操纵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强假设能对应统计模型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10195560" cy="7315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212080"/>
            <a:ext cx="73152" cy="7315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34924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注意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779008"/>
            <a:ext cx="9902952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不是每个研究都需要复杂模型；理论不支持时不要硬加中介/调节。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11：一页研究方案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8356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01000"/>
              </a:tblGrid>
              <a:tr h="5435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标题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清楚表达研究对象和机制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研究问题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一句话说明关注什么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为什么重要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实践重要性 + 理论重要性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文献缺口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已有研究做了什么，仍缺什么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 → 机制 → 变量关系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研究模型/假设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IV, mediator, moderator, DV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研究设计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数据、样本、方法、测量、模型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贡献与风险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预期贡献、最大风险、下一步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生成一页方案的提示词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6002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one_page_research_proposal_template.md to write a one-page research proposal.</a:t>
            </a:r>
            <a:br/>
            <a:r>
              <a:t>The proposal must include:</a:t>
            </a:r>
            <a:br/>
            <a:r>
              <a:t>title, research question, importance, literature gap, theory mechanism, research model, hypotheses, design, expected contribution, risks, and next steps.</a:t>
            </a:r>
            <a:br/>
            <a:r>
              <a:t>Output proposal/one_page_research_proposal.md.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149840" cy="13716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导师应能 3 分钟读懂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不要写成 3000 字综述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不要隐藏最大风险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900">
                <a:solidFill>
                  <a:srgbClr val="1F2933"/>
                </a:solidFill>
                <a:latin typeface="Microsoft YaHei"/>
              </a:defRPr>
            </a:pPr>
            <a:r>
              <a:t>下一步必须可执行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12：导师前审计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16002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scientific-critical-thinking to audit my one-page research proposal.</a:t>
            </a:r>
            <a:br/>
            <a:r>
              <a:t>Check:</a:t>
            </a:r>
            <a:br/>
            <a:r>
              <a:t>theory fit, gap validity, variable-measure alignment, method fit, causal language, contribution overclaim, feasibility, and target journal fit.</a:t>
            </a:r>
            <a:br/>
            <a:r>
              <a:t>Output qc/gap_and_theory_audit.md.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4290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审计项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要问的问题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理论匹配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理论是否真的解释机制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gap 有效性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是否已有文献解决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变量测量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构念和测量是否对应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方法匹配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设计能否检验假设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因果语言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是否过度声称因果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贡献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是否夸大为理论贡献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可行性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数据、样本、时间是否现实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必须人工核验的地方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549640"/>
              </a:tblGrid>
              <a:tr h="600075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人工核验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文献缺口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不能把“我没读到”写成“文献没有”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真实文献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引用必须可核验，不能靠模型记忆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理论必须解释变量关系，不能只写理论名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变量测量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构念、变量和测量不能混为一谈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假设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每个假设必须能被数据或实验检验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因果语言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没有实验/准实验/识别策略时不能说因果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贡献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不要把换情境、换样本包装成理论贡献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本讲提交物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1018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60920"/>
              </a:tblGrid>
              <a:tr h="558800">
                <a:tc>
                  <a:txBody>
                    <a:bodyPr/>
                    <a:lstStyle/>
                    <a:p>
                      <a:pPr algn="l">
                        <a:defRPr sz="11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提交物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literature_tree.md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Novelty Tree + Challenge-Insight Tree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research_gap_candidates.md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5 个候选 gap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research_gap_audit.md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每个 gap 有反证搜索和保留/放弃理由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synthesis_outline.md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按问题、理论、机制、方法、缺口组织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theory_mechanism_chain.md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理论、构念、变量、测量对应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hypothesis_set.md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2 个可检验假设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one_page_research_proposal.md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导师可快速判断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gap_and_theory_audit.md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具体指出风险和修改建议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评分标准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60120"/>
                <a:gridCol w="7589520"/>
              </a:tblGrid>
              <a:tr h="57721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分值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输入材料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来自前几讲，真实可追溯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文献树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有结构、有流派、有挑战和争议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缺口审计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有证据、有反证搜索、有保留/放弃理由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理论机制链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理论、构念、变量、测量对应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假设组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可检验，有理论解释和方法对应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一页研究方案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简洁清楚，导师可判断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审计与反思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能指出真实风险和修正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直接不合格的情况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149840" cy="36576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编造文献或引用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研究缺口只写“已有研究较少”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文献综述按年份堆文献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理论只是标签，没有机制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假设无法用数据或实验检验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把相关研究设计写成因果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没有人工审计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只提交聊天截图，没有本地文件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10195560" cy="7315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5486400"/>
            <a:ext cx="73152" cy="7315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62356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6053328"/>
            <a:ext cx="9902952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第五讲产出的不是漂亮想法，而是经文献、理论和方法审计后的可讨论研究方案。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05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本讲一句话总结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100584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800" b="1">
                <a:solidFill>
                  <a:srgbClr val="1F2933"/>
                </a:solidFill>
                <a:latin typeface="Microsoft YaHei"/>
              </a:defRPr>
            </a:pPr>
            <a:r>
              <a:t>文献综述的目标，</a:t>
            </a:r>
            <a:br/>
            <a:r>
              <a:t>不是证明你读了很多论文，</a:t>
            </a:r>
            <a:br/>
            <a:r>
              <a:t>而是证明你的研究问题从已有知识结构中自然长出来。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文献证据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6742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9894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结构综述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0438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9044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196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缺口审计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2740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21347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4499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理论机制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75043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83649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6801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可检验假设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7345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