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874519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  <a:br/>
            <a:r>
              <a:t>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65960"/>
            <a:ext cx="210312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文献综述</a:t>
            </a:r>
            <a:br/>
            <a:r>
              <a:t>理论建构</a:t>
            </a:r>
            <a:br/>
            <a:r>
              <a:t>研究问题生成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50992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从材料到选题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005840"/>
            <a:ext cx="8046720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900" b="1">
                <a:solidFill>
                  <a:srgbClr val="202A36"/>
                </a:solidFill>
                <a:latin typeface="Microsoft YaHei"/>
              </a:defRPr>
            </a:pPr>
            <a:r>
              <a:t>学生照着做的 4 小时课堂实操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3552" y="1755648"/>
            <a:ext cx="8046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500" b="0">
                <a:solidFill>
                  <a:srgbClr val="576370"/>
                </a:solidFill>
                <a:latin typeface="Microsoft YaHei"/>
              </a:defRPr>
            </a:pPr>
            <a:r>
              <a:t>真实文献 → 证据表 → 文献树 → 缺口审计 → 理论机制 → 假设组 → 一页方案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78892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291693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输入材料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4884" y="278892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1460" y="291693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证据表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55156" y="307238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37929" y="278892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74505" y="291693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文献树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28201" y="307238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10973" y="278892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7549" y="291693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缺口审计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01245" y="307238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84018" y="278892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0594" y="291693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机制链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74290" y="307238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57062" y="278892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3638" y="291693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假设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47334" y="307238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330107" y="278892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6683" y="291693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202A36"/>
                </a:solidFill>
                <a:latin typeface="Microsoft YaHei"/>
              </a:defRPr>
            </a:pPr>
            <a:r>
              <a:t>方案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220379" y="307238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291840" y="4041648"/>
            <a:ext cx="79735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4041648"/>
            <a:ext cx="73152" cy="114300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169663"/>
            <a:ext cx="76992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本讲交付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553712"/>
            <a:ext cx="7671816" cy="5577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11 个可检查文件：evidence_table、literature_tree、streams、gap_candidates、gap_audit、synthesis_outline、mechanism_chain、hypothesis_set、one_page_proposal、citation_check、final_audit。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5440680"/>
            <a:ext cx="7973568" cy="786384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5440680"/>
            <a:ext cx="73152" cy="78638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5568696"/>
            <a:ext cx="76992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课堂原则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952744"/>
            <a:ext cx="7671816" cy="20116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先结构化证据，再写综述；先审计缺口，再讲贡献；先解释机制，再写假设。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本讲解决什么科研问题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5349240" cy="27432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文献综述只堆材料，没有结构推进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研究缺口写成“已有研究较少”，但没有证据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理论只是贴标签，不能解释变量关系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假设只是统计关系，不是理论预测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研究问题太大，无法被数据或实验检验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不知道如何从论文卡片压缩出一页研究方案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00200"/>
            <a:ext cx="4572000" cy="114300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600200"/>
            <a:ext cx="73152" cy="1143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28216"/>
            <a:ext cx="4297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本讲不做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12264"/>
            <a:ext cx="4270248" cy="5577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不直接让 AI 写一篇看起来流畅的综述。流畅文字会掩盖文献不足、缺口不成立和理论错位。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154680"/>
            <a:ext cx="4572000" cy="114300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3154680"/>
            <a:ext cx="73152" cy="11430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282696"/>
            <a:ext cx="4297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本讲要做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666744"/>
            <a:ext cx="4270248" cy="5577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把文献变成问题结构：证据、流派、争议、缺口、机制、假设、设计。每一步都有文件和人工核验。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212080"/>
            <a:ext cx="16306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5340096"/>
            <a:ext cx="155752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202A36"/>
                </a:solidFill>
                <a:latin typeface="Microsoft YaHei"/>
              </a:defRPr>
            </a:pPr>
            <a:r>
              <a:t>材料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63952" y="5212080"/>
            <a:ext cx="16306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0528" y="5340096"/>
            <a:ext cx="155752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202A36"/>
                </a:solidFill>
                <a:latin typeface="Microsoft YaHei"/>
              </a:defRPr>
            </a:pPr>
            <a:r>
              <a:t>结构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54223" y="5495544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13504" y="5212080"/>
            <a:ext cx="16306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0080" y="5340096"/>
            <a:ext cx="155752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202A36"/>
                </a:solidFill>
                <a:latin typeface="Microsoft YaHei"/>
              </a:defRPr>
            </a:pPr>
            <a:r>
              <a:t>缺口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03775" y="5495544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63055" y="5212080"/>
            <a:ext cx="16306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1" y="5340096"/>
            <a:ext cx="155752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202A36"/>
                </a:solidFill>
                <a:latin typeface="Microsoft YaHei"/>
              </a:defRPr>
            </a:pPr>
            <a:r>
              <a:t>理论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53327" y="5495544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912607" y="5212080"/>
            <a:ext cx="16306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9183" y="5340096"/>
            <a:ext cx="155752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202A36"/>
                </a:solidFill>
                <a:latin typeface="Microsoft YaHei"/>
              </a:defRPr>
            </a:pPr>
            <a:r>
              <a:t>假设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02879" y="5495544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62160" y="5212080"/>
            <a:ext cx="16306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8735" y="5340096"/>
            <a:ext cx="155752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202A36"/>
                </a:solidFill>
                <a:latin typeface="Microsoft YaHei"/>
              </a:defRPr>
            </a:pPr>
            <a:r>
              <a:t>方案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552431" y="5495544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本讲最终产出文件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417320"/>
          <a:ext cx="1088136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206240"/>
                <a:gridCol w="5212080"/>
              </a:tblGrid>
              <a:tr h="542925"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文件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证据整理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review/evidence_table.md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把论文卡片转成可追溯证据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领域结构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review/literature_tree.md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建立 Novelty Tree 与 Challenge-Insight Tree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争议识别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review/research_streams_and_controversies.md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找流派、争议和可能缺口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缺口判断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review/research_gap_candidates.md / research_gap_audit.md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生成、删减和修改研究缺口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理论建构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theory/theory_mechanism_chain.md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说明变量关系背后的机制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假设形成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hypotheses/hypothesis_set.md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把机制转成可检验假设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方案与审计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proposal/one_page_research_proposal.md / qc/gap_and_theory_audit.md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形成导师可评估的一页方案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9808" y="5925312"/>
            <a:ext cx="10698480" cy="530352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5925312"/>
            <a:ext cx="73152" cy="5303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6053328"/>
            <a:ext cx="104241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提交底线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6437376"/>
            <a:ext cx="10396728" cy="-5486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任何进入正文或方案的引用，都必须标注已核验或待核验。不能用模型记忆替代文献检索。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需要哪些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53312"/>
          <a:ext cx="109728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023360"/>
                <a:gridCol w="5532120"/>
              </a:tblGrid>
              <a:tr h="554355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Skills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本讲用途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文献综述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literature-review / ssci-literature-review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组织真实文献和综述结构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平台检索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ai4scholar-research / ai4scholar-citation-network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补充真实文献与引用网络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引用核验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citation-management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核验 DOI、BibTeX、作者、年份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假设生成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hypothesis-generation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把机制转成可检验假设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批判审计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scientific-critical-thinking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模拟导师和审稿人挑问题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方案写作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research-proposal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压缩成一页研究方案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知识库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theory-variable-method-matrix / research-question-knowledge-graph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使用第 04 讲矩阵和图谱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897880"/>
            <a:ext cx="10561320" cy="512064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897880"/>
            <a:ext cx="73152" cy="51206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6025896"/>
            <a:ext cx="10287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放置原则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409944"/>
            <a:ext cx="10259568" cy="-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Skills 复制到当前项目工作区的 skills/ 文件夹。后续需要什么再复制什么，不污染 Codex 根目录。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课前输入材料检查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8" y="1417320"/>
          <a:ext cx="1060704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  <a:gridCol w="5486400"/>
              </a:tblGrid>
              <a:tr h="541020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输入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来源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最低要求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candidate_papers.xlsx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第 03 讲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至少 20 篇真实候选文献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verified_references.bib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第 03 讲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至少 10 条已核验 BibTeX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paper_cards/*.md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第 02/04 讲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至少 5 张论文卡片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theory_variable_method_matrix.xlsx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第 04 讲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至少 10 篇文献的理论-变量-方法记录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research_question_graph.md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第 04 讲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至少 5 个研究问题节点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074920"/>
            <a:ext cx="10058400" cy="9144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B91C1C"/>
                </a:solidFill>
                <a:latin typeface="Microsoft YaHei"/>
              </a:defRPr>
            </a:pPr>
            <a:r>
              <a:t>材料不完整可以跟做流程，但不能把结果当作真实选题。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B91C1C"/>
                </a:solidFill>
                <a:latin typeface="Microsoft YaHei"/>
              </a:defRPr>
            </a:pPr>
            <a:r>
              <a:t>缺失文献时要补检索；缺失 BibTeX 时要先核验。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B91C1C"/>
                </a:solidFill>
                <a:latin typeface="Microsoft YaHei"/>
              </a:defRPr>
            </a:pPr>
            <a:r>
              <a:t>任何无法确认来源的条目都标注“待核验”。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1：创建工作区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52760" cy="219456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18872" tIns="91440" bIns="73152"/>
          <a:lstStyle/>
          <a:p>
            <a:pPr algn="ctr">
              <a:lnSpc>
                <a:spcPct val="100000"/>
              </a:lnSpc>
              <a:defRPr sz="1100">
                <a:solidFill>
                  <a:srgbClr val="EEF2F7"/>
                </a:solidFill>
                <a:latin typeface="Courier New"/>
              </a:defRPr>
            </a:pPr>
            <a:r>
              <a:t>New-Item -ItemType Directory -Force -Path "D:\AI科研训练营\第05讲_综述理论与选题工作区"</a:t>
            </a:r>
            <a:br/>
            <a:r>
              <a:t>cd "D:\AI科研训练营\第05讲_综述理论与选题工作区"</a:t>
            </a:r>
            <a:br/>
            <a:br/>
            <a:r>
              <a:t>New-Item -ItemType Directory -Force -Path input,review,theory,hypotheses,proposal,figures,qc,output,skills</a:t>
            </a:r>
            <a:br/>
            <a:r>
              <a:t>New-Item -ItemType Directory -Force -Path input\paper_cards,input\matrices,input\graphs,input\bibliography</a:t>
            </a:r>
            <a:br/>
            <a:r>
              <a:t>New-Item -ItemType File -Force -Path AGENTS.md,research_log.md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977639"/>
            <a:ext cx="49834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977639"/>
            <a:ext cx="73152" cy="100584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105655"/>
            <a:ext cx="4709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检查标准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89704"/>
            <a:ext cx="4681728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工作区中必须有 input、review、theory、hypotheses、proposal、qc、skills 文件夹，以及 AGENTS.md 和 research_log.md。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77639"/>
            <a:ext cx="4983480" cy="100584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977639"/>
            <a:ext cx="73152" cy="100584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05655"/>
            <a:ext cx="4709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路径提醒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89704"/>
            <a:ext cx="4681728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如果没有 D 盘，可以换成 C 盘或自己的项目盘。路径中有中文没有问题，但尽量不要混用多个项目目录。</a:t>
            </a:r>
          </a:p>
        </p:txBody>
      </p:sp>
    </p:spTree>
  </p:cSld>
  <p:clrMapOvr>
    <a:masterClrMapping/>
  </p:clrMapOvr>
</p:sld>
</file>

<file path=ppt/slides/slide7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F8F9F7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310896"/></a:xfrm><a:prstGeom prst="rect"><a:avLst/></a:prstGeom><a:solidFill><a:srgbClr val="0D746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411480" y="50292"/><a:ext cx="2011680" cy="201168"/></a:xfrm><a:prstGeom prst="rect"><a:avLst/></a:prstGeom><a:noFill/></p:spPr><p:txBody><a:bodyPr wrap="square" lIns="45720" rIns="45720" tIns="18288" bIns="18288" anchor="t"><a:spAutoFit/></a:bodyPr><a:lstStyle/><a:p><a:pPr algn="l"><a:defRPr sz="850" b="1"><a:solidFill><a:srgbClr val="FFFFFF"/></a:solidFill><a:latin typeface="Microsoft YaHei"/></a:defRPr></a:pPr><a:r><a:t>第 05 讲 · 实操版</a:t></a:r></a:p></p:txBody></p:sp><p:sp><p:nvSpPr><p:cNvPr id="4" name="TextBox 3"/><p:cNvSpPr txBox="1"/><p:nvPr/></p:nvSpPr><p:spPr><a:xfrm><a:off x="11155680" y="45720"/><a:ext cx="502920" cy="201168"/></a:xfrm><a:prstGeom prst="rect"><a:avLst/></a:prstGeom><a:noFill/></p:spPr><p:txBody><a:bodyPr wrap="square" lIns="45720" rIns="45720" tIns="18288" bIns="18288" anchor="t"><a:spAutoFit/></a:bodyPr><a:lstStyle/><a:p><a:pPr algn="r"><a:defRPr sz="900" b="1"><a:solidFill><a:srgbClr val="FFFFFF"/></a:solidFill><a:latin typeface="Microsoft YaHei"/></a:defRPr></a:pPr><a:r><a:t>07</a:t></a:r></a:p></p:txBody></p:sp><p:sp><p:nvSpPr><p:cNvPr id="5" name="TextBox 4"/><p:cNvSpPr txBox="1"/><p:nvPr/></p:nvSpPr><p:spPr><a:xfrm><a:off x="530352" y="548640"/><a:ext cx="10789920" cy="502920"/></a:xfrm><a:prstGeom prst="rect"><a:avLst/></a:prstGeom><a:noFill/></p:spPr><p:txBody><a:bodyPr wrap="square" lIns="45720" rIns="45720" tIns="18288" bIns="18288" anchor="t"><a:spAutoFit/></a:bodyPr><a:lstStyle/><a:p><a:pPr algn="l"><a:defRPr sz="2400" b="1"><a:solidFill><a:srgbClr val="202A36"/></a:solidFill><a:latin typeface="Microsoft YaHei"/></a:defRPr></a:pPr><a:r><a:t>实操 2：复制本讲 Skills</a:t></a:r></a:p></p:txBody></p:sp><p:sp><p:nvSpPr><p:cNvPr id="6" name="Rectangle 5"/><p:cNvSpPr/><p:nvPr/></p:nvSpPr><p:spPr><a:xfrm><a:off x="530352" y="1097280"/><a:ext cx="960120" cy="54864"/></a:xfrm><a:prstGeom prst="rect"><a:avLst/></a:prstGeom><a:solidFill><a:srgbClr val="B55D0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Rounded Rectangle 6"/><p:cNvSpPr/><p:nvPr/></p:nvSpPr><p:spPr><a:xfrm><a:off x="731520" y="1371600"/><a:ext cx="10744200" cy="2487168"/></a:xfrm><a:prstGeom prst="roundRect"><a:avLst/></a:prstGeom><a:solidFill><a:srgbClr val="1F2937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 wrap="square" lIns="137160" rIns="118872" tIns="91440" bIns="73152"/><a:lstStyle/><a:p><a:pPr algn="ctr"><a:lnSpc><a:spcPct val="100000"/></a:lnSpc><a:defRPr sz="1000"><a:solidFill><a:srgbClr val="EEF2F7"/></a:solidFill><a:latin typeface="Courier New"/></a:defRPr></a:pPr><a:r><a:t>cd "<本项目路径>\本地Skills功能分类库"</a:t></a:r><a:br/><a:br/><a:r><a:t>powershell -ExecutionPolicy Bypass -File .\00_工具脚本\copy_skill_to_workspace.ps1 `</a:t></a:r><a:br/><a:r><a:t>  -SkillName literature-review,ssci-literature-review,ai4scholar-research,ai4scholar-citation-network,citation-management,hypothesis-generation,scientific-critical-thinking,research-proposal,theory-variable-method-matrix,research-question-knowledge-graph `</a:t></a:r><a:br/><a:r><a:t>  -Workspace "D:\AI科研训练营\第05讲_综述理论与选题工作区"</a:t></a:r></a:p></p:txBody></p:sp><p:sp><p:nvSpPr><p:cNvPr id="8" name="TextBox 7"/><p:cNvSpPr txBox="1"/><p:nvPr/></p:nvSpPr><p:spPr><a:xfrm><a:off x="868680" y="4297680"/><a:ext cx="10149840" cy="1097280"/></a:xfrm><a:prstGeom prst="rect"><a:avLst/></a:prstGeom><a:noFill/></p:spPr><p:txBody><a:bodyPr wrap="square" lIns="73152" rIns="45720" tIns="18288" bIns="18288"><a:spAutoFit/></a:bodyPr><a:lstStyle/><a:p><a:pPr><a:lnSpc><a:spcPct val="105000"/></a:lnSpc><a:spcAft><a:spcPts val="300"/></a:spcAft><a:defRPr sz="1500"><a:solidFill><a:srgbClr val="202A36"/></a:solidFill><a:latin typeface="Microsoft YaHei"/></a:defRPr></a:pPr><a:r><a:t>复制后检查工作区 skills/ 文件夹。</a:t></a:r></a:p><a:p><a:pPr><a:lnSpc><a:spcPct val="105000"/></a:lnSpc><a:spcAft><a:spcPts val="300"/></a:spcAft><a:defRPr sz="1500"><a:solidFill><a:srgbClr val="202A36"/></a:solidFill><a:latin typeface="Microsoft YaHei"/></a:defRPr></a:pPr><a:r><a:t>如果某个 Skill 缺失，在 research_log.md 记录，不要中断课程。</a:t></a:r></a:p><a:p><a:pPr><a:lnSpc><a:spcPct val="105000"/></a:lnSpc><a:spcAft><a:spcPts val="300"/></a:spcAft><a:defRPr sz="1500"><a:solidFill><a:srgbClr val="202A36"/></a:solidFill><a:latin typeface="Microsoft YaHei"/></a:defRPr></a:pPr><a:r><a:t>不要安装到 Codex 根目录；本课按项目复制、按功能使用。</a:t></a:r></a:p></p:txBody></p:sp><p:sp><p:nvSpPr><p:cNvPr id="9" name="Rounded Rectangle 8"/><p:cNvSpPr/><p:nvPr/></p:nvSpPr><p:spPr><a:xfrm><a:off x="868680" y="5596128"/><a:ext cx="10149840" cy="594360"/></a:xfrm><a:prstGeom prst="roundRect"><a:avLst/></a:prstGeom><a:solidFill><a:srgbClr val="E2EBFF"/></a:solidFill><a:ln w="10160"><a:solidFill><a:srgbClr val="D2D8DE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Rectangle 9"/><p:cNvSpPr/><p:nvPr/></p:nvSpPr><p:spPr><a:xfrm><a:off x="868680" y="5596128"/><a:ext cx="73152" cy="594360"/></a:xfrm><a:prstGeom prst="rect"><a:avLst/></a:prstGeom><a:solidFill><a:srgbClr val="2563E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1" name="TextBox 10"/><p:cNvSpPr txBox="1"/><p:nvPr/></p:nvSpPr><p:spPr><a:xfrm><a:off x="1051560" y="5724144"/><a:ext cx="9875519" cy="292608"/></a:xfrm><a:prstGeom prst="rect"><a:avLst/></a:prstGeom><a:noFill/></p:spPr><p:txBody><a:bodyPr wrap="square" lIns="45720" rIns="45720" tIns="18288" bIns="18288" anchor="t"><a:spAutoFit/></a:bodyPr><a:lstStyle/><a:p><a:pPr algn="l"><a:defRPr sz="1400" b="1"><a:solidFill><a:srgbClr val="2563EB"/></a:solidFill><a:latin typeface="Microsoft YaHei"/></a:defRPr></a:pPr><a:r><a:t>缺失处理</a:t></a:r></a:p></p:txBody></p:sp><p:sp><p:nvSpPr><p:cNvPr id="12" name="TextBox 11"/><p:cNvSpPr txBox="1"/><p:nvPr/></p:nvSpPr><p:spPr><a:xfrm><a:off x="1051560" y="6108192"/><a:ext cx="9848088" cy="9144"/></a:xfrm><a:prstGeom prst="rect"><a:avLst/></a:prstGeom><a:noFill/></p:spPr><p:txBody><a:bodyPr wrap="square" lIns="45720" rIns="45720" tIns="18288" bIns="18288" anchor="t"><a:spAutoFit/></a:bodyPr><a:lstStyle/><a:p><a:pPr algn="l"><a:defRPr sz="1250" b="0"><a:solidFill><a:srgbClr val="202A36"/></a:solidFill><a:latin typeface="Microsoft YaHei"/></a:defRPr></a:pPr><a:r><a:t>缺少 research-ideation 或 idea-tournament 时，可以先用本讲提示词完成流程；课后再补 Skill。</a:t></a:r></a:p></p:txBody></p:sp></p:spTree></p:cSld><p:clrMapOvr><a:masterClrMapping/></p:clrMapOvr>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3：写 AGENTS.md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715000" cy="306324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18872" tIns="91440" bIns="73152"/>
          <a:lstStyle/>
          <a:p>
            <a:pPr algn="ctr">
              <a:lnSpc>
                <a:spcPct val="100000"/>
              </a:lnSpc>
              <a:defRPr sz="1050">
                <a:solidFill>
                  <a:srgbClr val="EEF2F7"/>
                </a:solidFill>
                <a:latin typeface="Courier New"/>
              </a:defRPr>
            </a:pPr>
            <a:r>
              <a:t># 第05讲工作区 Agent 指令</a:t>
            </a:r>
            <a:br/>
            <a:br/>
            <a:r>
              <a:t>你是科研选题、文献综述与理论建构助手。</a:t>
            </a:r>
            <a:br/>
            <a:br/>
            <a:r>
              <a:t>原则：</a:t>
            </a:r>
            <a:br/>
            <a:r>
              <a:t>- 只使用真实文献、已核验 BibTeX、论文卡片和可核验检索结果。</a:t>
            </a:r>
            <a:br/>
            <a:r>
              <a:t>- 禁止编造引用、作者、期刊、DOI、数据结果。</a:t>
            </a:r>
            <a:br/>
            <a:r>
              <a:t>- 文献综述围绕问题、理论、机制、变量、方法和证据推进。</a:t>
            </a:r>
            <a:br/>
            <a:r>
              <a:t>- 理论必须解释机制，禁止只贴理论标签。</a:t>
            </a:r>
            <a:br/>
            <a:r>
              <a:t>- 假设必须可检验，并说明设计、测量和分析方法。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554480"/>
            <a:ext cx="4251960" cy="114300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12280" y="1554480"/>
            <a:ext cx="73152" cy="11430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682495"/>
            <a:ext cx="3977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为什么要写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066543"/>
            <a:ext cx="3950208" cy="5577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AGENTS.md 是项目级约束。它让 Agent 每次处理本项目时都遵守真实文献、理论机制和人工核验要求。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3154680"/>
            <a:ext cx="42519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315468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3282696"/>
            <a:ext cx="3977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课堂要求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666744"/>
            <a:ext cx="3950208" cy="283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学生可以直接使用 lesson05_workspace_AGENTS_template.md，不需要从零写。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4498848"/>
            <a:ext cx="4251960" cy="86868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12280" y="4498848"/>
            <a:ext cx="73152" cy="8686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4626864"/>
            <a:ext cx="3977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不能省略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5010912"/>
            <a:ext cx="3950208" cy="283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没有项目指令时，Agent 更容易把未核验内容写成确定事实。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4：写 research_log.md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53312"/>
            <a:ext cx="5806440" cy="41605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18872" tIns="91440" bIns="73152"/>
          <a:lstStyle/>
          <a:p>
            <a:pPr algn="ctr">
              <a:lnSpc>
                <a:spcPct val="100000"/>
              </a:lnSpc>
              <a:defRPr sz="1019">
                <a:solidFill>
                  <a:srgbClr val="EEF2F7"/>
                </a:solidFill>
                <a:latin typeface="Courier New"/>
              </a:defRPr>
            </a:pPr>
            <a:r>
              <a:t># 第05讲研究日志</a:t>
            </a:r>
            <a:br/>
            <a:br/>
            <a:r>
              <a:t>## 我的研究方向</a:t>
            </a:r>
            <a:br/>
            <a:r>
              <a:t>- 中文方向：</a:t>
            </a:r>
            <a:br/>
            <a:r>
              <a:t>- 英文方向：</a:t>
            </a:r>
            <a:br/>
            <a:r>
              <a:t>- 学科归属：</a:t>
            </a:r>
            <a:br/>
            <a:r>
              <a:t>- 目标期刊或期刊层级：</a:t>
            </a:r>
            <a:br/>
            <a:br/>
            <a:r>
              <a:t>## 我目前关注的现象</a:t>
            </a:r>
            <a:br/>
            <a:r>
              <a:t>- 现象是什么：</a:t>
            </a:r>
            <a:br/>
            <a:r>
              <a:t>- 发生在什么场景：</a:t>
            </a:r>
            <a:br/>
            <a:r>
              <a:t>- 重要性在哪里：</a:t>
            </a:r>
            <a:br/>
            <a:r>
              <a:t>- 目前我不理解的地方：</a:t>
            </a:r>
            <a:br/>
            <a:br/>
            <a:r>
              <a:t>## 我可能使用的方法</a:t>
            </a:r>
            <a:br/>
            <a:r>
              <a:t>- 情景实验：</a:t>
            </a:r>
            <a:br/>
            <a:r>
              <a:t>- EEG/ERP：</a:t>
            </a:r>
            <a:br/>
            <a:r>
              <a:t>- 文本挖掘：</a:t>
            </a:r>
            <a:br/>
            <a:r>
              <a:t>- 机器学习/深度学习：</a:t>
            </a:r>
            <a:br/>
            <a:r>
              <a:t>- 因果推断：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554480"/>
            <a:ext cx="4160520" cy="109728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1554480"/>
            <a:ext cx="73152" cy="10972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1682495"/>
            <a:ext cx="3886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不合格写法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066543"/>
            <a:ext cx="3858768" cy="5120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我想研究 AI Agent 对科研效率的影响。问题太大，没有对象、场景、机制和方法。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063240"/>
            <a:ext cx="4160520" cy="132588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03720" y="3063240"/>
            <a:ext cx="73152" cy="132588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3191256"/>
            <a:ext cx="3886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合格方向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575304"/>
            <a:ext cx="3858768" cy="74066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在文献筛选任务中，AI Agent 的解释透明度是否通过降低不确定性感知并提升信任，影响博士生采纳 AI 推荐文献的意愿？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4828032"/>
            <a:ext cx="416052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4828032"/>
            <a:ext cx="73152" cy="8229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4956048"/>
            <a:ext cx="3886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5340096"/>
            <a:ext cx="3858768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必须写清研究对象、任务场景、核心机制、结果变量和可能方法。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5：生成证据表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234440" cy="292608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03020"/>
            <a:ext cx="10515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把论文卡片和矩阵压成可追溯证据，防止 Agent 直接写流畅但无证据的综述。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review/evidence_table.md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证据表是本讲最重要的底层文件。后续所有判断都要回到这里。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18872" tIns="91440" bIns="73152"/>
          <a:lstStyle/>
          <a:p>
            <a:pPr algn="ctr">
              <a:lnSpc>
                <a:spcPct val="100000"/>
              </a:lnSpc>
              <a:defRPr sz="940">
                <a:solidFill>
                  <a:srgbClr val="EEF2F7"/>
                </a:solidFill>
                <a:latin typeface="Courier New"/>
              </a:defRPr>
            </a:pPr>
            <a:r>
              <a:t>请读取 input/paper_cards、input/candidate_papers.xlsx 和 input/matrices 中的材料，生成 review/evidence_table.md。</a:t>
            </a:r>
            <a:br/>
            <a:br/>
            <a:r>
              <a:t>不要写综述正文。每篇文献提取 citation_key、研究问题、理论、变量、机制、方法、发现、局限和可复用启发。</a:t>
            </a:r>
            <a:br/>
            <a:r>
              <a:t>没有依据的字段写“未提供”，不要猜。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每行能追溯到真实材料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没有凭空出现的新文献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理论列不是变量名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方法列能看出实验/问卷/文本/EEG/建模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证据表应该长什么样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44200" cy="150876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18872" tIns="91440" bIns="73152"/>
          <a:lstStyle/>
          <a:p>
            <a:pPr algn="ctr">
              <a:lnSpc>
                <a:spcPct val="100000"/>
              </a:lnSpc>
              <a:defRPr sz="1050">
                <a:solidFill>
                  <a:srgbClr val="EEF2F7"/>
                </a:solidFill>
                <a:latin typeface="Courier New"/>
              </a:defRPr>
            </a:pPr>
            <a:r>
              <a:t>| ID | 文献 | 问题 | 理论 | IV/操纵 | 机制 | DV | 方法 | 发现 | 局限 | 启发 |</a:t>
            </a:r>
            <a:br/>
            <a:r>
              <a:t>|---|---|---|---|---|---|---|---|---|---|---|</a:t>
            </a:r>
            <a:br/>
            <a:r>
              <a:t>| P01 | 已核验 citation_key |  |  |  |  |  |  |  |  |  |</a:t>
            </a:r>
            <a:br/>
            <a:r>
              <a:t>| P02 | 待核验 |  |  |  |  |  |  |  |  |  |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337560"/>
            <a:ext cx="4983480" cy="100584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337560"/>
            <a:ext cx="73152" cy="100584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65576"/>
            <a:ext cx="4709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合格证据表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49624"/>
            <a:ext cx="4681728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能看出每篇论文的研究问题、理论、变量、方法、发现和局限。空白处写“未提供”，不是让 Agent 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337560"/>
            <a:ext cx="4983480" cy="100584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3337560"/>
            <a:ext cx="73152" cy="10058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465576"/>
            <a:ext cx="4709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不合格证据表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849624"/>
            <a:ext cx="4681728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只写摘要、没有变量和方法、没有 citation_key、把未核验文献写成确定事实。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892040"/>
            <a:ext cx="10378440" cy="68580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892040"/>
            <a:ext cx="73152" cy="68580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020055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课堂动作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404104"/>
            <a:ext cx="10076688" cy="10058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教师随机点 1-2 个学生打开 evidence_table，检查是否存在“看起来合理但找不到来源”的内容。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6：生成文献树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234440" cy="292608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03020"/>
            <a:ext cx="10515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把文献从逐篇摘要变成领域结构，找出贡献类型、挑战和未解决问题。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review/literature_tree.md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文献树不是时间线。只要按年份写，基本就不合格。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18872" tIns="91440" bIns="73152"/>
          <a:lstStyle/>
          <a:p>
            <a:pPr algn="ctr">
              <a:lnSpc>
                <a:spcPct val="100000"/>
              </a:lnSpc>
              <a:defRPr sz="940">
                <a:solidFill>
                  <a:srgbClr val="EEF2F7"/>
                </a:solidFill>
                <a:latin typeface="Courier New"/>
              </a:defRPr>
            </a:pPr>
            <a:r>
              <a:t>基于 review/evidence_table.md，生成 review/literature_tree.md。</a:t>
            </a:r>
            <a:br/>
            <a:br/>
            <a:r>
              <a:t>建立两棵树：</a:t>
            </a:r>
            <a:br/>
            <a:r>
              <a:t>1. Novelty Tree：理论解释、新变量/新构念、新情境/新对象、新方法/新数据、新机制/边界条件。</a:t>
            </a:r>
            <a:br/>
            <a:r>
              <a:t>2. Challenge-Insight Tree：核心挑战、已有解决方式、未解决问题、对我选题的启发。</a:t>
            </a:r>
            <a:br/>
            <a:br/>
            <a:r>
              <a:t>不要按年份排列，不要逐篇摘要。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有 Novelty Tree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有 Challenge-Insight Tree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每个分支有代表文献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能看出已有解释的边界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文献树的两个核心结构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120640" cy="160020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73152" cy="16002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45336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Novelty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29384"/>
            <a:ext cx="4818888" cy="101498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按贡献类型整理：理论解释、新变量/新构念、新情境/新对象、新方法/新数据、新机制/边界条件。它回答“已有研究贡献了什么”。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120640" cy="160020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45336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Challenge-Insight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29384"/>
            <a:ext cx="4818888" cy="101498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按挑战组织：领域面对什么问题，已有研究如何解决，哪些解释仍不足。它回答“还有什么没被解决”。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749039"/>
            <a:ext cx="1630680" cy="603504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877055"/>
            <a:ext cx="1557527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核心问题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63952" y="3749039"/>
            <a:ext cx="1630680" cy="603504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00528" y="3877055"/>
            <a:ext cx="1557527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已有解释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54223" y="4050791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13504" y="3749039"/>
            <a:ext cx="1630680" cy="603504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3877055"/>
            <a:ext cx="1557527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证据类型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03775" y="4050791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63055" y="3749039"/>
            <a:ext cx="1630680" cy="603504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1" y="3877055"/>
            <a:ext cx="1557527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争议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53327" y="4050791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912607" y="3749039"/>
            <a:ext cx="1630680" cy="603504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49183" y="3877055"/>
            <a:ext cx="1557527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未解决点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02879" y="4050791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62160" y="3749039"/>
            <a:ext cx="1630680" cy="603504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8735" y="3877055"/>
            <a:ext cx="1557527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我的切入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52431" y="4050791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14400" y="5074920"/>
            <a:ext cx="10378440" cy="8229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" y="5074920"/>
            <a:ext cx="73152" cy="8229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2029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判断标准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586983"/>
            <a:ext cx="10076688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读完文献树后，应能说清：这个领域不是缺文献，而是在哪个机制、边界、测量或方法上还解释不够。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7：识别研究流派与争议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234440" cy="292608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03020"/>
            <a:ext cx="10515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看清领域内部有哪些解释路线，以及已有结论为什么不一致。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review/research_streams_and_controversies.md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争议不等于缺口。只有能导向机制、边界或方法改进时，才可能形成选题。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18872" tIns="91440" bIns="73152"/>
          <a:lstStyle/>
          <a:p>
            <a:pPr algn="ctr">
              <a:lnSpc>
                <a:spcPct val="100000"/>
              </a:lnSpc>
              <a:defRPr sz="940">
                <a:solidFill>
                  <a:srgbClr val="EEF2F7"/>
                </a:solidFill>
                <a:latin typeface="Courier New"/>
              </a:defRPr>
            </a:pPr>
            <a:r>
              <a:t>基于 review/evidence_table.md 和 review/literature_tree.md，生成 review/research_streams_and_controversies.md。</a:t>
            </a:r>
            <a:br/>
            <a:br/>
            <a:r>
              <a:t>列出 3-5 个研究流派和 2-4 个主要争议。</a:t>
            </a:r>
            <a:br/>
            <a:r>
              <a:t>每个争议说明来源：理论、样本、测量、方法、数据或情境。</a:t>
            </a:r>
            <a:br/>
            <a:r>
              <a:t>不要把所有差异都写成“研究视角不同”。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每个流派有核心问题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每个争议有具体来源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争议能否转化为缺口被说明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没有万能化地写“视角不同”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争议来源判断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17320"/>
          <a:ext cx="1065276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06240"/>
                <a:gridCol w="4617720"/>
              </a:tblGrid>
              <a:tr h="632460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争议来源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判断问题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可能形成的缺口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理论不同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用不同理论解释同一关系？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理论整合或机制比较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样本/情境不同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关系只在特定群体或任务中成立？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边界条件或情境机制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测量不同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构念被不同量表或指标测量？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测量有效性或构念区分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方法不同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实验、问卷、二手数据结论不一致？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识别策略或方法改进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数据不同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文本、行为、脑电、问卷看到不同过程？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多源数据机制检验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532120"/>
            <a:ext cx="10378440" cy="59436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532120"/>
            <a:ext cx="73152" cy="5943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6601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044183"/>
            <a:ext cx="10076688" cy="91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不要把所有争议都写成“研究视角不同”。要明确冲突来自理论、样本、测量、方法、数据还是情境。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8：生成研究缺口候选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234440" cy="292608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03020"/>
            <a:ext cx="10515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从文献树和争议中生成 5-8 个可能选题，但先不急着保留。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review/research_gap_candidates.md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这一阶段允许多生成，但不能直接相信。下一步要严格审计。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18872" tIns="91440" bIns="73152"/>
          <a:lstStyle/>
          <a:p>
            <a:pPr algn="ctr">
              <a:lnSpc>
                <a:spcPct val="100000"/>
              </a:lnSpc>
              <a:defRPr sz="940">
                <a:solidFill>
                  <a:srgbClr val="EEF2F7"/>
                </a:solidFill>
                <a:latin typeface="Courier New"/>
              </a:defRPr>
            </a:pPr>
            <a:r>
              <a:t>基于文献树、流派争议和证据表，生成 5-8 个研究缺口候选，输出 review/research_gap_candidates.md。</a:t>
            </a:r>
            <a:br/>
            <a:br/>
            <a:r>
              <a:t>每个缺口包含：类型、已知内容、未知内容、重要性、支持证据、可能研究问题、可行方法、审稿风险、补充检索需求。</a:t>
            </a:r>
            <a:br/>
            <a:r>
              <a:t>禁止空话。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每个 gap 有类型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写清已知与未知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有真实文献或待核验文献支撑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至少有一个审稿风险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六类常见研究缺口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8" y="1417320"/>
          <a:ext cx="106984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4800600"/>
                <a:gridCol w="4297680"/>
              </a:tblGrid>
              <a:tr h="607422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常见错误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理论缺口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现有理论不能解释新现象或关键关系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只贴一个新理论名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机制缺口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知道 X 影响 Y，但不知道为什么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硬塞中介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边界缺口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关系在不同条件下强弱不同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为了复杂而加调节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测量缺口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现有测量不能捕捉关键构念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只是换量表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方法缺口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现有方法不能回答关键问题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只炫技，不服务问题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0742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情境缺口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新场景改变了原有机制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只是换样本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897880"/>
            <a:ext cx="10378440" cy="50292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897880"/>
            <a:ext cx="73152" cy="50292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602589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判断句式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409944"/>
            <a:ext cx="10076688" cy="-8229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不是“已有研究较少”，而是“已有解释在某个机制、情境、测量或方法上不能回答关键问题”。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弱缺口与强缺口示范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463040"/>
            <a:ext cx="4800600" cy="96012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463040"/>
            <a:ext cx="73152" cy="9601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591056"/>
            <a:ext cx="45262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弱缺口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75104"/>
            <a:ext cx="449884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202A36"/>
                </a:solidFill>
                <a:latin typeface="Microsoft YaHei"/>
              </a:defRPr>
            </a:pPr>
            <a:r>
              <a:t>已有研究较少关注 AI Agent 对科研效率的影响。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743200"/>
            <a:ext cx="480060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743200"/>
            <a:ext cx="73152" cy="11887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871216"/>
            <a:ext cx="45262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255264"/>
            <a:ext cx="4498848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研究对象太泛；结果变量太泛；没有机制；没有任务场景；没有说明已有研究哪里解释不了。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63040"/>
            <a:ext cx="5166360" cy="160020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73152" cy="16002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91056"/>
            <a:ext cx="4892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较强缺口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975104"/>
            <a:ext cx="4864608" cy="101498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已有研究虽讨论 AI 建议采纳和自动化信任，但在科研文献筛选这类高不确定、高专业判断任务中，解释透明度是否通过降低不确定性感知影响采纳，仍需要结合具体任务行为进行检验。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493008"/>
            <a:ext cx="5166360" cy="118872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493008"/>
            <a:ext cx="73152" cy="118872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621024"/>
            <a:ext cx="4892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仍需核验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005072"/>
            <a:ext cx="4864608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已有研究是否已经讨论解释透明度—信任—采纳；科研任务是否真的改变机制；采纳意愿和实际行为是否一致。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9：缺口审计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234440" cy="292608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03020"/>
            <a:ext cx="10515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删掉不成立的选题，避免把弱想法包装成贡献。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review/research_gap_audit.md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缺口审计比生成缺口更重要。弱选题越早删越省时间。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18872" tIns="91440" bIns="73152"/>
          <a:lstStyle/>
          <a:p>
            <a:pPr algn="ctr">
              <a:lnSpc>
                <a:spcPct val="100000"/>
              </a:lnSpc>
              <a:defRPr sz="940">
                <a:solidFill>
                  <a:srgbClr val="EEF2F7"/>
                </a:solidFill>
                <a:latin typeface="Courier New"/>
              </a:defRPr>
            </a:pPr>
            <a:r>
              <a:t>请严格审计 review/research_gap_candidates.md，输出 review/research_gap_audit.md。</a:t>
            </a:r>
            <a:br/>
            <a:br/>
            <a:r>
              <a:t>对每个 gap 判断：是否已被解决、是否只是换情境、需要的新贡献、可行性、审稿风险、最终决策 keep/revise/drop。</a:t>
            </a:r>
            <a:br/>
            <a:r>
              <a:t>不要迎合我，弱 gap 必须指出。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至少 1 个 gap 被 drop 或 revise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保留 gap 有理由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每个保留 gap 有反证检索建议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没有“所有想法都很好”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缺口评分表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46304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234440"/>
                <a:gridCol w="1143000"/>
                <a:gridCol w="1325880"/>
                <a:gridCol w="1417320"/>
                <a:gridCol w="1234440"/>
                <a:gridCol w="1143000"/>
                <a:gridCol w="224028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gap_id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importance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novelty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feasibility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theory_value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method_fit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evidence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decision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G1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keep/revise/drop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G2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keep/revise/drop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G3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keep/revise/drop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3886200"/>
            <a:ext cx="5120640" cy="16002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350">
                <a:solidFill>
                  <a:srgbClr val="202A36"/>
                </a:solidFill>
                <a:latin typeface="Microsoft YaHei"/>
              </a:defRPr>
            </a:pPr>
            <a:r>
              <a:t>importance：问题是否重要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50">
                <a:solidFill>
                  <a:srgbClr val="202A36"/>
                </a:solidFill>
                <a:latin typeface="Microsoft YaHei"/>
              </a:defRPr>
            </a:pPr>
            <a:r>
              <a:t>novelty：是否真有新意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50">
                <a:solidFill>
                  <a:srgbClr val="202A36"/>
                </a:solidFill>
                <a:latin typeface="Microsoft YaHei"/>
              </a:defRPr>
            </a:pPr>
            <a:r>
              <a:t>feasibility：数据、实验、时间、能力是否可行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50">
                <a:solidFill>
                  <a:srgbClr val="202A36"/>
                </a:solidFill>
                <a:latin typeface="Microsoft YaHei"/>
              </a:defRPr>
            </a:pPr>
            <a:r>
              <a:t>theory_value：是否能推进理论解释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50">
                <a:solidFill>
                  <a:srgbClr val="202A36"/>
                </a:solidFill>
                <a:latin typeface="Microsoft YaHei"/>
              </a:defRPr>
            </a:pPr>
            <a:r>
              <a:t>method_fit：是否适合你的方法能力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50">
                <a:solidFill>
                  <a:srgbClr val="202A36"/>
                </a:solidFill>
                <a:latin typeface="Microsoft YaHei"/>
              </a:defRPr>
            </a:pPr>
            <a:r>
              <a:t>evidence：是否有足够真实文献支持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931920"/>
            <a:ext cx="4892040" cy="137160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393192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059935"/>
            <a:ext cx="4617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主选题公式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443983"/>
            <a:ext cx="4590288" cy="7863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在 [具体情境] 中，[核心自变量/刺激/技术特征] 如何通过 [心理/认知/神经/组织机制] 影响 [结果变量]，并受到 [边界条件] 的影响？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10：建立理论机制链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234440" cy="292608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03020"/>
            <a:ext cx="10515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把最强研究问题转成理论解释，而不是只写变量关系。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theory/theory_mechanism_chain.md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理论要解释为什么 X 会影响 Y，以及什么时候关系更强或更弱。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18872" tIns="91440" bIns="73152"/>
          <a:lstStyle/>
          <a:p>
            <a:pPr algn="ctr">
              <a:lnSpc>
                <a:spcPct val="100000"/>
              </a:lnSpc>
              <a:defRPr sz="940">
                <a:solidFill>
                  <a:srgbClr val="EEF2F7"/>
                </a:solidFill>
                <a:latin typeface="Courier New"/>
              </a:defRPr>
            </a:pPr>
            <a:r>
              <a:t>基于最强研究问题，生成 theory/theory_mechanism_chain.md。</a:t>
            </a:r>
            <a:br/>
            <a:br/>
            <a:r>
              <a:t>请区分情境/刺激、理论、构念、变量、测量、机制和结果。</a:t>
            </a:r>
            <a:br/>
            <a:r>
              <a:t>说明理论为什么适配，也说明理论不能解释的边界。</a:t>
            </a:r>
            <a:br/>
            <a:r>
              <a:t>给出适合的研究设计：情景实验、问卷、EEG/ERP、文本挖掘、机器学习或因果推断。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理论不是只写名称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构念和变量被区分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每个变量有测量或操纵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理论边界被写出来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理论机制链模板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508760"/>
            <a:ext cx="3273552" cy="713232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636776"/>
            <a:ext cx="3200400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400" b="1">
                <a:solidFill>
                  <a:srgbClr val="202A36"/>
                </a:solidFill>
                <a:latin typeface="Microsoft YaHei"/>
              </a:defRPr>
            </a:pPr>
            <a:r>
              <a:t>情境/刺激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508760"/>
            <a:ext cx="3273552" cy="713232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636776"/>
            <a:ext cx="3200400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400" b="1">
                <a:solidFill>
                  <a:srgbClr val="202A36"/>
                </a:solidFill>
                <a:latin typeface="Microsoft YaHei"/>
              </a:defRPr>
            </a:pPr>
            <a:r>
              <a:t>心理/认知/神经机制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88536" y="1865376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90688" y="1508760"/>
            <a:ext cx="3273552" cy="713232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27263" y="1636776"/>
            <a:ext cx="3200400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400" b="1">
                <a:solidFill>
                  <a:srgbClr val="202A36"/>
                </a:solidFill>
                <a:latin typeface="Microsoft YaHei"/>
              </a:defRPr>
            </a:pPr>
            <a:r>
              <a:t>行为/态度/绩效结果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80959" y="1865376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22960" y="2788920"/>
          <a:ext cx="105613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114800"/>
                <a:gridCol w="5029200"/>
              </a:tblGrid>
              <a:tr h="480060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层次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示例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情境/刺激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研究中发生变化的场景或操纵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AI 解释透明度高/低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构念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理论层面的抽象概念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不确定性感知、信任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变量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可测量或可操纵指标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量表得分、行为选择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机制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为什么 X 会影响 Y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信息可解释性降低不确定性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最终被解释的行为或绩效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采纳意愿、任务表现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96112" y="5925312"/>
            <a:ext cx="10378440" cy="50292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" y="5925312"/>
            <a:ext cx="73152" cy="5029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6053328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底线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6437376"/>
            <a:ext cx="10076688" cy="-8229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如果理论不能解释机制，就不要把它写进论文。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11：生成假设组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234440" cy="292608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03020"/>
            <a:ext cx="10515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把理论机制链转成可检验假设，并标明测量、设计和分析方法。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hypotheses/hypothesis_set.md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中介和调节不是越多越好。没有理论依据的复杂模型会增加审稿风险。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18872" tIns="91440" bIns="73152"/>
          <a:lstStyle/>
          <a:p>
            <a:pPr algn="ctr">
              <a:lnSpc>
                <a:spcPct val="100000"/>
              </a:lnSpc>
              <a:defRPr sz="940">
                <a:solidFill>
                  <a:srgbClr val="EEF2F7"/>
                </a:solidFill>
                <a:latin typeface="Courier New"/>
              </a:defRPr>
            </a:pPr>
            <a:r>
              <a:t>基于 theory/theory_mechanism_chain.md，生成 hypotheses/hypothesis_set.md。</a:t>
            </a:r>
            <a:br/>
            <a:br/>
            <a:r>
              <a:t>每个假设包括：假设文本、机制解释、文献支持、测量/操纵、分析方法、因果语言风险。</a:t>
            </a:r>
            <a:br/>
            <a:r>
              <a:t>只写理论必要的中介和调节，不要为了复杂而添加。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假设不是变量关系口号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每个假设有机制解释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每个假设有检验方法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没有滥用因果语言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假设质量检查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63040"/>
          <a:ext cx="10652759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749039"/>
                <a:gridCol w="5440680"/>
              </a:tblGrid>
              <a:tr h="630936">
                <a:tc>
                  <a:txBody>
                    <a:bodyPr/>
                    <a:lstStyle/>
                    <a:p>
                      <a:pPr algn="l">
                        <a:defRPr sz="10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不合格写法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修改方向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只有关系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X 正向影响 Y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写清为什么影响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中介硬塞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X 通过 M 影响 Y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说明 M 为什么是过程机制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调节硬塞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W 调节 X 与 Y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说明 W 为什么改变关系强度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因果过度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问卷证明 X 导致 Y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改成关联，或补实验/识别策略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4983480"/>
            <a:ext cx="10378440" cy="8686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18872" tIns="91440" bIns="73152"/>
          <a:lstStyle/>
          <a:p>
            <a:pPr algn="ctr">
              <a:lnSpc>
                <a:spcPct val="100000"/>
              </a:lnSpc>
              <a:defRPr sz="1100">
                <a:solidFill>
                  <a:srgbClr val="EEF2F7"/>
                </a:solidFill>
                <a:latin typeface="Courier New"/>
              </a:defRPr>
            </a:pPr>
            <a:r>
              <a:t>较弱：AI 透明度正向影响用户信任。</a:t>
            </a:r>
            <a:br/>
            <a:br/>
            <a:r>
              <a:t>较好：AI 透明度通过降低用户对算法决策过程的不确定性感知，提高用户对 AI 建议的信任。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12：生成综述提纲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234440" cy="292608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03020"/>
            <a:ext cx="10515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把前面的文献树、缺口和机制链转成可以写论文的综述结构。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review/synthesis_outline.md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综述提纲是后续写 Introduction 和 Literature Review 的骨架。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18872" tIns="91440" bIns="73152"/>
          <a:lstStyle/>
          <a:p>
            <a:pPr algn="ctr">
              <a:lnSpc>
                <a:spcPct val="100000"/>
              </a:lnSpc>
              <a:defRPr sz="940">
                <a:solidFill>
                  <a:srgbClr val="EEF2F7"/>
                </a:solidFill>
                <a:latin typeface="Courier New"/>
              </a:defRPr>
            </a:pPr>
            <a:r>
              <a:t>基于 review/literature_tree.md、review/research_gap_audit.md 和 theory/theory_mechanism_chain.md，生成 review/synthesis_outline.md。</a:t>
            </a:r>
            <a:br/>
            <a:br/>
            <a:r>
              <a:t>综述提纲按以下逻辑组织：研究现象与核心问题、已有理论解释、关键变量与机制、方法和证据类型、争议与不足、我的研究如何进入这个缺口。</a:t>
            </a:r>
            <a:br/>
            <a:r>
              <a:t>不要按年份写，不要逐篇摘要。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提纲有问题推进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每一节服务于研究问题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不是按作者年份堆材料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最后能自然引出自己的研究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13：生成一页研究方案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234440" cy="292608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03020"/>
            <a:ext cx="10515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把选题压缩成导师能快速判断的一页方案。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proposal/one_page_research_proposal.md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一页方案不是摘要，而是决策文件。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18872" tIns="91440" bIns="73152"/>
          <a:lstStyle/>
          <a:p>
            <a:pPr algn="ctr">
              <a:lnSpc>
                <a:spcPct val="100000"/>
              </a:lnSpc>
              <a:defRPr sz="940">
                <a:solidFill>
                  <a:srgbClr val="EEF2F7"/>
                </a:solidFill>
                <a:latin typeface="Courier New"/>
              </a:defRPr>
            </a:pPr>
            <a:r>
              <a:t>基于前面所有输出，生成 proposal/one_page_research_proposal.md。</a:t>
            </a:r>
            <a:br/>
            <a:br/>
            <a:r>
              <a:t>必须包含：中文英文题目、一句话研究问题、重要性、文献缺口、理论机制、研究模型、假设组、研究设计、数据与分析方法、预期贡献、最大风险、下一步计划。</a:t>
            </a:r>
            <a:br/>
            <a:r>
              <a:t>控制在 1-2 页，所有引用标注已核验或待核验。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导师 3 分钟能判断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缺口具体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理论机制支撑假设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方法可执行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风险没有被隐藏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一页研究方案结构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53312"/>
          <a:ext cx="1065276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732520"/>
              </a:tblGrid>
              <a:tr h="533400"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必须回答的问题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题目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研究对象、机制、场景是否清楚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研究问题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一句话能否说明要解释什么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重要性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为什么值得研究，不只是“有意义”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文献缺口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现有研究哪里解释不足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理论机制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为什么 X 影响 Y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研究模型/假设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关系是否可检验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研究设计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实验、问卷、EEG/ERP、文本、建模或因果推断怎么做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最大审稿风险和下一步补救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14：导师前审计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234440" cy="292608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03020"/>
            <a:ext cx="10515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在交给导师前，让 Agent 用严格审稿人标准挑问题。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qc/gap_and_theory_audit.md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不要害怕审计结果难看。现在暴露问题比投稿后暴露问题成本低。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18872" tIns="91440" bIns="73152"/>
          <a:lstStyle/>
          <a:p>
            <a:pPr algn="ctr">
              <a:lnSpc>
                <a:spcPct val="100000"/>
              </a:lnSpc>
              <a:defRPr sz="940">
                <a:solidFill>
                  <a:srgbClr val="EEF2F7"/>
                </a:solidFill>
                <a:latin typeface="Courier New"/>
              </a:defRPr>
            </a:pPr>
            <a:r>
              <a:t>以严格审稿人和导师视角，基于 proposal/one_page_research_proposal.md，生成 qc/gap_and_theory_audit.md。</a:t>
            </a:r>
            <a:br/>
            <a:br/>
            <a:r>
              <a:t>检查：研究问题是否过大、缺口是否成立、是否只是换情境、理论是否解释机制、构念变量测量是否一致、假设是否可检验、方法能否支持因果语言、文献是否真实、贡献是否夸大。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列出致命问题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列出重要问题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列出可修改问题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80">
                <a:solidFill>
                  <a:srgbClr val="202A36"/>
                </a:solidFill>
                <a:latin typeface="Microsoft YaHei"/>
              </a:defRPr>
            </a:pPr>
            <a:r>
              <a:t>给出下一步行动清单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引用真实性核验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486400" cy="210312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任何引用进入正文前必须核验：题名、作者、年份、期刊、DOI 或出版页面。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可用链路：Ai4Scholar、AMiner、OpenAlex、Zotero、期刊官网、DOI 页面。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BibTeX 只说明格式，不自动证明文献真实。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无法核验时，标注“待核验”，不能写成确定事实。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481328"/>
            <a:ext cx="4663440" cy="20574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18872" tIns="91440" bIns="73152"/>
          <a:lstStyle/>
          <a:p>
            <a:pPr algn="ctr">
              <a:lnSpc>
                <a:spcPct val="100000"/>
              </a:lnSpc>
              <a:defRPr sz="950">
                <a:solidFill>
                  <a:srgbClr val="EEF2F7"/>
                </a:solidFill>
                <a:latin typeface="Courier New"/>
              </a:defRPr>
            </a:pPr>
            <a:r>
              <a:t># qc/citation_reality_check.md</a:t>
            </a:r>
            <a:br/>
            <a:br/>
            <a:r>
              <a:t>| citation_key | title | DOI | platform_checked | status | issue |</a:t>
            </a:r>
            <a:br/>
            <a:r>
              <a:t>|---|---|---|---|---|---|</a:t>
            </a:r>
            <a:br/>
            <a:r>
              <a:t>|  |  |  | Ai4Scholar / AMiner / OpenAlex / DOI | verified/pending/error |  |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206240"/>
            <a:ext cx="10332720" cy="73152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4206240"/>
            <a:ext cx="73152" cy="7315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334255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课堂底线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718304"/>
            <a:ext cx="10030968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模型不能凭记忆生成参考文献。凡是查不到来源的引用，都不能作为真实文献使用。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257800"/>
            <a:ext cx="10332720" cy="64008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5257800"/>
            <a:ext cx="73152" cy="64008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385816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学生动作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769864"/>
            <a:ext cx="10030968" cy="548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把所有 proposal 中出现的引用复制到 qc/citation_reality_check.md，逐条核验。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课堂示范：模糊想法如何压缩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3840480" cy="86868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417320"/>
            <a:ext cx="73152" cy="8686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45336"/>
            <a:ext cx="3566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原始想法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9384"/>
            <a:ext cx="3538728" cy="283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202A36"/>
                </a:solidFill>
                <a:latin typeface="Microsoft YaHei"/>
              </a:defRPr>
            </a:pPr>
            <a:r>
              <a:t>我想研究 AI Agent 对科研效率的影响。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38404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651760"/>
            <a:ext cx="73152" cy="10058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79776"/>
            <a:ext cx="3566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主要问题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63824"/>
            <a:ext cx="3538728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对象泛、场景泛、结果变量泛、没有机制、没有可检验设计。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417320"/>
            <a:ext cx="6080760" cy="132588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1417320"/>
            <a:ext cx="73152" cy="132588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1545336"/>
            <a:ext cx="5806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压缩后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1929384"/>
            <a:ext cx="5779008" cy="74066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在文献筛选任务中，AI Agent 的解释透明度是否通过降低不确定性感知并提升信任，增加博士生采纳 AI 推荐文献的意愿？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3154680"/>
            <a:ext cx="6080760" cy="123444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315468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3282696"/>
            <a:ext cx="5806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方法化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666744"/>
            <a:ext cx="5779008" cy="6492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高解释透明度 vs. 低解释透明度；测量不确定性感知、信任、采纳意愿和实际采纳行为；使用中介模型检验机制。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937760"/>
            <a:ext cx="10287000" cy="77724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4937760"/>
            <a:ext cx="73152" cy="77724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065776"/>
            <a:ext cx="10012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仍需核验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449824"/>
            <a:ext cx="9985248" cy="19202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已有研究是否已经覆盖解释透明度—信任—采纳；科研任务是否真正改变机制；量表和行为指标是否有效。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如果加入 EEG/ERP 怎么处理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5074920" cy="123444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417320"/>
            <a:ext cx="73152" cy="123444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45336"/>
            <a:ext cx="48006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可以做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9384"/>
            <a:ext cx="4773168" cy="6492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把解释透明度、冲突信息、风险提示等设计成刺激材料；记录判断过程中的认知负荷、冲突加工或注意分配相关指标。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074920" cy="100584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73152" cy="10058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45336"/>
            <a:ext cx="48006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不能做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29384"/>
            <a:ext cx="4773168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不能把脑电指标当作装饰。必须说明 EEG/ERP 指标与心理机制之间的理论对应。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68680" y="3063240"/>
          <a:ext cx="1037844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092440"/>
              </a:tblGrid>
              <a:tr h="521208">
                <a:tc>
                  <a:txBody>
                    <a:bodyPr/>
                    <a:lstStyle/>
                    <a:p>
                      <a:pPr algn="l">
                        <a:defRPr sz="10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需要补充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机制是什么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认知负荷、冲突监测、注意分配、奖赏/风险加工等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指标为什么相关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用真实神经科学文献说明，不凭感觉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任务是否可行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刺激时长、试次数、伪迹、反应方式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统计如何报告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ERP/时频/行为指标与假设一一对应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常见错误与修正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71600"/>
          <a:ext cx="10744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657600"/>
                <a:gridCol w="498348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错误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后果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直接写综述正文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掩盖证据不足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先证据表和文献树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缺口写“研究较少”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审稿人不认可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说明现有解释哪里不足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理论只写名称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无法支撑假设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写理论命题和机制链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硬加中介调节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模型复杂但不可信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只保留理论必要关系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编造文献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学术风险严重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逐条核验引用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问卷写因果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方法与结论不匹配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改语言或补实验/识别策略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课后提交要求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16002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提交文件夹：姓名_第05讲_综述理论与研究问题生成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必须包含 review/、theory/、hypotheses/、proposal/、qc/ 和 research_log.md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必须附 300 字反思：原始想法哪里被文献树、缺口审计或理论机制链修正了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未核验引用必须保留“待核验”标记，不能改成确定引用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65960" y="3474720"/>
          <a:ext cx="8092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2057400"/>
              </a:tblGrid>
              <a:tr h="335280">
                <a:tc>
                  <a:txBody>
                    <a:bodyPr/>
                    <a:lstStyle/>
                    <a:p>
                      <a:pPr algn="l">
                        <a:defRPr sz="11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评分项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证据表与引用真实性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文献树与流派争议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缺口审计质量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理论机制与假设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一页方案与反思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60120" y="5806440"/>
            <a:ext cx="10195560" cy="566928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5806440"/>
            <a:ext cx="73152" cy="566928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934455"/>
            <a:ext cx="9921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最低合格线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318504"/>
            <a:ext cx="9893808" cy="-182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能清楚说明：我的研究问题是什么，已有文献哪里不足，我用什么理论解释，准备用什么方法检验。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011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05 讲 · 实操版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教师课堂收尾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241280" cy="105156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36776"/>
            <a:ext cx="99669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今天真正完成的事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20824"/>
            <a:ext cx="993952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不是让 AI 替你写综述，而是让 Agent 帮你把模糊想法压缩成可讨论、可核验、可检验的研究方案。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361149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328416"/>
            <a:ext cx="1287997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202A36"/>
                </a:solidFill>
                <a:latin typeface="Microsoft YaHei"/>
              </a:defRPr>
            </a:pPr>
            <a:r>
              <a:t>读文献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94421" y="3200400"/>
            <a:ext cx="1361149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30997" y="3328416"/>
            <a:ext cx="1287997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202A36"/>
                </a:solidFill>
                <a:latin typeface="Microsoft YaHei"/>
              </a:defRPr>
            </a:pPr>
            <a:r>
              <a:t>建结构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4693" y="352044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4443" y="3200400"/>
            <a:ext cx="1361149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1019" y="3328416"/>
            <a:ext cx="1287997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202A36"/>
                </a:solidFill>
                <a:latin typeface="Microsoft YaHei"/>
              </a:defRPr>
            </a:pPr>
            <a:r>
              <a:t>找缺口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64715" y="352044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54465" y="3200400"/>
            <a:ext cx="1361149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1041" y="3328416"/>
            <a:ext cx="1287997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202A36"/>
                </a:solidFill>
                <a:latin typeface="Microsoft YaHei"/>
              </a:defRPr>
            </a:pPr>
            <a:r>
              <a:t>审缺口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44737" y="352044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34486" y="3200400"/>
            <a:ext cx="1361149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1062" y="3328416"/>
            <a:ext cx="1287997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202A36"/>
                </a:solidFill>
                <a:latin typeface="Microsoft YaHei"/>
              </a:defRPr>
            </a:pPr>
            <a:r>
              <a:t>讲机制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24758" y="352044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14508" y="3200400"/>
            <a:ext cx="1361149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1084" y="3328416"/>
            <a:ext cx="1287997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202A36"/>
                </a:solidFill>
                <a:latin typeface="Microsoft YaHei"/>
              </a:defRPr>
            </a:pPr>
            <a:r>
              <a:t>写假设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04780" y="352044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94530" y="3200400"/>
            <a:ext cx="1361149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31106" y="3328416"/>
            <a:ext cx="1287997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202A36"/>
                </a:solidFill>
                <a:latin typeface="Microsoft YaHei"/>
              </a:defRPr>
            </a:pPr>
            <a:r>
              <a:t>成方案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84802" y="352044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14400" y="4736592"/>
            <a:ext cx="10241280" cy="86868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4736592"/>
            <a:ext cx="73152" cy="86868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864607"/>
            <a:ext cx="99669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248656"/>
            <a:ext cx="9939528" cy="283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202A36"/>
                </a:solidFill>
                <a:latin typeface="Microsoft YaHei"/>
              </a:defRPr>
            </a:pPr>
            <a:r>
              <a:t>补真实文献核验，修改被审计指出的问题，把一页方案交给导师或同伴做第二轮评审。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Public Release</cp:lastModifiedBy>
  <cp:revision>1</cp:revision>
  <dcterms:created xsi:type="dcterms:W3CDTF">2013-01-27T09:14:16Z</dcterms:created>
  <dcterms:modified xsi:type="dcterms:W3CDTF">2013-01-27T09:15:58Z</dcterms:modified>
  <cp:category/>
</cp:coreProperties>
</file>