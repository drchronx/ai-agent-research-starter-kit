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2011680" cy="18745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真实文献检索</a:t>
            </a:r>
            <a:br/>
            <a:r>
              <a:t>引用核验</a:t>
            </a:r>
            <a:br/>
            <a:r>
              <a:t>平台联动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115568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800" b="1">
                <a:solidFill>
                  <a:srgbClr val="1F2933"/>
                </a:solidFill>
                <a:latin typeface="Microsoft YaHei"/>
              </a:defRPr>
            </a:pPr>
            <a:r>
              <a:t>AMiner · AI4Scholar · BibTeX · PDF · 飞书文献日报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7955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5B6770"/>
                </a:solidFill>
                <a:latin typeface="Microsoft YaHei"/>
              </a:defRPr>
            </a:pPr>
            <a:r>
              <a:t>真实文献、自动引用、学者画像、科学画图、目标期刊 PDF 下载与团队协作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检索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672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7824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核验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8368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3224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376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BibTeX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6920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51775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PDF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471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0327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3479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日报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74023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8879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031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飞书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42575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4251960"/>
            <a:ext cx="8001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2519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389120"/>
            <a:ext cx="7744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818888"/>
            <a:ext cx="7708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candidate_papers.xlsx、verified_references.bib、pdf_download_log.xlsx、daily report、AMiner scholar profile、sci_draw prompt、飞书表字段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这节课解决什么科研问题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577840" cy="34747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让 AI 找真实文献，而不是编造引用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生成可核验 BibTeX，并做句子级支持复核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按目标期刊和主题追踪新论文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合法下载开放 PDF 或已有权限全文到本地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用 AMiner 做学者画像、同名消歧和团队分析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用 AI4Scholar sci_draw 生成科研机制图或流程图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把每日文献日报同步到飞书表格，服务课题组协作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45920"/>
            <a:ext cx="4526280" cy="150876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64592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78308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本讲核心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212848"/>
            <a:ext cx="4233672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文献工作流必须有证据链：检索来源、稳定 ID、BibTeX、PDF 状态、人工核验、日志。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03320"/>
            <a:ext cx="4526280" cy="114300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703320"/>
            <a:ext cx="73152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84048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4270248"/>
            <a:ext cx="4233672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没有 DOI/ID/URL/平台证据的文献，不能写成已核验。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本讲固定模板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41248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第三讲怎么落实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科研问题和需求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真实文献、BibTeX、PDF、日报、学者画像、飞书联动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需要哪些 Skills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AI4Scholar、AMiner、OpenAlex、citation、lark-sheets、pdf/xlsx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输入材料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主题、关键词、种子论文、目标期刊、学者、平台凭据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怎么执行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检索、核验、下载、制表、日报、同步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candidate_papers、bib、pdf log、daily report、scholar profile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引用支持、元数据、同名学者、PDF 合法性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课后作业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 篇候选、10 条 BibTeX、5 个 PDF、1 份日报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第三讲开始，文献输出必须能被导师或审稿人追溯。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真实文献生产线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检索式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1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真实平台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7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13248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元数据核验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66944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04304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7456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BibTeX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59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PDF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49055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86415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9567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日报/飞书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40111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697480"/>
            <a:ext cx="73152" cy="1188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研究主题、关键词、种子论文、目标期刊、目标学者、时间范围。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26974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AI4Scholar、AMiner、OpenAlex、Semantic Scholar、PubMed、arXiv、CNKI。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2697480"/>
            <a:ext cx="73152" cy="1188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候选文献表、BibTeX、PDF、文献日报、飞书表格、学者画像。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Microsoft YaHei"/>
              </a:defRPr>
            </a:pPr>
            <a:r>
              <a:t>模型负责组织流程，平台负责提供证据，人工负责最终核验。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平台功能侧重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99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52628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最擅长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本讲用途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论文级检索、详情、引用网络、PDF、auto_cite、sci_draw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找真实论文、BibTeX、PDF、画图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学者画像、机构团队、同名消歧、专利、知识图谱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专家发现和学者核验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OpenAlex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开放学术元数据、趋势、引用信息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交叉核验和批量元数据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Semantic Scholar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AI/CS/认知科学、开放 PDF 链接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补充检索和 PDF 来源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PubMed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医学、神经科学、心理生理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神经科学/BCI 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飞书表格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团队协作、筛选、任务跟踪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每日文献日报和核验表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75320"/>
              </a:tblGrid>
              <a:tr h="498348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总入口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ai4scholar-research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论文搜索/详情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ai4scholar-paper-search, ai4scholar-paper-detail-batch, academic-research-openalex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引用网络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ai4scholar-citation-network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PDF/全文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ai4scholar-pdf-fulltext-reading, pdf, markitdown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BibTeX/自动引用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ai4scholar-auto-citation-bibtex, citation-management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学者画像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aminer-mcp-research, ai4scholar-author-intelligence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文献推荐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ai4scholar-paper-recommendation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科学画图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ai4scholar-sci-draw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飞书联动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lark-sheets, lark-base, lark-doc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工作区结构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303520" cy="498348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50">
                <a:solidFill>
                  <a:srgbClr val="EBEFF5"/>
                </a:solidFill>
                <a:latin typeface="Courier New"/>
              </a:defRPr>
            </a:pPr>
            <a:r>
              <a:t>第03讲_真实文献工作区/</a:t>
            </a:r>
            <a:br/>
            <a:r>
              <a:t>├─ AGENTS.md</a:t>
            </a:r>
            <a:br/>
            <a:r>
              <a:t>├─ configs/mcp.example.json</a:t>
            </a:r>
            <a:br/>
            <a:r>
              <a:t>├─ skills/</a:t>
            </a:r>
            <a:br/>
            <a:r>
              <a:t>├─ literature/</a:t>
            </a:r>
            <a:br/>
            <a:r>
              <a:t>│  ├─ search_strategy.md</a:t>
            </a:r>
            <a:br/>
            <a:r>
              <a:t>│  ├─ candidate_papers.xlsx</a:t>
            </a:r>
            <a:br/>
            <a:r>
              <a:t>│  ├─ verified_references.bib</a:t>
            </a:r>
            <a:br/>
            <a:r>
              <a:t>│  ├─ bibtex_audit.md</a:t>
            </a:r>
            <a:br/>
            <a:r>
              <a:t>│  ├─ pdfs/</a:t>
            </a:r>
            <a:br/>
            <a:r>
              <a:t>│  ├─ pdf_download_log.xlsx</a:t>
            </a:r>
            <a:br/>
            <a:r>
              <a:t>│  ├─ daily_reports/</a:t>
            </a:r>
            <a:br/>
            <a:r>
              <a:t>│  └─ aminer_scholar_profiles.md</a:t>
            </a:r>
            <a:br/>
            <a:r>
              <a:t>├─ figures/</a:t>
            </a:r>
            <a:br/>
            <a:r>
              <a:t>├─ feishu/</a:t>
            </a:r>
            <a:br/>
            <a:r>
              <a:t>├─ qc/</a:t>
            </a:r>
            <a:br/>
            <a:r>
              <a:t>└─ research_log.md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09160" cy="2514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literature：文献、PDF、BibTeX、日报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figures：sci_draw 提示词和图形审查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feishu：飞书字段和待写入数据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qc：人工核验清单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configs：只放示例，不放真实密钥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4754880"/>
            <a:ext cx="4709160" cy="8229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4754880"/>
            <a:ext cx="7315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4892040"/>
            <a:ext cx="44531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关键原则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321808"/>
            <a:ext cx="441655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每个文献条目都必须有来源、ID、状态和下一步动作。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MCP 配置：AI4Scholar 与 AMiner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669280" cy="44805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{</a:t>
            </a:r>
            <a:br/>
            <a:r>
              <a:t>  "mcpServers": {</a:t>
            </a:r>
            <a:br/>
            <a:r>
              <a:t>    "ai4scholar": {</a:t>
            </a:r>
            <a:br/>
            <a:r>
              <a:t>      "url": "https://mcp.ai4scholar.net/sse",</a:t>
            </a:r>
            <a:br/>
            <a:r>
              <a:t>      "headers": {</a:t>
            </a:r>
            <a:br/>
            <a:r>
              <a:t>        "Authorization": "Bearer ${AI4SCHOLAR_API_KEY}"</a:t>
            </a:r>
            <a:br/>
            <a:r>
              <a:t>      }</a:t>
            </a:r>
            <a:br/>
            <a:r>
              <a:t>    },</a:t>
            </a:r>
            <a:br/>
            <a:r>
              <a:t>    "aminer": {</a:t>
            </a:r>
            <a:br/>
            <a:r>
              <a:t>      "url": "https://mcp.aminer.cn/sse",</a:t>
            </a:r>
            <a:br/>
            <a:r>
              <a:t>      "headers": {</a:t>
            </a:r>
            <a:br/>
            <a:r>
              <a:t>        "Authorization": "Bearer ${AMINER_MCP_TOKEN}"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45920"/>
            <a:ext cx="4251960" cy="25603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真实 Token 只放环境变量或私有配置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配置后重启 Agent 或 gateway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先 list tools，再按实际 schema 调用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MCP 不可用时输出手动查询计划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不要编造工具返回结果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检索策略：先写检索式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577840" cy="132588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("AI agent" OR "LLM agent" OR "autonomous agent")</a:t>
            </a:r>
            <a:br/>
            <a:r>
              <a:t>AND ("literature review" OR "scholarly search" OR "research workflow")</a:t>
            </a:r>
            <a:br/>
            <a:r>
              <a:t>AND ("human-AI collaboration" OR "scientific discovery")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08760"/>
            <a:ext cx="4434840" cy="19659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至少 4 条英文检索式和 2 条中文检索式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覆盖理论、方法、数据和应用场景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限定时间范围、目标期刊或数据库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不要检索前就编造论文清单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3886200"/>
          <a:ext cx="107899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0"/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literature/search_strategy.md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topic, query, source, time_range, screening_criteria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检索式是否过窄、过宽或只含流行词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候选文献表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270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92440"/>
              </a:tblGrid>
              <a:tr h="5232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title / authors / year / venue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基础元数据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DOI_or_ID / url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核验路径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abstract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初筛依据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source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/ OpenAlex / PubMed / arXiv 等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relevance_score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1-5 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method_tag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experiment / EEG / ML / text mining / review 等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verification_status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unverified / partial / verified / rejected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next_action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read / cite / download_pdf / check_author / ignore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08076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没有稳定 ID 的文献不是不能用，但必须明确标注“需人工核验”。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怎么让 AI 生成真实 BibTeX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句子拆分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7272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0424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判断需引用主张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0968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3024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auto_cite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36720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08776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生成 BibTeX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2472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34528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680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元数据核验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8224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60280" y="1417320"/>
            <a:ext cx="1661160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343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支持强度核验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13976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2606040"/>
            <a:ext cx="10561320" cy="1143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Use AI4Scholar auto_cite to add APA 7th citations.</a:t>
            </a:r>
            <a:br/>
            <a:r>
              <a:t>Return cited text, references, BibTeX, and a sentence-level citation-support audit table.</a:t>
            </a:r>
            <a:br/>
            <a:r>
              <a:t>Do not add citations to claims that cannot be supported.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51960"/>
            <a:ext cx="10561320" cy="9601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25196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89120"/>
            <a:ext cx="10305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核心规则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18888"/>
            <a:ext cx="10268712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auto_cite 可以降低假引用风险，但不能替代人工复核。每条引用要检查 DOI 和句子支持关系。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BibTeX 复核表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核验项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title_match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题名是否与 DOI 页面一致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authors_match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作者和顺序是否一致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year_match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在线优先和正式出版年份是否区分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venue_match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期刊/会议是否真实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DOI_match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 是否属于同一篇论文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required_fields_missing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journal, volume, number, pages, doi 是否缺失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support_strength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引用是否真正支撑对应句子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Microsoft YaHei"/>
              </a:defRPr>
            </a:pPr>
            <a:r>
              <a:t>通过元数据核验，不等于通过句子支持核验。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句子级引用支持核验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669280"/>
                <a:gridCol w="3108960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支持强度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动作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strong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论文直接支持该句具体主张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保留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partial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支持相近主张，但不完全对应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修改句子或替换引用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weak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只相关，不足以支撑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替换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reject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不支持或错引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删除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709160"/>
            <a:ext cx="10149840" cy="12344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方法论文不能随便支持理论机制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综述论文不能替代关键一手证据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预印本不能写成已发表论文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引用支持的是“句子”，不是段落气氛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目标期刊 PDF 自动下载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目标期刊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7272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0424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检索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10968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3024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核验 DOI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36720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08776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开放 PDF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2472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34528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680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下载本地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88224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60280" y="1417320"/>
            <a:ext cx="1661160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3432" y="1545336"/>
            <a:ext cx="1514856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日志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13976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2606040"/>
            <a:ext cx="4983480" cy="24688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优先：arXiv / bioRxiv / medRxiv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然后：Semantic Scholar open-access PDF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然后：publisher open-access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最后：DOI access when institutional access permits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不可用：记录 failure，不绕过付费墙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697480"/>
            <a:ext cx="4892040" cy="86868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69748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834640"/>
            <a:ext cx="46360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本地命名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264408"/>
            <a:ext cx="4599431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literature/pdfs/{year}_{first_author}_{short_title}.pdf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977639"/>
            <a:ext cx="4892040" cy="10515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977639"/>
            <a:ext cx="73152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114800"/>
            <a:ext cx="46360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失败日志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544568"/>
            <a:ext cx="4599431" cy="39319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记录 DOI、URL、尝试路径、失败原因和下一步动作。无法下载不是失败，没记录才是失败。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PDF 下载日志字段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7955279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paper_id / title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论文编号和标题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authors / year / venue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基础元数据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核验标识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access_route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arXiv / Semantic Scholar OA / DOI / publisher OA / unavailable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pdf_status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downloaded / failed / no_access / unreadable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local_path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本地保存路径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extraction_quality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good / partial / poor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manual_check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需人工核验项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每日文献日报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303520" cy="29260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追踪关键词、目标期刊、目标学者和研究团队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标注今日新增论文、PDF 状态、BibTeX 状态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选出最值得读的 3-5 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列出人工核验项和明日追踪任务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同步到飞书表格后用于导师组或课题组协作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48463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</a:tblGrid>
              <a:tr h="55626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日报模块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新增论文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title, authors, venue, DOI, relevance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重点阅读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why_read, method, possible_use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学者动态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evidence, coauthor network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PDF/BibTeX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download, bibtex, verification status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明日任务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read / cite / download / check author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飞书表格联动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916582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45336"/>
            <a:ext cx="1770278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本地日报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5574" y="1417320"/>
            <a:ext cx="1916582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8726" y="1545336"/>
            <a:ext cx="1770278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字段清洗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49270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6748" y="1417320"/>
            <a:ext cx="1916582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9900" y="1545336"/>
            <a:ext cx="1770278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lark-sheets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0444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57923" y="1417320"/>
            <a:ext cx="1916582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1075" y="1545336"/>
            <a:ext cx="1770278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飞书表格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11619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9097" y="1417320"/>
            <a:ext cx="1916582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2249" y="1545336"/>
            <a:ext cx="1770278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筛选协作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2793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2423160"/>
            <a:ext cx="10789920" cy="15087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lark-cli sheets +create --title "AI Agent 科研每日文献日报" --headers "report_date,topic,query,source,title,authors,year,venue,DOI,url,relevance_score,pdf_status,bibtex_status,verification_status,next_action"</a:t>
            </a:r>
            <a:br/>
            <a:br/>
            <a:r>
              <a:t>lark-cli sheets +append --spreadsheet-token "&lt;spreadsheet_token&gt;" --sheet-id "&lt;sheet_id&gt;" --values "&lt;json rows&gt;"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34840"/>
            <a:ext cx="10195560" cy="8686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434840"/>
            <a:ext cx="73152" cy="868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57200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001768"/>
            <a:ext cx="9902952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飞书表格不写 API Key，不公开机构权限 PDF，不把未核验状态改成已确认。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飞书文献表字段设计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178040"/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report_date / topic / query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日报日期、主题、检索式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source / title / authors / year / venue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来源和基础信息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 / url / abstract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核验和初筛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relevance_score / method_tag / theory_tag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筛选和分类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pdf_status / pdf_local_path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获取状态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bibtex_status / verification_status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引用和元数据状态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manual_check_notes / next_action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人工核验和下一步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AMiner 学者画像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5486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5232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Query target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姓名、机构、研究领域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evidence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返回证据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Cross-check evidence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AI4Scholar / OpenAlex / 官网 / ORCID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Likely identity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是否为目标学者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Representative papers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代表作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Patents or outputs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专利或应用成果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Coauthor network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合作者和机构网络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Unverified items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待核验项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691640"/>
            <a:ext cx="4526280" cy="20574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中文同名非常常见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不能把第一条结果直接当目标学者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必须用机构、领域、代表作和合作者消歧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不要用 h-index 或引用量单独判断质量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4343400"/>
            <a:ext cx="4526280" cy="82296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434340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448056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课堂用途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4910328"/>
            <a:ext cx="423367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专家发现、审稿人分析、团队画像、研究趋势判断。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AI4Scholar sci_draw 画图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257800" cy="28346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适合：机制图、实验流程图、BCI pipeline、EEG/ERP 流程、图形摘要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不适合：编造数据结果、脑区激活、统计显著性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真实数据图先用 Python/R 画，再用 sci_draw 做机制图或风格润色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每次生成都要保留提示词、版本和审查记录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937760" cy="2971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080">
                <a:solidFill>
                  <a:srgbClr val="EBEFF5"/>
                </a:solidFill>
                <a:latin typeface="Courier New"/>
              </a:defRPr>
            </a:pPr>
            <a:r>
              <a:t>Use AI4Scholar sci_draw to generate a publication-style scientific figure.</a:t>
            </a:r>
            <a:br/>
            <a:r>
              <a:t>Figure type: mechanism diagram / workflow / BCI pipeline / EEG experiment procedure</a:t>
            </a:r>
            <a:br/>
            <a:r>
              <a:t>Research topic:</a:t>
            </a:r>
            <a:br/>
            <a:r>
              <a:t>Required elements:</a:t>
            </a:r>
            <a:br/>
            <a:r>
              <a:t>Forbidden elements:</a:t>
            </a:r>
            <a:br/>
            <a:r>
              <a:t>Language:</a:t>
            </a:r>
            <a:br/>
            <a:r>
              <a:t>Style:</a:t>
            </a:r>
            <a:br/>
            <a:r>
              <a:t>Output requirement: PNG / SVG / editable vector preferred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10195560" cy="7772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800600"/>
            <a:ext cx="73152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93776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审查重点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367528"/>
            <a:ext cx="990295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科学准确、标签正确、逻辑清楚、无虚构数据、适合目标论文或汇报。</a:t>
            </a:r>
          </a:p>
        </p:txBody>
      </p:sp>
    </p:spTree>
  </p:cSld>
  <p:clrMapOvr>
    <a:masterClrMapping/>
  </p:clrMapOvr>
</p:sld>
</file>

<file path=ppt/slides/slide2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03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21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课堂实操 1：创建工作区与复制 Skills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685800" y="1325880"/><a:ext cx="11064240" cy="379476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950"><a:solidFill><a:srgbClr val="EBEFF5"/></a:solidFill><a:latin typeface="Courier New"/></a:defRPr></a:pPr><a:r><a:t>New-Item -ItemType Directory -Force -Path "D:\AI科研训练营\第03讲_真实文献工作区"</a:t></a:r><a:br/><a:r><a:t>cd "D:\AI科研训练营\第03讲_真实文献工作区"</a:t></a:r><a:br/><a:r><a:t>New-Item -ItemType Directory -Force -Path skills,literature,figures,feishu,configs,output,qc</a:t></a:r><a:br/><a:r><a:t>New-Item -ItemType Directory -Force -Path literature\pdfs,literature\bib,literature\daily_reports,literature\search_logs</a:t></a:r><a:br/><a:br/><a:r><a:t>cd "<本项目路径>\本地Skills功能分类库"</a:t></a:r><a:br/><a:r><a:t>copy_skill_to_workspace.ps1 -SkillName ai4scholar-research,ai4scholar-paper-search,ai4scholar-paper-detail-batch,ai4scholar-pdf-fulltext-reading,ai4scholar-auto-citation-bibtex,aminer-mcp-research,citation-management,pdf,markitdown,xlsx -Workspace "D:\AI科研训练营\第03讲_真实文献工作区"</a:t></a:r></a:p></p:txBody></p:sp><p:sp><p:nvSpPr><p:cNvPr id="8" name="TextBox 7"/><p:cNvSpPr txBox="1"/><p:nvPr/></p:nvSpPr><p:spPr><a:xfrm><a:off x="822960" y="5623560"/><a:ext cx="10332720" cy="320040"/></a:xfrm><a:prstGeom prst="rect"><a:avLst/></a:prstGeom><a:noFill/></p:spPr><p:txBody><a:bodyPr wrap="square" lIns="45720" rIns="45720" tIns="27432" bIns="27432" anchor="t"><a:spAutoFit/></a:bodyPr><a:lstStyle/><a:p><a:pPr algn="ctr"><a:defRPr sz="1500" b="1"><a:solidFill><a:srgbClr val="B45309"/></a:solidFill><a:latin typeface="Microsoft YaHei"/></a:defRPr></a:pPr><a:r><a:t>复制命令可按本地脚本实际参数调整，原则是按项目复制，不污染全局根目录。</a:t></a:r></a:p></p:txBody></p:sp></p:spTree></p:cSld><p:clrMapOvr><a:masterClrMapping/></p:clrMapOvr>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2：搜索与候选表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9659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请用 AI4Scholar / OpenAlex / Semantic Scholar 等真实来源检索文献。</a:t>
            </a:r>
            <a:br/>
            <a:r>
              <a:t>主题：[主题]</a:t>
            </a:r>
            <a:br/>
            <a:r>
              <a:t>时间范围：[年份]</a:t>
            </a:r>
            <a:br/>
            <a:r>
              <a:t>目标期刊：[期刊列表]</a:t>
            </a:r>
            <a:br/>
            <a:r>
              <a:t>输出 literature/candidate_papers.xlsx。</a:t>
            </a:r>
            <a:br/>
            <a:r>
              <a:t>每篇至少包含 title, authors, year, venue, DOI_or_ID, url, abstract, source, verification_status。</a:t>
            </a:r>
            <a:br/>
            <a:r>
              <a:t>没有 DOI 或稳定 ID 的文献必须标注“需人工核验”。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886200"/>
          <a:ext cx="107899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61120"/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至少 20 篇候选文献；去重；有稳定 ID 或未核验标注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关键词相似但主题不相关；预印本误作正式论文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literature/candidate_papers.xlsx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3：BibTeX 与引用复核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9659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请对 candidate_papers.xlsx 中筛选出的 10 篇高相关文献生成 BibTeX。</a:t>
            </a:r>
            <a:br/>
            <a:r>
              <a:t>优先使用 DOI 或稳定 ID 查询元数据。</a:t>
            </a:r>
            <a:br/>
            <a:r>
              <a:t>输出 literature/verified_references.bib 和 literature/bibtex_audit.md。</a:t>
            </a:r>
            <a:br/>
            <a:r>
              <a:t>不要凭题名编造 BibTeX。</a:t>
            </a:r>
            <a:br/>
            <a:br/>
            <a:r>
              <a:t>随后对 5 个句子做 sentence-level citation-support audit。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149840" cy="11887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元数据核验：title, authors, year, venue, DOI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支持核验：strong / partial / weak / reject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弱引用要替换或删除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4：PDF 下载与日报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20574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Download only open-access PDFs or PDFs available through permitted institutional access.</a:t>
            </a:r>
            <a:br/>
            <a:r>
              <a:t>Save PDFs to literature/pdfs/ using {year}_{first_author}_{short_title}.pdf.</a:t>
            </a:r>
            <a:br/>
            <a:r>
              <a:t>Create literature/pdf_download_log.xlsx and literature/pdf_download_failures.md.</a:t>
            </a:r>
            <a:br/>
            <a:r>
              <a:t>Do not use piracy sites or bypass paywalls.</a:t>
            </a:r>
            <a:br/>
            <a:br/>
            <a:r>
              <a:t>Then generate literature/daily_reports/YYYY-MM-DD.md.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149840" cy="12801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下载成功要记录 local_path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下载失败要记录原因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日报要写 PDF 和 BibTeX 状态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未核验项不能写成已确认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5：AMiner 与 sci_draw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789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学者画像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literature/aminer_scholar_profiles.md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同名消歧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机构、领域、代表作、合作者、ORCID/主页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sci_draw 提示词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figures/sci_draw_prompts.md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图形审查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figures/figure_review_checklist.md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389120"/>
            <a:ext cx="10195560" cy="8686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73152" cy="868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52628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共同底线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956048"/>
            <a:ext cx="9902952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AMiner 不编造学者结果，sci_draw 不编造数据结果。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6：飞书表格同步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828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请根据 feishu_literature_sheet_schema.md 生成 feishu/daily_literature_rows.xlsx。</a:t>
            </a:r>
            <a:br/>
            <a:r>
              <a:t>如果飞书已授权，先写入 1-2 行测试。</a:t>
            </a:r>
            <a:br/>
            <a:r>
              <a:t>字段必须包含 report_date, topic, source, title, DOI, relevance_score, pdf_status, bibtex_status, verification_status, next_action。</a:t>
            </a:r>
            <a:br/>
            <a:r>
              <a:t>不要写入 API Key、Token 或未授权 PDF 链接。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03320"/>
          <a:ext cx="107899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同步前检查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权限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bot/user 身份是否能访问目标表格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本地 Excel 和飞书字段一致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unverified/partial/verified 不丢失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安全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不含密钥和敏感数据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必须人工核验的地方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80160"/>
          <a:ext cx="110185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595360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必须核验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AI 生成引用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是否真实、是否支持对应句子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DOI、题名、作者、年份、期刊、卷期页码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检索结果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是否主题相关，是否重复，是否只是关键词相似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学者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同名、机构、代表作、合作网络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下载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是否合法、是否目标论文、是否完整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文献日报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未核验论文不能写成已确认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sci_draw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不能出现虚构实验结果或脑区激活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飞书表格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2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不能包含密钥、隐私数据、未授权 PDF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本讲提交物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1018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76809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提交物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search_strategy.md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4 条英文检索式 + 2 条中文检索式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candidate_papers.xlsx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20 篇候选文献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verified_references.bib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10 条 BibTeX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bibtex_audit.md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元数据核验 + 句子级支持核验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pdf_download_log.xlsx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至少尝试 10 篇，记录成功/失败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daily_reports/YYYY-MM-DD.md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份每日文献日报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aminer_scholar_profiles.md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份学者画像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sci_draw_prompts.md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个完整画图提示词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feishu schema/rows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飞书字段设计或写入数据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评分标准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60120"/>
                <a:gridCol w="7589520"/>
              </a:tblGrid>
              <a:tr h="5130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分值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检索策略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检索式清晰，平台和筛选标准明确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候选文献表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20 篇，元数据可追踪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 与复核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10 条 BibTeX，含句子级支持核验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下载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有合法下载或完整失败日志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文献日报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内容完整，可用于每日追踪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AMiner 学者画像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有同名消歧和交叉核验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sci_draw 与飞书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有图形提示词和飞书字段/数据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日志与反思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过程可追踪，反思具体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直接不合格的情况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149840" cy="27432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编造文献、DOI、BibTeX 或学者画像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使用盗版网站或绕过付费墙下载 PDF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在作业、飞书或日志中暴露 API Key / Token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把 AMiner 同名学者第一条结果直接当目标学者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没有人工核验清单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2100">
                <a:solidFill>
                  <a:srgbClr val="B91C1C"/>
                </a:solidFill>
                <a:latin typeface="Microsoft YaHei"/>
              </a:defRPr>
            </a:pPr>
            <a:r>
              <a:t>只有聊天截图，没有本地输出文件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10195560" cy="86868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89204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02920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科研引用的底线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458968"/>
            <a:ext cx="9902952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引用不是装饰；每一条引用都要能经得起审稿人、导师和数据库复核。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03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700" b="1">
                <a:solidFill>
                  <a:srgbClr val="1F2933"/>
                </a:solidFill>
                <a:latin typeface="Microsoft YaHei"/>
              </a:defRPr>
            </a:pPr>
            <a:r>
              <a:t>真实文献工作流的目标，</a:t>
            </a:r>
            <a:br/>
            <a:r>
              <a:t>不是让 AI 写出“像论文”的引用，</a:t>
            </a:r>
            <a:br/>
            <a:r>
              <a:t>而是让每条文献都有来源、标识、PDF 状态、BibTeX 和核验记录。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真实来源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6742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稳定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0438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9044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196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合法 PDF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2740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21347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4499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可核验 BibTeX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5043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83649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801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团队日报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7345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