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554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第 09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554480"/>
            <a:ext cx="205740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文本挖掘</a:t>
            </a:r>
            <a:br/>
            <a:r>
              <a:t>LLM 标注</a:t>
            </a:r>
            <a:br/>
            <a:r>
              <a:t>变量构造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57784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从文本到可分析变量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005840"/>
            <a:ext cx="80010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700" b="1">
                <a:solidFill>
                  <a:srgbClr val="202A36"/>
                </a:solidFill>
                <a:latin typeface="Microsoft YaHei"/>
              </a:defRPr>
            </a:pPr>
            <a:r>
              <a:t>让评论、公告、访谈、社媒和摘要进入严谨实证研究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783080"/>
            <a:ext cx="8001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586572"/>
                </a:solidFill>
                <a:latin typeface="Microsoft YaHei"/>
              </a:defRPr>
            </a:pPr>
            <a:r>
              <a:t>Cleaning · Segmentation · Codebook · LLM Labeling · Reliability · Features ·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文本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711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368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清洗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6526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42381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8957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构念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41797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7652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4228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标注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67068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92923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9499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可靠性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92339" y="3118104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8194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4770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特征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17611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43465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0041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变量表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42882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68736" y="2834640"/>
            <a:ext cx="915543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05312" y="2962656"/>
            <a:ext cx="842391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202A36"/>
                </a:solidFill>
                <a:latin typeface="Microsoft YaHei"/>
              </a:defRPr>
            </a:pPr>
            <a:r>
              <a:t>实证模型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368153" y="311810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91840" y="4069080"/>
            <a:ext cx="7973568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069080"/>
            <a:ext cx="73152" cy="105156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4197096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81144"/>
            <a:ext cx="7671816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60" b="0">
                <a:solidFill>
                  <a:srgbClr val="202A36"/>
                </a:solidFill>
                <a:latin typeface="Microsoft YaHei"/>
              </a:defRPr>
            </a:pPr>
            <a:r>
              <a:t>text_data_inventory、text_cleaning_plan、text_variable_definition、annotation_codebook、annotation_sample、feature_dictionary、features、reliability_report、variable_construction_report、text_variable_audit。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5413248"/>
            <a:ext cx="7973568" cy="78638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5413248"/>
            <a:ext cx="73152" cy="7863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5541264"/>
            <a:ext cx="7699248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底线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925312"/>
            <a:ext cx="7671816" cy="2011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不编造标签、不泄露隐私、不把词云当变量、不让 LLM 替代人工核验。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40680" cy="278892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有评论、公告、访谈、社媒或摘要文本，但不知道如何变成变量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会做词云、词频和主题，但解释不了理论构念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想用 LLM 标注，但没有 codebook、样本复核和一致性指标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情感分数、主题概率和关键词频率直接进入回归，缺少有效性说明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训练、测试和文本合并过程中出现数据泄漏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520">
                <a:solidFill>
                  <a:srgbClr val="202A36"/>
                </a:solidFill>
                <a:latin typeface="Microsoft YaHei"/>
              </a:defRPr>
            </a:pPr>
            <a:r>
              <a:t>最终结果不能和第 08 讲统计分析衔接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72768"/>
            <a:ext cx="4663440" cy="11155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572768"/>
            <a:ext cx="73152" cy="11155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00784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本讲不做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2"/>
            <a:ext cx="4361688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不把 NLP 做成炫技；不把 LLM 标签当成客观事实；不只交词云和主题词。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063240"/>
            <a:ext cx="4663440" cy="1115568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3063240"/>
            <a:ext cx="73152" cy="1115568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19125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本讲要做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75304"/>
            <a:ext cx="4361688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把文本转成可解释、可复核、可合并、可进入实证模型的变量。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盘点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6698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0356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清洗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6640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6529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187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构念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6471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63609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185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路线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63025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6191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849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标注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6133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6022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680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审计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5964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58538" y="5166360"/>
            <a:ext cx="138858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5114" y="5294376"/>
            <a:ext cx="131542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100" b="1">
                <a:solidFill>
                  <a:srgbClr val="202A36"/>
                </a:solidFill>
                <a:latin typeface="Microsoft YaHei"/>
              </a:defRPr>
            </a:pPr>
            <a:r>
              <a:t>变量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57954" y="544982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本讲最终产出文件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35024"/>
          <a:ext cx="1092708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526280"/>
                <a:gridCol w="4983480"/>
              </a:tblGrid>
              <a:tr h="569214"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数据盘点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textmining/text_data_inventory.xlsx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文档 ID、文本列、来源、时间、风险和分析单位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清洗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textmining/text_cleaning_plan.md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去噪、分词、停用词、自定义词典和输出路径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构念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textmining/text_variable_definition.md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说明文本变量代表什么理论构念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annotation_codebook.md / annotation_sample.xlsx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标签定义、正例、反例、边界例和样本标注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可靠性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textmining/reliability_report.md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人工-人工、人工-LLM、模型-人工一致性和错误类型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feature_dictionary.xlsx / features.xlsx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最终可合并文本变量和构造说明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qc/text_variable_audit.md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隐私、泄漏、构念错配、过度解释和可进入模型性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925312"/>
            <a:ext cx="10561320" cy="512064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925312"/>
            <a:ext cx="73152" cy="5120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5332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提交底线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37376"/>
            <a:ext cx="10259568" cy="-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最终变量必须能追踪到文本来源、清洗规则、构念定义、标注准则和可靠性审计。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298448"/>
          <a:ext cx="109728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389120"/>
                <a:gridCol w="5166360"/>
              </a:tblGrid>
              <a:tr h="539496"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Skills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基础处理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text-analysis-basic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PDF/文本抽取、分词、词频、TF-IDF、embedding、相似度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主题模型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topic-modeling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LDA、DTM、BERTopic、主题词、文档主题概率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情感分析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sentiment-analysis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词典法、机器学习、LLM 情感标注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标注与变量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big-data-labeling-variable-construction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LDA、sklearn、预训练模型、OpenAI 兼容 LLM 标注路由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深度学习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deep-learning-nlp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DNN/RNN/GRU 文本分类训练和预测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衔接分析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empirical-analysis-skill-python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变量合并、分析数据表和第 08 讲模型衔接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可视化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data-visualization-analysis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词频图、主题图、情感趋势和变量分布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33872"/>
            <a:ext cx="10561320" cy="566928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33872"/>
            <a:ext cx="73152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961888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配套模板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345936"/>
            <a:ext cx="1025956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本讲提供 6 个 Excel 模板：数据盘点、标注样本、特征字典、结果汇总、变量审计、运行日志。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1：创建工作区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52760" cy="2267712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40">
                <a:solidFill>
                  <a:srgbClr val="EEF2F7"/>
                </a:solidFill>
                <a:latin typeface="Courier New"/>
              </a:defRPr>
            </a:pPr>
            <a:r>
              <a:t>New-Item -ItemType Directory -Force -Path "D:\AI科研训练营\第09讲_文本挖掘LLM标注与变量构造工作区"</a:t>
            </a:r>
            <a:br/>
            <a:r>
              <a:t>cd "D:\AI科研训练营\第09讲_文本挖掘LLM标注与变量构造工作区"</a:t>
            </a:r>
            <a:br/>
            <a:br/>
            <a:r>
              <a:t>New-Item -ItemType Directory -Force -Path data,data\raw,data\clean,data\samples,textmining,textmining\scripts,textmining\figures,qc,output,skills,input</a:t>
            </a:r>
            <a:br/>
            <a:r>
              <a:t>New-Item -ItemType File -Force -Path AGENTS.md,research_log.md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41648"/>
            <a:ext cx="5120640" cy="9601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041648"/>
            <a:ext cx="73152" cy="9601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69663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检查标准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53712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原始文本放 data/raw；清洗后文本放 data/clean；标注、变量和审计都放 textmining 与 qc。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41648"/>
            <a:ext cx="5120640" cy="96012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041648"/>
            <a:ext cx="73152" cy="96012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69663"/>
            <a:ext cx="48463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输入示例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53712"/>
            <a:ext cx="481888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评论、年报、公告、新闻、社媒、访谈、开放题回答、论文摘要。</a:t>
            </a:r>
          </a:p>
        </p:txBody>
      </p:sp>
    </p:spTree>
  </p:cSld>
  <p:clrMapOvr>
    <a:masterClrMapping/>
  </p:clrMapOvr>
</p:sld>
</file>

<file path=ppt/slides/slide6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8F9F7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D74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50292"/><a:ext cx="3017520" cy="201168"/></a:xfrm><a:prstGeom prst="rect"><a:avLst/></a:prstGeom><a:noFill/></p:spPr><p:txBody><a:bodyPr wrap="square" lIns="45720" rIns="45720" tIns="18288" bIns="18288" anchor="t"><a:spAutoFit/></a:bodyPr><a:lstStyle/><a:p><a:pPr algn="l"><a:defRPr sz="850" b="1"><a:solidFill><a:srgbClr val="FFFFFF"/></a:solidFill><a:latin typeface="Microsoft YaHei"/></a:defRPr></a:pPr><a:r><a:t>第 09 讲 · 文本挖掘与变量构造</a:t></a:r></a:p></p:txBody></p:sp><p:sp><p:nvSpPr><p:cNvPr id="4" name="TextBox 3"/><p:cNvSpPr txBox="1"/><p:nvPr/></p:nvSpPr><p:spPr><a:xfrm><a:off x="11155680" y="45720"/><a:ext cx="502920" cy="201168"/></a:xfrm><a:prstGeom prst="rect"><a:avLst/></a:prstGeom><a:noFill/></p:spPr><p:txBody><a:bodyPr wrap="square" lIns="45720" rIns="45720" tIns="18288" bIns="18288" anchor="t"><a:spAutoFit/></a:bodyPr><a:lstStyle/><a:p><a:pPr algn="r"><a:defRPr sz="900" b="1"><a:solidFill><a:srgbClr val="FFFFFF"/></a:solidFill><a:latin typeface="Microsoft YaHei"/></a:defRPr></a:pPr><a:r><a:t>06</a:t></a:r></a:p></p:txBody></p:sp><p:sp><p:nvSpPr><p:cNvPr id="5" name="TextBox 4"/><p:cNvSpPr txBox="1"/><p:nvPr/></p:nvSpPr><p:spPr><a:xfrm><a:off x="530352" y="548640"/><a:ext cx="10789920" cy="502920"/></a:xfrm><a:prstGeom prst="rect"><a:avLst/></a:prstGeom><a:noFill/></p:spPr><p:txBody><a:bodyPr wrap="square" lIns="45720" rIns="45720" tIns="18288" bIns="18288" anchor="t"><a:spAutoFit/></a:bodyPr><a:lstStyle/><a:p><a:pPr algn="l"><a:defRPr sz="2400" b="1"><a:solidFill><a:srgbClr val="202A36"/></a:solidFill><a:latin typeface="Microsoft YaHei"/></a:defRPr></a:pPr><a:r><a:t>实操 2：复制本讲 Skills</a:t></a:r></a:p></p:txBody></p:sp><p:sp><p:nvSpPr><p:cNvPr id="6" name="Rectangle 5"/><p:cNvSpPr/><p:nvPr/></p:nvSpPr><p:spPr><a:xfrm><a:off x="530352" y="1097280"/><a:ext cx="960120" cy="54864"/></a:xfrm><a:prstGeom prst="rect"><a:avLst/></a:prstGeom><a:solidFill><a:srgbClr val="B55D0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31520" y="1353312"/><a:ext cx="10744200" cy="2578608"/></a:xfrm><a:prstGeom prst="roundRect"><a:avLst/></a:prstGeom><a:solidFill><a:srgbClr val="1F2937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wrap="square" lIns="128016" rIns="109728" tIns="91440" bIns="73152"/><a:lstStyle/><a:p><a:pPr algn="ctr"><a:lnSpc><a:spcPct val="100000"/></a:lnSpc><a:defRPr sz="869"><a:solidFill><a:srgbClr val="EEF2F7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text-analysis-basic,topic-modeling,sentiment-analysis,big-data-labeling-variable-construction,deep-learning-nlp,empirical-analysis-skill-python,data-visualization-analysis,citation-management,literature-review `</a:t></a:r><a:br/><a:r><a:t>  -Workspace "D:\AI科研训练营\第09讲_文本挖掘LLM标注与变量构造工作区"</a:t></a:r></a:p></p:txBody></p:sp><p:sp><p:nvSpPr><p:cNvPr id="8" name="TextBox 7"/><p:cNvSpPr txBox="1"/><p:nvPr/></p:nvSpPr><p:spPr><a:xfrm><a:off x="868680" y="4343400"/><a:ext cx="10149840" cy="914400"/></a:xfrm><a:prstGeom prst="rect"><a:avLst/></a:prstGeom><a:noFill/></p:spPr><p:txBody><a:bodyPr wrap="square" lIns="73152" rIns="45720" tIns="18288" bIns="18288"><a:spAutoFit/></a:bodyPr><a:lstStyle/><a:p><a:pPr><a:lnSpc><a:spcPct val="105000"/></a:lnSpc><a:spcAft><a:spcPts val="300"/></a:spcAft><a:defRPr sz="1500"><a:solidFill><a:srgbClr val="202A36"/></a:solidFill><a:latin typeface="Microsoft YaHei"/></a:defRPr></a:pPr><a:r><a:t>复制后检查 skills/ 文件夹。</a:t></a:r></a:p><a:p><a:pPr><a:lnSpc><a:spcPct val="105000"/></a:lnSpc><a:spcAft><a:spcPts val="300"/></a:spcAft><a:defRPr sz="1500"><a:solidFill><a:srgbClr val="202A36"/></a:solidFill><a:latin typeface="Microsoft YaHei"/></a:defRPr></a:pPr><a:r><a:t>API key 通过环境变量读取，不写进文件。</a:t></a:r></a:p><a:p><a:pPr><a:lnSpc><a:spcPct val="105000"/></a:lnSpc><a:spcAft><a:spcPts val="300"/></a:spcAft><a:defRPr sz="1500"><a:solidFill><a:srgbClr val="202A36"/></a:solidFill><a:latin typeface="Microsoft YaHei"/></a:defRPr></a:pPr><a:r><a:t>缺失 Skill 写入 research_log.md，并用现有路线替代。</a:t></a:r></a:p></p:txBody></p:sp><p:sp><p:nvSpPr><p:cNvPr id="9" name="Rounded Rectangle 8"/><p:cNvSpPr/><p:nvPr/></p:nvSpPr><p:spPr><a:xfrm><a:off x="868680" y="5532120"/><a:ext cx="10149840" cy="594360"/></a:xfrm><a:prstGeom prst="roundRect"><a:avLst/></a:prstGeom><a:solidFill><a:srgbClr val="FFE5E5"/></a:solidFill><a:ln w="10160"><a:solidFill><a:srgbClr val="D2D8DE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Rectangle 9"/><p:cNvSpPr/><p:nvPr/></p:nvSpPr><p:spPr><a:xfrm><a:off x="868680" y="5532120"/><a:ext cx="73152" cy="594360"/></a:xfrm><a:prstGeom prst="rect"><a:avLst/></a:prstGeom><a:solidFill><a:srgbClr val="B91C1C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1" name="TextBox 10"/><p:cNvSpPr txBox="1"/><p:nvPr/></p:nvSpPr><p:spPr><a:xfrm><a:off x="1051560" y="5660136"/><a:ext cx="9875519" cy="292608"/></a:xfrm><a:prstGeom prst="rect"><a:avLst/></a:prstGeom><a:noFill/></p:spPr><p:txBody><a:bodyPr wrap="square" lIns="45720" rIns="45720" tIns="18288" bIns="18288" anchor="t"><a:spAutoFit/></a:bodyPr><a:lstStyle/><a:p><a:pPr algn="l"><a:defRPr sz="1400" b="1"><a:solidFill><a:srgbClr val="B91C1C"/></a:solidFill><a:latin typeface="Microsoft YaHei"/></a:defRPr></a:pPr><a:r><a:t>课堂提醒</a:t></a:r></a:p></p:txBody></p:sp><p:sp><p:nvSpPr><p:cNvPr id="12" name="TextBox 11"/><p:cNvSpPr txBox="1"/><p:nvPr/></p:nvSpPr><p:spPr><a:xfrm><a:off x="1051560" y="6044183"/><a:ext cx="9848088" cy="9144"/></a:xfrm><a:prstGeom prst="rect"><a:avLst/></a:prstGeom><a:noFill/></p:spPr><p:txBody><a:bodyPr wrap="square" lIns="45720" rIns="45720" tIns="18288" bIns="18288" anchor="t"><a:spAutoFit/></a:bodyPr><a:lstStyle/><a:p><a:pPr algn="l"><a:defRPr sz="1230" b="0"><a:solidFill><a:srgbClr val="202A36"/></a:solidFill><a:latin typeface="Microsoft YaHei"/></a:defRPr></a:pPr><a:r><a:t>文本挖掘任务容易涉及隐私和平台协议，先审计文本来源，再批量处理。</a:t></a:r></a:p></p:txBody></p:sp></p:spTree></p:cSld><p:clrMapOvr><a:masterClrMapping/></p:clrMapOvr>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3：写 AGENTS.md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897880" cy="32004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44">
                <a:solidFill>
                  <a:srgbClr val="EEF2F7"/>
                </a:solidFill>
                <a:latin typeface="Courier New"/>
              </a:defRPr>
            </a:pPr>
            <a:r>
              <a:t># 第09讲工作区 Agent 指令</a:t>
            </a:r>
            <a:br/>
            <a:br/>
            <a:r>
              <a:t>你是文本挖掘、LLM 标注与变量构造助手。</a:t>
            </a:r>
            <a:br/>
            <a:br/>
            <a:r>
              <a:t>原则：</a:t>
            </a:r>
            <a:br/>
            <a:r>
              <a:t>- 禁止编造文本、标签、准确率、一致性指标。</a:t>
            </a:r>
            <a:br/>
            <a:r>
              <a:t>- 禁止把词频、主题或情感分数直接等同理论构念。</a:t>
            </a:r>
            <a:br/>
            <a:r>
              <a:t>- 原始文本只读保存，清洗输出新文件。</a:t>
            </a:r>
            <a:br/>
            <a:r>
              <a:t>- LLM 标注必须遵守 codebook。</a:t>
            </a:r>
            <a:br/>
            <a:r>
              <a:t>- API key 只通过环境变量读取。</a:t>
            </a:r>
            <a:br/>
            <a:r>
              <a:t>- 最终变量必须可追踪到输入、清洗、标注和审计。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67728" y="1554480"/>
            <a:ext cx="4069080" cy="100584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7728" y="1554480"/>
            <a:ext cx="73152" cy="100584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682495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为什么要写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066543"/>
            <a:ext cx="3767328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第9讲最容易出现 LLM 越界推断、隐私泄露、变量解释过度和数据泄漏。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2926080"/>
            <a:ext cx="4069080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67728" y="292608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3054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可直接复制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3438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使用 lesson09_workspace_AGENTS_template.md。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4069080"/>
            <a:ext cx="406908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67728" y="406908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4197096"/>
            <a:ext cx="3794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不能省略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4581144"/>
            <a:ext cx="376732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没有边界时，Agent 会把容易计算的文本结果包装成研究变量。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4：文本数据盘点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确认文本文件、文档 ID、文本列、来源、时间、风险和分析单位。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textmining/text_data_inventory.xlsx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没有 ID 和来源的文本，不建议进入实证变量构造。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请读取 data/raw/ 下的文本数据，生成 textmining/text_data_inventory.xlsx 的内容草稿。</a:t>
            </a:r>
            <a:br/>
            <a:br/>
            <a:r>
              <a:t>检查文件类型、编码、行数、doc_id、text、source、date、重复、空文本、异常长短文本、个人信息、敏感信息、版权风险和最小分析单位。不要修改原始数据。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doc_id 唯一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文本列明确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来源和时间可追踪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风险已标注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原始文件未覆盖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文本伦理、隐私与版权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34840"/>
                <a:gridCol w="4480560"/>
              </a:tblGrid>
              <a:tr h="63246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常见场景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处理方式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个人信息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访谈、社媒、评论含姓名/账号/邮箱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脱敏、最小化使用、限制共享原文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敏感信息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健康、政治、宗教、身份属性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伦理审查、权限控制、必要性说明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版权/协议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平台文本、付费报告、论文全文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检查授权、只输出变量和摘要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API 传输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把原文发给 LLM 服务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脱敏、确认服务条款、控制日志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再识别风险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少量文本可识别个体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聚合变量、删除原文片段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532120"/>
            <a:ext cx="10378440" cy="65836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532120"/>
            <a:ext cx="73152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6601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044183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50" b="0">
                <a:solidFill>
                  <a:srgbClr val="202A36"/>
                </a:solidFill>
                <a:latin typeface="Microsoft YaHei"/>
              </a:defRPr>
            </a:pPr>
            <a:r>
              <a:t>不能为了方便标注把未脱敏访谈或社媒个人信息直接发给外部模型。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5：生成清洗计划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明确去噪、分句、分词、停用词、自定义词典、去重和输出规则。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textmining/text_cleaning_plan.md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清洗规则会直接改变后续变量，不能随手处理。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请基于 text_data_inventory.xlsx，生成 textmining/text_cleaning_plan.md。</a:t>
            </a:r>
            <a:br/>
            <a:br/>
            <a:r>
              <a:t>写清保留列、去除噪声、分句/分段、中文分词、自定义词典、停用词、专业词保护、去重、异常文本处理、脱敏规则和输出路径 data/clean/text_clean_v1.csv。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清洗步骤可复现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专业词不被拆错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停用词不误删构念词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去重规则清楚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输出新文件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中文分词与自定义词典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715000" cy="23774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19">
                <a:solidFill>
                  <a:srgbClr val="EEF2F7"/>
                </a:solidFill>
                <a:latin typeface="Courier New"/>
              </a:defRPr>
            </a:pPr>
            <a:r>
              <a:t>python .\skills\text-analysis-basic\scripts\jieba_tokenize.py `</a:t>
            </a:r>
            <a:br/>
            <a:r>
              <a:t>  .\data\clean\text_clean_v1.csv `</a:t>
            </a:r>
            <a:br/>
            <a:r>
              <a:t>  --text-column text `</a:t>
            </a:r>
            <a:br/>
            <a:r>
              <a:t>  --output .\textmining\tokenized_text.csv</a:t>
            </a:r>
            <a:br/>
            <a:br/>
            <a:r>
              <a:t>python .\skills\text-analysis-basic\scripts\frequencies.py `</a:t>
            </a:r>
            <a:br/>
            <a:r>
              <a:t>  .\textmining\tokenized_text.csv `</a:t>
            </a:r>
            <a:br/>
            <a:r>
              <a:t>  --text-column tokens `</a:t>
            </a:r>
            <a:br/>
            <a:r>
              <a:t>  --output .\textmining\word_frequency.xlsx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554480"/>
            <a:ext cx="4434840" cy="10972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554480"/>
            <a:ext cx="73152" cy="10972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682495"/>
            <a:ext cx="4160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自定义词典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066543"/>
            <a:ext cx="4133087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AI Agent、ChatGPT、脑机接口、神经营销、Zotero、Obsidian、ERP、LLM 标注等专业词要保护。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063240"/>
            <a:ext cx="4434840" cy="10972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3063240"/>
            <a:ext cx="73152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191256"/>
            <a:ext cx="4160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75304"/>
            <a:ext cx="4133087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抽看 50 条分词结果。错分的专业词、机构名、产品名和理论构念词要进入自定义词典。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00600"/>
            <a:ext cx="10378440" cy="658368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800600"/>
            <a:ext cx="7315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92861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312664"/>
            <a:ext cx="10076688" cy="73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tokenized_text.csv、word_frequency.xlsx、清洗日志。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6：定义文本变量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把目标变量从“好算的指标”转成“有理论解释的文本构念”。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textmining/text_variable_definition.md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文本变量首先是测量问题，其次才是模型问题。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请基于研究问题和文本数据，生成 textmining/text_variable_definition.md。</a:t>
            </a:r>
            <a:br/>
            <a:br/>
            <a:r>
              <a:t>每个变量包含变量名、理论构念、构念定义、文本证据、正例、反例、边界例、推荐技术路线、最终分析单位、可进入模型和不能支持的解释。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构念定义明确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有文本证据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有反例和边界例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单位可合并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解释不过度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技术路线选择表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35024"/>
          <a:ext cx="10927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3434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研究需求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推荐路线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主要风险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看高频词和专业词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分词 + 词频 / TF-IDF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词频不能直接代表理论变量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已有理论词典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词典法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词典领域适配不足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态度、情绪、风险语气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情感分析 / 词典 / LLM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讽刺、否定、领域词误判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探索文本主题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LDA / BERTopic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主题命名硬贴理论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已有标签样本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sklearn / BERT / ERNIE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训练测试泄漏、类别不平衡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复杂语义判断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LLM 标注 + 人工复核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越界推断、标签漂移、成本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比较相似度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TF-IDF / embedding similarity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相似度不等于同一构念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5897880"/>
            <a:ext cx="10561320" cy="530352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897880"/>
            <a:ext cx="73152" cy="530352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6025896"/>
            <a:ext cx="10287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判断句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6409944"/>
            <a:ext cx="10259568" cy="-5486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20" b="0">
                <a:solidFill>
                  <a:srgbClr val="202A36"/>
                </a:solidFill>
                <a:latin typeface="Microsoft YaHei"/>
              </a:defRPr>
            </a:pPr>
            <a:r>
              <a:t>技术路线由研究问题、构念和数据决定，不由模型新旧决定。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词典法与 TF-IDF：可解释但要克制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440680" cy="2487168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词典法适合已有清晰词表的构念，例如风险、不确定性、前瞻性、创新关注。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TF-IDF 适合关键词特征、相似度和轻量分类基线。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词频比例通常要除以文本长度或有效词数。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词典要记录来源、增删理由和人工核验。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50">
                <a:solidFill>
                  <a:srgbClr val="202A36"/>
                </a:solidFill>
                <a:latin typeface="Microsoft YaHei"/>
              </a:defRPr>
            </a:pPr>
            <a:r>
              <a:t>TF-IDF 高权重词是特征，不自动等于理论构念。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481328"/>
            <a:ext cx="4663440" cy="13258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python .\skills\text-analysis-basic\scripts\vectorize.py `</a:t>
            </a:r>
            <a:br/>
            <a:r>
              <a:t>  .\data\clean\text_clean_v1.csv `</a:t>
            </a:r>
            <a:br/>
            <a:r>
              <a:t>  --method tfidf `</a:t>
            </a:r>
            <a:br/>
            <a:r>
              <a:t>  --text-column text `</a:t>
            </a:r>
            <a:br/>
            <a:r>
              <a:t>  --output .\textmining\tfidf_features.xlsx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246120"/>
            <a:ext cx="4663440" cy="91440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324612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374136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758183"/>
            <a:ext cx="4361688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tfidf_features.xlsx、feature_dictionary.xlsx、变量构造报告中的词典/TF-IDF 说明。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462272"/>
            <a:ext cx="4663440" cy="74980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4462272"/>
            <a:ext cx="73152" cy="7498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590288"/>
            <a:ext cx="4389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974336"/>
            <a:ext cx="4361688" cy="16459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抽看高低分文本，确认变量真的捕捉目标构念。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情感分析：先验证领域适配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43484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路线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核验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词典法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词语情感方向清晰、需解释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领域词、否定词、程度副词、讽刺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机器学习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已有人工标签样本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训练/测试隔离、类别平衡、F1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LLM 情感标注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语义复杂、样本量中等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抽样复核、一致性、成本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" y="3977639"/>
            <a:ext cx="5577840" cy="123444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python .\skills\sentiment-analysis\scripts\dictionary_sentiment.py `</a:t>
            </a:r>
            <a:br/>
            <a:r>
              <a:t>  .\data\clean\text_clean_v1.csv `</a:t>
            </a:r>
            <a:br/>
            <a:r>
              <a:t>  --text-column text `</a:t>
            </a:r>
            <a:br/>
            <a:r>
              <a:t>  --output .\textmining\sentiment_scores.xlsx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822191"/>
            <a:ext cx="4526280" cy="9601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3822191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3950207"/>
            <a:ext cx="4251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常见问题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334256"/>
            <a:ext cx="422452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“低风险”“不差”“模型不会保证正确”等句子容易被简单词典误判。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主题模型：探索主题，不自动生成理论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清洗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383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041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分词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325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3786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444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诊断 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3728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8189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847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看主题词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8131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2592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250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看代表文档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534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6995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653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命名主题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937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1398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056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导出概率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1340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1248" y="2240280"/>
            <a:ext cx="5623560" cy="15544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900">
                <a:solidFill>
                  <a:srgbClr val="EEF2F7"/>
                </a:solidFill>
                <a:latin typeface="Courier New"/>
              </a:defRPr>
            </a:pPr>
            <a:r>
              <a:t>python .\skills\topic-modeling\scripts\lda_model.py `</a:t>
            </a:r>
            <a:br/>
            <a:r>
              <a:t>  .\data\clean\text_clean_v1.csv `</a:t>
            </a:r>
            <a:br/>
            <a:r>
              <a:t>  --text-column text `</a:t>
            </a:r>
            <a:br/>
            <a:r>
              <a:t>  --topic-range 2-10 `</a:t>
            </a:r>
            <a:br/>
            <a:r>
              <a:t>  --output-dir .\textmining\lda_diagnostics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148840"/>
            <a:ext cx="4526280" cy="96012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2148840"/>
            <a:ext cx="73152" cy="96012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276856"/>
            <a:ext cx="4251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关键规则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660904"/>
            <a:ext cx="422452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若未明确 K，先跑诊断和候选主题，人工选择 K 后再训练最终模型。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520440"/>
            <a:ext cx="4526280" cy="10972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20840" y="3520440"/>
            <a:ext cx="73152" cy="10972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3648456"/>
            <a:ext cx="4251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032504"/>
            <a:ext cx="422452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主题命名必须看代表文档，不只看 top words。主题概率可作为变量，但解释要克制。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4892040"/>
            <a:ext cx="10405872" cy="64008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" y="489204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5020055"/>
            <a:ext cx="10131552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404104"/>
            <a:ext cx="10104120" cy="548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topic_summary、topic_doc_probs、可视化图和 feature_dictionary。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监督分类与深度学习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  <a:gridCol w="3291840"/>
                <a:gridCol w="3154680"/>
              </a:tblGrid>
              <a:tr h="720090"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路线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核心核验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sklearn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文本 + 标签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轻量基线、可解释、速度快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train/test split、F1、错误类型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BERT/ERNIE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文本 + 标签 + 模型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语义复杂、标签样本较多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依赖环境、GPU、泄漏、过拟合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DNN/RNN/GRU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课程文本分类样例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教学演示和基线扩展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保存模型、可复现日志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617720"/>
            <a:ext cx="4983480" cy="86868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617720"/>
            <a:ext cx="73152" cy="8686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745736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防泄漏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129783"/>
            <a:ext cx="46817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同一用户、企业、事件或重复模板文本不能跨训练集和测试集。需要 group split 或 time split。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617720"/>
            <a:ext cx="4983480" cy="86868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4617720"/>
            <a:ext cx="73152" cy="86868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745736"/>
            <a:ext cx="47091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129783"/>
            <a:ext cx="46817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模型指标、混淆矩阵、错误分析、预测标签和特征字典。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LLM 标注流程：先计划，后执行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Codebook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383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041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抽样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325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3786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444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试标注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3728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81897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8473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人工复核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81313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2592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250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修订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2534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6995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653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批量标注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6937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13986" y="1325880"/>
            <a:ext cx="1434301" cy="566928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0562" y="1453895"/>
            <a:ext cx="1361149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80" b="1">
                <a:solidFill>
                  <a:srgbClr val="202A36"/>
                </a:solidFill>
                <a:latin typeface="Microsoft YaHei"/>
              </a:defRPr>
            </a:pPr>
            <a:r>
              <a:t>可靠性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13402" y="1609344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41248" y="2240280"/>
            <a:ext cx="5623560" cy="1874519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90">
                <a:solidFill>
                  <a:srgbClr val="EEF2F7"/>
                </a:solidFill>
                <a:latin typeface="Courier New"/>
              </a:defRPr>
            </a:pPr>
            <a:r>
              <a:t>python .\skills\big-data-labeling-variable-construction\scripts\prepare_labeling_plan.py `</a:t>
            </a:r>
            <a:br/>
            <a:r>
              <a:t>  .\data\clean\text_clean_v1.csv `</a:t>
            </a:r>
            <a:br/>
            <a:r>
              <a:t>  --category openai_llm `</a:t>
            </a:r>
            <a:br/>
            <a:r>
              <a:t>  --output-dir .\textmining\llm_labeling_plan</a:t>
            </a:r>
            <a:br/>
            <a:br/>
            <a:r>
              <a:t># 展示计划后，学生确认：确认无误，请执行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212848"/>
            <a:ext cx="4526280" cy="9601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2212848"/>
            <a:ext cx="73152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2340864"/>
            <a:ext cx="4251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安全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724912"/>
            <a:ext cx="422452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API key 用环境变量；脱敏后再调用外部模型；输出中不保留敏感原文。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547872"/>
            <a:ext cx="4526280" cy="10972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20840" y="3547872"/>
            <a:ext cx="73152" cy="10972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3675887"/>
            <a:ext cx="4251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Skill 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059935"/>
            <a:ext cx="4224528" cy="5120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该工作流要求先检查前 10 行并展示推断计划，只有学生回复“确认无误，请执行”后才运行。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7：生成 Codebook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让不同标注者能按同一标准判断文本标签。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textmining/annotation_codebook.md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Codebook 写不清，后面的准确率没有意义。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请基于 text_variable_definition.md，生成 textmining/annotation_codebook.md。</a:t>
            </a:r>
            <a:br/>
            <a:br/>
            <a:r>
              <a:t>每个标签包含标签名、定义、标注单位、标 1 条件、标 0 条件、正例、反例、边界例、冲突规则、不确定规则和禁止文本外推断规则。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定义具体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有正反例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有边界例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允许 uncertain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禁止文本外推断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8：抽样人工标注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用小样本校准标签定义，避免批量标注后才发现规则错。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textmining/annotation_sample.xlsx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先标 50-200 条校准，再决定是否批量。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textmining/annotation_sampling_plan.md，并填写 annotation_sample.xlsx。</a:t>
            </a:r>
            <a:br/>
            <a:br/>
            <a:r>
              <a:t>说明抽样数量、随机种子、分层变量、覆盖来源/时间/评分、纳入排除规则。样本表包含 doc_id、text、human_label_1、human_label_2、llm_label、final_label、disagreement_reason。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样本覆盖不同来源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人工标签独立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差异原因记录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边界例保留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最终标签可追踪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9：可靠性审计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判断人工标注、LLM 标注或模型标签是否足以用于变量构造。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textmining/reliability_report.md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可靠性不足时，不要硬把标签放进回归。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请读取 annotation_sample.xlsx，生成 textmining/reliability_report.md。</a:t>
            </a:r>
            <a:br/>
            <a:br/>
            <a:r>
              <a:t>报告人工-人工一致率、Cohen's Kappa 或 Krippendorff's Alpha、LLM-人工一致率、precision/recall/F1、错误类型、边界例、系统性偏差、codebook 修改建议和是否可批量标注。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报告一致性指标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分析错误类型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修订 codebook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判断是否批量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低可靠性变量不进入主模型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10：生成特征字典与变量表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把分词、词典、情感、主题、标注和分类结果整理成最终文本变量。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feature_dictionary.xlsx</a:t>
            </a:r>
            <a:br/>
            <a:r>
              <a:t>features.xlsx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最终表要像实证数据表，而不是 NLP 输出碎片。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请基于清洗文本和模型/标注输出，生成 textmining/feature_dictionary.xlsx 与 textmining/features.xlsx。</a:t>
            </a:r>
            <a:br/>
            <a:br/>
            <a:r>
              <a:t>每个变量说明 feature_name、construct、method、input_file、parameters、unit、range、aggregation_rule、interpretation、limitations、audit_status。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变量有合并键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方法和参数清楚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取值范围清楚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解释边界清楚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可进入第8讲模型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数据泄漏审计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72000"/>
                <a:gridCol w="4069080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泄漏类型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例子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重复文本泄漏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同一评论同时在训练集和测试集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去重后划分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作者泄漏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同一用户或企业跨训练测试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按 user_id / firm_id 分组划分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时间泄漏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用未来文本预测过去结果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time split / lag features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标签泄漏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文本中直接包含评分或结果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删除泄漏字段或改任务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模板泄漏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公告/年报模板句重复出现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模板识别和去除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03520"/>
            <a:ext cx="10378440" cy="73152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0352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4315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课堂判断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15583"/>
            <a:ext cx="1007668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80" b="0">
                <a:solidFill>
                  <a:srgbClr val="202A36"/>
                </a:solidFill>
                <a:latin typeface="Microsoft YaHei"/>
              </a:defRPr>
            </a:pPr>
            <a:r>
              <a:t>如果模型效果异常高，第一反应不是高兴，而是检查泄漏。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与第 08 讲统计分析衔接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53312"/>
          <a:ext cx="10744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  <a:gridCol w="5806440"/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分析单位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合并键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文本变量示例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评论级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doc_id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sentiment_score、uncertainty_label、topic_prob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用户级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user_id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risk_expression_ratio、avg_sentiment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企业-年级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firm_id + year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ai_attention_score、innovation_topic_prob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事件级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event_id/date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policy_similarity、media_tone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论文级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paper_id/year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method_topic_prob、novelty_signal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303520"/>
            <a:ext cx="10378440" cy="73152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303520"/>
            <a:ext cx="73152" cy="73152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4315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输出给第8讲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815583"/>
            <a:ext cx="10076688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80" b="0">
                <a:solidFill>
                  <a:srgbClr val="202A36"/>
                </a:solidFill>
                <a:latin typeface="Microsoft YaHei"/>
              </a:defRPr>
            </a:pPr>
            <a:r>
              <a:t>features.xlsx + feature_dictionary.xlsx + variable_construction_report.md。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课堂示范：AI Agent 工具评论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91540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示范内容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文本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学生或研究者对 AI Agent 工具的使用评论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 1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efficiency_benefit：节省时间、减少重复劳动、提高检索效率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 2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uncertainty_expression：可能出错、需核验、不确定来源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 3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trust_signal：可信、可靠、愿意采纳、可作为辅助依据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路线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Codebook + LLM 标注 + 人工复核；同时构造情感分数和文本长度控制变量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进入模型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9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用文本变量解释采纳意愿、满意度或后续使用行为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89320"/>
            <a:ext cx="10378440" cy="457200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89320"/>
            <a:ext cx="73152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1173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最大风险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501383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80" b="0">
                <a:solidFill>
                  <a:srgbClr val="202A36"/>
                </a:solidFill>
                <a:latin typeface="Microsoft YaHei"/>
              </a:defRPr>
            </a:pPr>
            <a:r>
              <a:t>文本中的信任表达不能直接等同真实信任心理状态，需要和问卷或行为指标区分。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常见错误与修正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71600"/>
          <a:ext cx="107441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749039"/>
                <a:gridCol w="4663440"/>
              </a:tblGrid>
              <a:tr h="646611"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只有词云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不能进入实证模型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构造文档级/单位级变量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主题硬贴理论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理论解释站不住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看代表文档和文献依据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LLM 自创标签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标签体系漂移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固定 codebook 和 JSON 输出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无人工复核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可靠性不可判断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抽样标注和一致性审计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训练测试泄漏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指标虚高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group split / time split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把文本变量当事实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解释过度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写清测量边界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实操 11：变量构造报告与审计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" y="1243584"/>
            <a:ext cx="1188720" cy="274320"/>
          </a:xfrm>
          <a:prstGeom prst="round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" cy="137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STEP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64208"/>
            <a:ext cx="3246120" cy="10607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664208"/>
            <a:ext cx="73152" cy="1060704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792224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76272"/>
            <a:ext cx="2944368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把文本变量生产线写成论文可用的 Method 说明，并做审稿人式审计。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80360"/>
            <a:ext cx="32461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88036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008376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输出文件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392424"/>
            <a:ext cx="2944368" cy="3749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variable_construction_report.md</a:t>
            </a:r>
            <a:br/>
            <a:r>
              <a:t>qc/text_variable_audit.md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3246120" cy="1078992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078992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2971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教师提醒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517136"/>
            <a:ext cx="2944368" cy="49377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120" b="0">
                <a:solidFill>
                  <a:srgbClr val="202A36"/>
                </a:solidFill>
                <a:latin typeface="Microsoft YaHei"/>
              </a:defRPr>
            </a:pPr>
            <a:r>
              <a:t>没有审计通过的文本变量，不建议进入主模型。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353312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复制给 Agent 的任务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664208"/>
            <a:ext cx="7178040" cy="2487168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lnSpc>
                <a:spcPct val="100000"/>
              </a:lnSpc>
              <a:defRPr sz="855">
                <a:solidFill>
                  <a:srgbClr val="EEF2F7"/>
                </a:solidFill>
                <a:latin typeface="Courier New"/>
              </a:defRPr>
            </a:pPr>
            <a:r>
              <a:t>请生成 textmining/variable_construction_report.md 和 qc/text_variable_audit.md。</a:t>
            </a:r>
            <a:br/>
            <a:br/>
            <a:r>
              <a:t>报告文本来源、清洗流程、构念定义、技术路线、标注/模型、可靠性结果、最终变量、合并方式、有效性证据、稳健性和解释边界。审计 pass/revise/fail。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40740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4736592"/>
            <a:ext cx="7040880" cy="11430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来源合规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流程可复现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可靠性达标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无泄漏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230">
                <a:solidFill>
                  <a:srgbClr val="202A36"/>
                </a:solidFill>
                <a:latin typeface="Microsoft YaHei"/>
              </a:defRPr>
            </a:pPr>
            <a:r>
              <a:t>解释边界清楚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课堂 120 分钟带做安排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325880"/>
          <a:ext cx="10744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526280"/>
              </a:tblGrid>
              <a:tr h="513080"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教师带做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学生产出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0-15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讲清文本变量不是词云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理解最终交付物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15-30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创建工作区、复制 Skills、写 AGENTS.md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可运行工作区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30-45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数据盘点、隐私和来源审计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text_data_inventory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45-60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清洗计划和分词检查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text_cleaning_plan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60-75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变量定义和路线选择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text_variable_definition / route_selection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75-95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Codebook、抽样和 LLM 标注计划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annotation_codebook / sample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95-110 分钟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可靠性审计和特征字典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reliability_report / feature_dictionary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110-120 分钟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变量表、衔接第8讲和审计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features / text_variable_audit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989320"/>
            <a:ext cx="10378440" cy="45720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5989320"/>
            <a:ext cx="73152" cy="45720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6117336"/>
            <a:ext cx="1010411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教师重点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6501383"/>
            <a:ext cx="10076688" cy="-1280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00" b="0">
                <a:solidFill>
                  <a:srgbClr val="202A36"/>
                </a:solidFill>
                <a:latin typeface="Microsoft YaHei"/>
              </a:defRPr>
            </a:pPr>
            <a:r>
              <a:t>现场纠正三件事：构念错配、LLM 越界推断、数据泄漏。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课后提交要求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1600200"/>
          </a:xfrm>
          <a:prstGeom prst="rect">
            <a:avLst/>
          </a:prstGeom>
          <a:noFill/>
        </p:spPr>
        <p:txBody>
          <a:bodyPr wrap="square" lIns="73152" rIns="45720" tIns="18288" bIns="18288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470">
                <a:solidFill>
                  <a:srgbClr val="202A36"/>
                </a:solidFill>
                <a:latin typeface="Microsoft YaHei"/>
              </a:defRPr>
            </a:pPr>
            <a:r>
              <a:t>提交文件夹：姓名_第09讲_文本挖掘LLM标注与变量构造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70">
                <a:solidFill>
                  <a:srgbClr val="202A36"/>
                </a:solidFill>
                <a:latin typeface="Microsoft YaHei"/>
              </a:defRPr>
            </a:pPr>
            <a:r>
              <a:t>必须包含 text_data_inventory、text_cleaning_plan、text_variable_definition、route_selection、annotation_codebook、annotation_sample、feature_dictionary、features、reliability_report、variable_construction_report、text_variable_audit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70">
                <a:solidFill>
                  <a:srgbClr val="202A36"/>
                </a:solidFill>
                <a:latin typeface="Microsoft YaHei"/>
              </a:defRPr>
            </a:pPr>
            <a:r>
              <a:t>至少构造 1 个可进入实证模型的文本变量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470">
                <a:solidFill>
                  <a:srgbClr val="202A36"/>
                </a:solidFill>
                <a:latin typeface="Microsoft YaHei"/>
              </a:defRPr>
            </a:pPr>
            <a:r>
              <a:t>附 300 字反思：变量最可能被审稿人质疑什么，准备用什么证据回应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65960" y="3474720"/>
          <a:ext cx="8092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05740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评分项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9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marL="45720" marR="36576" marT="18288" marB="18288" anchor="ctr">
                    <a:solidFill>
                      <a:srgbClr val="0D746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文本盘点与清洗计划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构念定义与路线匹配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Codebook 与标注样本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可靠性与偏差审计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marL="45720" marR="36576" marT="18288" marB="18288" anchor="ctr">
                    <a:solidFill>
                      <a:srgbClr val="F4F7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最终变量表和论文可用性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202A36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marL="45720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60120" y="5806440"/>
            <a:ext cx="10195560" cy="566928"/>
          </a:xfrm>
          <a:prstGeom prst="roundRect">
            <a:avLst/>
          </a:prstGeom>
          <a:solidFill>
            <a:srgbClr val="FFE5E5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5806440"/>
            <a:ext cx="73152" cy="56692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934455"/>
            <a:ext cx="9921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Microsoft YaHei"/>
              </a:defRPr>
            </a:pPr>
            <a:r>
              <a:t>一票否决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318504"/>
            <a:ext cx="9893808" cy="-182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230" b="0">
                <a:solidFill>
                  <a:srgbClr val="202A36"/>
                </a:solidFill>
                <a:latin typeface="Microsoft YaHei"/>
              </a:defRPr>
            </a:pPr>
            <a:r>
              <a:t>编造标签/指标、泄露 API key、未脱敏敏感文本、只有词云没有变量。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"/>
            <a:ext cx="30175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第 09 讲 · 文本挖掘与变量构造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45720"/>
            <a:ext cx="50292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2400" b="1">
                <a:solidFill>
                  <a:srgbClr val="202A36"/>
                </a:solidFill>
                <a:latin typeface="Microsoft YaHei"/>
              </a:defRPr>
            </a:pPr>
            <a:r>
              <a:t>教师课堂收尾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097280"/>
            <a:ext cx="960120" cy="54864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10241280" cy="1051560"/>
          </a:xfrm>
          <a:prstGeom prst="roundRect">
            <a:avLst/>
          </a:prstGeom>
          <a:solidFill>
            <a:srgbClr val="DEF6F3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508760"/>
            <a:ext cx="73152" cy="1051560"/>
          </a:xfrm>
          <a:prstGeom prst="rect">
            <a:avLst/>
          </a:prstGeom>
          <a:solidFill>
            <a:srgbClr val="0D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36776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0D746E"/>
                </a:solidFill>
                <a:latin typeface="Microsoft YaHei"/>
              </a:defRPr>
            </a:pPr>
            <a:r>
              <a:t>今天真正完成的事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0824"/>
            <a:ext cx="9939528" cy="46634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500" b="0">
                <a:solidFill>
                  <a:srgbClr val="202A36"/>
                </a:solidFill>
                <a:latin typeface="Microsoft YaHei"/>
              </a:defRPr>
            </a:pPr>
            <a:r>
              <a:t>不是完成一个 NLP 分析，而是建立一条能被复核、能进实证模型、能写进论文方法部分的文本变量生产线。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文本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64512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1088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清洗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3927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14624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1200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构念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14039" y="3520440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64736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1312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Codebook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6415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14848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1424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标注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4263" y="3520440"/>
            <a:ext cx="82297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64959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1535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可靠性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64375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815072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1647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变量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14488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65184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1759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模型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4600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15296" y="3200400"/>
            <a:ext cx="1040383" cy="640080"/>
          </a:xfrm>
          <a:prstGeom prst="roundRect">
            <a:avLst/>
          </a:prstGeom>
          <a:solidFill>
            <a:srgbClr val="DEF6F3"/>
          </a:solidFill>
          <a:ln w="11430">
            <a:solidFill>
              <a:srgbClr val="0D7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1871" y="3328416"/>
            <a:ext cx="967231" cy="45719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19" b="1">
                <a:solidFill>
                  <a:srgbClr val="202A36"/>
                </a:solidFill>
                <a:latin typeface="Microsoft YaHei"/>
              </a:defRPr>
            </a:pPr>
            <a:r>
              <a:t>审计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14712" y="3520440"/>
            <a:ext cx="82296" cy="0"/>
          </a:xfrm>
          <a:prstGeom prst="line">
            <a:avLst/>
          </a:prstGeom>
          <a:ln w="12700">
            <a:solidFill>
              <a:srgbClr val="0D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4400" y="4736592"/>
            <a:ext cx="10241280" cy="868680"/>
          </a:xfrm>
          <a:prstGeom prst="roundRect">
            <a:avLst/>
          </a:prstGeom>
          <a:solidFill>
            <a:srgbClr val="FFF4D2"/>
          </a:solidFill>
          <a:ln w="1016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736592"/>
            <a:ext cx="73152" cy="868680"/>
          </a:xfrm>
          <a:prstGeom prst="rect">
            <a:avLst/>
          </a:prstGeom>
          <a:solidFill>
            <a:srgbClr val="B55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864607"/>
            <a:ext cx="996695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1">
                <a:solidFill>
                  <a:srgbClr val="B55D0E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48656"/>
            <a:ext cx="9939528" cy="28346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400" b="0">
                <a:solidFill>
                  <a:srgbClr val="202A36"/>
                </a:solidFill>
                <a:latin typeface="Microsoft YaHei"/>
              </a:defRPr>
            </a:pPr>
            <a:r>
              <a:t>学生把 features.xlsx 接入第 08 讲流程，建立变量字典、模型映射和结果解释。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