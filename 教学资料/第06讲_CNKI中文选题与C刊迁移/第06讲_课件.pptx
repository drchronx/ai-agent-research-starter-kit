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第 06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554480"/>
            <a:ext cx="210312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CNKI 中文选题</a:t>
            </a:r>
            <a:br/>
            <a:r>
              <a:t>与 C 刊迁移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5778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中文热点不是研究问题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024128"/>
            <a:ext cx="8001000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700" b="1">
                <a:solidFill>
                  <a:srgbClr val="202A36"/>
                </a:solidFill>
                <a:latin typeface="Microsoft YaHei"/>
              </a:defRPr>
            </a:pPr>
            <a:r>
              <a:t>从中文热点到 C 刊选题，再到 SSCI/SCI 可迁移研究问题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783080"/>
            <a:ext cx="8001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50" b="0">
                <a:solidFill>
                  <a:srgbClr val="586572"/>
                </a:solidFill>
                <a:latin typeface="Microsoft YaHei"/>
              </a:defRPr>
            </a:pPr>
            <a:r>
              <a:t>CNKI Trend · C Journal Logic · English Frontier · CN-EN Bridge · Migration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中文关键词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4884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1460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CNKI地图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55156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37929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74505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C刊语境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28201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10973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7549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英文前沿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1245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84018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0594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桥接表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74290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57062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3638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双版本选题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47334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330107" y="2834640"/>
            <a:ext cx="1054172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6683" y="2962656"/>
            <a:ext cx="9810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19" b="1">
                <a:solidFill>
                  <a:srgbClr val="202A36"/>
                </a:solidFill>
                <a:latin typeface="Microsoft YaHei"/>
              </a:defRPr>
            </a:pPr>
            <a:r>
              <a:t>审计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220379" y="311810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291840" y="4069080"/>
            <a:ext cx="797356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069080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197096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581144"/>
            <a:ext cx="7671816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cnki_search_strategy、cnki_topic_map、cnki_literature_screening、cn_en_bridge_table、c_journal_idea_bank、c_vs_ssci_topic_versions、topic_migration_audit。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5413248"/>
            <a:ext cx="7973568" cy="78638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5413248"/>
            <a:ext cx="73152" cy="78638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5541264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925312"/>
            <a:ext cx="7671816" cy="2011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不编造 CNKI 结果，不绕过验证码，不把中文热点或政策口号写成学术贡献。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本讲解决什么问题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394960" cy="283464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中文选题只跟热点，没有学术问题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C 刊写作只讲政策意义，缺少理论机制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英文前沿只做翻译，不能进入中国语境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中文关键词和英文构念无法对应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CNKI 检索结果多而乱，不知道如何筛选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600">
                <a:solidFill>
                  <a:srgbClr val="202A36"/>
                </a:solidFill>
                <a:latin typeface="Microsoft YaHei"/>
              </a:defRPr>
            </a:pPr>
            <a:r>
              <a:t>不知道如何把中文议题改写成 SSCI/SCI 版本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72768"/>
            <a:ext cx="4663440" cy="123444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72768"/>
            <a:ext cx="73152" cy="12344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00784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本讲不做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84832"/>
            <a:ext cx="4361688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不追求抓最多 CNKI 文献；不把政策热词直接包装成贡献；不把英文题目机械翻译成中文题目。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246120"/>
            <a:ext cx="4663440" cy="123444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3246120"/>
            <a:ext cx="73152" cy="123444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37413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本讲要做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758183"/>
            <a:ext cx="4361688" cy="6492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用 CNKI 判断中文研究生态，用英文前沿判断国际理论位置，再用桥接表生成 C 刊与 SSCI/SCI 两个版本。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25780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538581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热点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68296" y="525780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4872" y="538581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文献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58568" y="554126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67912" y="525780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4488" y="538581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问题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58184" y="554126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67528" y="525780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4104" y="538581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理论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57800" y="554126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67144" y="525780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538581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机制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57416" y="5541264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66760" y="525780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538581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方法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57031" y="5541264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66376" y="5257800"/>
            <a:ext cx="1380744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2951" y="5385816"/>
            <a:ext cx="130759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50" b="1">
                <a:solidFill>
                  <a:srgbClr val="202A36"/>
                </a:solidFill>
                <a:latin typeface="Microsoft YaHei"/>
              </a:defRPr>
            </a:pPr>
            <a:r>
              <a:t>版本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56647" y="5541264"/>
            <a:ext cx="91441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本讲最终产出文件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53312"/>
          <a:ext cx="109270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023360"/>
                <a:gridCol w="5486400"/>
              </a:tblGrid>
              <a:tr h="554355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检索策略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topic/cnki_search_strategy.md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记录中文关键词、检索式、排序和年份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中文地图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topic/cnki_topic_map.md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整理趋势、流派、方法和 C 刊问题意识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文献筛选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topic/cnki_literature_screening.xlsx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筛选中文文献并标注理论、变量、方法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桥接分析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topic/cn_en_bridge_table.xlsx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连接中文议题、国际构念、理论机制和方法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选题库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topic/c_journal_idea_bank.md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生成 5-8 个 C 刊候选选题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双版本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topic/c_vs_ssci_topic_versions.md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输出 C 刊版本与 SSCI/SCI 版本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qc/topic_migration_audit.md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4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检查热点误用、构念错配和贡献夸大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925312"/>
            <a:ext cx="10561320" cy="51206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925312"/>
            <a:ext cx="73152" cy="5120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53328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提交底线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37376"/>
            <a:ext cx="10259568" cy="-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所有 CNKI 和英文文献都标注已核验或待核验；C 刊与 SSCI/SCI 版本不能只是互译。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53312"/>
          <a:ext cx="109728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297680"/>
                <a:gridCol w="5257800"/>
              </a:tblGrid>
              <a:tr h="554355"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Skills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中文总控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cnki-research-assistant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热点、趋势、期刊匹配、研究空白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趋势分析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cnki-trend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年度趋势、学科、期刊、机构和基金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热榜追踪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cnki-rank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下载榜、热词榜、新上榜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文献抓取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cnki-crawler-literature / cnki-crawler-topic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多排序抓取题录和主题文献池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浏览器检索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cnki-exp-search-automation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有头浏览器下处理高级搜索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英文前沿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ai4scholar-research / academic-research-openalex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国际构念、理论、顶刊文献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引用核验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citation-management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核验题名、作者、年份、DOI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97880"/>
            <a:ext cx="10561320" cy="51206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897880"/>
            <a:ext cx="73152" cy="5120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25896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合规提醒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09944"/>
            <a:ext cx="10259568" cy="-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CNKI 自动化只能用于合法访问和元数据整理；遇到验证码或访问限制时，手动处理或停止，不绕过限制。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1：创建工作区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52760" cy="21945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1050">
                <a:solidFill>
                  <a:srgbClr val="EEF2F7"/>
                </a:solidFill>
                <a:latin typeface="Courier New"/>
              </a:defRPr>
            </a:pPr>
            <a:r>
              <a:t>New-Item -ItemType Directory -Force -Path "D:\AI科研训练营\第06讲_CNKI中文选题与C刊迁移工作区"</a:t>
            </a:r>
            <a:br/>
            <a:r>
              <a:t>cd "D:\AI科研训练营\第06讲_CNKI中文选题与C刊迁移工作区"</a:t>
            </a:r>
            <a:br/>
            <a:br/>
            <a:r>
              <a:t>New-Item -ItemType Directory -Force -Path input,topic,reports,qc,output,skills</a:t>
            </a:r>
            <a:br/>
            <a:r>
              <a:t>New-Item -ItemType Directory -Force -Path input\lesson05_outputs,reports\cnki_trend,reports\cnki_auto,reports\english_frontier</a:t>
            </a:r>
            <a:br/>
            <a:r>
              <a:t>New-Item -ItemType File -Force -Path AGENTS.md,research_log.md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77639"/>
            <a:ext cx="4983480" cy="8686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977639"/>
            <a:ext cx="73152" cy="8686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05655"/>
            <a:ext cx="4709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检查标准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89704"/>
            <a:ext cx="46817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有 input、topic、reports、qc、skills 文件夹；有 AGENTS.md 和 research_log.md。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4983480" cy="8686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977639"/>
            <a:ext cx="73152" cy="8686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05655"/>
            <a:ext cx="4709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路径提醒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9704"/>
            <a:ext cx="46817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如果没有 D 盘，换成自己的项目盘。路径可以有中文，但不要同时散落在多个目录。</a:t>
            </a:r>
          </a:p>
        </p:txBody>
      </p:sp>
    </p:spTree>
  </p:cSld>
  <p:clrMapOvr>
    <a:masterClrMapping/>
  </p:clrMapOvr>
</p:sld>
</file>

<file path=ppt/slides/slide6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8F9F7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D74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50292"/><a:ext cx="2377440" cy="201168"/></a:xfrm><a:prstGeom prst="rect"><a:avLst/></a:prstGeom><a:noFill/></p:spPr><p:txBody><a:bodyPr wrap="square" lIns="45720" rIns="45720" tIns="18288" bIns="18288" anchor="t"><a:spAutoFit/></a:bodyPr><a:lstStyle/><a:p><a:pPr algn="l"><a:defRPr sz="850" b="1"><a:solidFill><a:srgbClr val="FFFFFF"/></a:solidFill><a:latin typeface="Microsoft YaHei"/></a:defRPr></a:pPr><a:r><a:t>第 06 讲 · CNKI 中文选题</a:t></a:r></a:p></p:txBody></p:sp><p:sp><p:nvSpPr><p:cNvPr id="4" name="TextBox 3"/><p:cNvSpPr txBox="1"/><p:nvPr/></p:nvSpPr><p:spPr><a:xfrm><a:off x="11155680" y="45720"/><a:ext cx="502920" cy="201168"/></a:xfrm><a:prstGeom prst="rect"><a:avLst/></a:prstGeom><a:noFill/></p:spPr><p:txBody><a:bodyPr wrap="square" lIns="45720" rIns="45720" tIns="18288" bIns="18288" anchor="t"><a:spAutoFit/></a:bodyPr><a:lstStyle/><a:p><a:pPr algn="r"><a:defRPr sz="900" b="1"><a:solidFill><a:srgbClr val="FFFFFF"/></a:solidFill><a:latin typeface="Microsoft YaHei"/></a:defRPr></a:pPr><a:r><a:t>06</a:t></a:r></a:p></p:txBody></p:sp><p:sp><p:nvSpPr><p:cNvPr id="5" name="TextBox 4"/><p:cNvSpPr txBox="1"/><p:nvPr/></p:nvSpPr><p:spPr><a:xfrm><a:off x="530352" y="548640"/><a:ext cx="10789920" cy="502920"/></a:xfrm><a:prstGeom prst="rect"><a:avLst/></a:prstGeom><a:noFill/></p:spPr><p:txBody><a:bodyPr wrap="square" lIns="45720" rIns="45720" tIns="18288" bIns="18288" anchor="t"><a:spAutoFit/></a:bodyPr><a:lstStyle/><a:p><a:pPr algn="l"><a:defRPr sz="2400" b="1"><a:solidFill><a:srgbClr val="202A36"/></a:solidFill><a:latin typeface="Microsoft YaHei"/></a:defRPr></a:pPr><a:r><a:t>实操 2：复制本讲 Skills</a:t></a:r></a:p></p:txBody></p:sp><p:sp><p:nvSpPr><p:cNvPr id="6" name="Rectangle 5"/><p:cNvSpPr/><p:nvPr/></p:nvSpPr><p:spPr><a:xfrm><a:off x="530352" y="1097280"/><a:ext cx="960120" cy="54864"/></a:xfrm><a:prstGeom prst="rect"><a:avLst/></a:prstGeom><a:solidFill><a:srgbClr val="B55D0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731520" y="1371600"/><a:ext cx="10744200" cy="2560320"/></a:xfrm><a:prstGeom prst="roundRect"><a:avLst/></a:prstGeom><a:solidFill><a:srgbClr val="1F2937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wrap="square" lIns="128016" rIns="109728" tIns="91440" bIns="73152"/><a:lstStyle/><a:p><a:pPr algn="ctr"><a:lnSpc><a:spcPct val="100000"/></a:lnSpc><a:defRPr sz="950"><a:solidFill><a:srgbClr val="EEF2F7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cnki-research-assistant,cnki-trend,cnki-rank,cnki-crawler-literature,cnki-crawler-topic,cnki-exp-search-automation,ai4scholar-research,academic-research-openalex,ai4scholar-auto-citation-bibtex,citation-management,literature-review,ssci-literature-review `</a:t></a:r><a:br/><a:r><a:t>  -Workspace "D:\AI科研训练营\第06讲_CNKI中文选题与C刊迁移工作区"</a:t></a:r></a:p></p:txBody></p:sp><p:sp><p:nvSpPr><p:cNvPr id="8" name="TextBox 7"/><p:cNvSpPr txBox="1"/><p:nvPr/></p:nvSpPr><p:spPr><a:xfrm><a:off x="868680" y="4343400"/><a:ext cx="10149840" cy="914400"/></a:xfrm><a:prstGeom prst="rect"><a:avLst/></a:prstGeom><a:noFill/></p:spPr><p:txBody><a:bodyPr wrap="square" lIns="73152" rIns="45720" tIns="18288" bIns="18288"><a:spAutoFit/></a:bodyPr><a:lstStyle/><a:p><a:pPr><a:lnSpc><a:spcPct val="105000"/></a:lnSpc><a:spcAft><a:spcPts val="300"/></a:spcAft><a:defRPr sz="1500"><a:solidFill><a:srgbClr val="202A36"/></a:solidFill><a:latin typeface="Microsoft YaHei"/></a:defRPr></a:pPr><a:r><a:t>复制后检查工作区 skills/ 文件夹。</a:t></a:r></a:p><a:p><a:pPr><a:lnSpc><a:spcPct val="105000"/></a:lnSpc><a:spcAft><a:spcPts val="300"/></a:spcAft><a:defRPr sz="1500"><a:solidFill><a:srgbClr val="202A36"/></a:solidFill><a:latin typeface="Microsoft YaHei"/></a:defRPr></a:pPr><a:r><a:t>缺失 Skill 记录在 research_log.md。</a:t></a:r></a:p><a:p><a:pPr><a:lnSpc><a:spcPct val="105000"/></a:lnSpc><a:spcAft><a:spcPts val="300"/></a:spcAft><a:defRPr sz="1500"><a:solidFill><a:srgbClr val="202A36"/></a:solidFill><a:latin typeface="Microsoft YaHei"/></a:defRPr></a:pPr><a:r><a:t>Skills 放当前工作区，不放 Codex 根目录。</a:t></a:r></a:p></p:txBody></p:sp><p:sp><p:nvSpPr><p:cNvPr id="9" name="Rounded Rectangle 8"/><p:cNvSpPr/><p:nvPr/></p:nvSpPr><p:spPr><a:xfrm><a:off x="868680" y="5532120"/><a:ext cx="10149840" cy="594360"/></a:xfrm><a:prstGeom prst="roundRect"><a:avLst/></a:prstGeom><a:solidFill><a:srgbClr val="E2EBFF"/></a:solidFill><a:ln w="10160"><a:solidFill><a:srgbClr val="D2D8DE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Rectangle 9"/><p:cNvSpPr/><p:nvPr/></p:nvSpPr><p:spPr><a:xfrm><a:off x="868680" y="5532120"/><a:ext cx="73152" cy="594360"/></a:xfrm><a:prstGeom prst="rect"><a:avLst/></a:prstGeom><a:solidFill><a:srgbClr val="2563EB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1" name="TextBox 10"/><p:cNvSpPr txBox="1"/><p:nvPr/></p:nvSpPr><p:spPr><a:xfrm><a:off x="1051560" y="5660136"/><a:ext cx="9875519" cy="292608"/></a:xfrm><a:prstGeom prst="rect"><a:avLst/></a:prstGeom><a:noFill/></p:spPr><p:txBody><a:bodyPr wrap="square" lIns="45720" rIns="45720" tIns="18288" bIns="18288" anchor="t"><a:spAutoFit/></a:bodyPr><a:lstStyle/><a:p><a:pPr algn="l"><a:defRPr sz="1400" b="1"><a:solidFill><a:srgbClr val="2563EB"/></a:solidFill><a:latin typeface="Microsoft YaHei"/></a:defRPr></a:pPr><a:r><a:t>课堂提醒</a:t></a:r></a:p></p:txBody></p:sp><p:sp><p:nvSpPr><p:cNvPr id="12" name="TextBox 11"/><p:cNvSpPr txBox="1"/><p:nvPr/></p:nvSpPr><p:spPr><a:xfrm><a:off x="1051560" y="6044183"/><a:ext cx="9848088" cy="9144"/></a:xfrm><a:prstGeom prst="rect"><a:avLst/></a:prstGeom><a:noFill/></p:spPr><p:txBody><a:bodyPr wrap="square" lIns="45720" rIns="45720" tIns="18288" bIns="18288" anchor="t"><a:spAutoFit/></a:bodyPr><a:lstStyle/><a:p><a:pPr algn="l"><a:defRPr sz="1250" b="0"><a:solidFill><a:srgbClr val="202A36"/></a:solidFill><a:latin typeface="Microsoft YaHei"/></a:defRPr></a:pPr><a:r><a:t>CNKI 相关 Skill 可能依赖网络、Cookie、数据库或浏览器；失败时记录原因，使用手动导出替代。</a:t></a:r></a:p></p:txBody></p:sp></p:spTree></p:cSld><p:clrMapOvr><a:masterClrMapping/></p:clrMapOvr>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3：写 AGENTS.md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897880" cy="32461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90">
                <a:solidFill>
                  <a:srgbClr val="EEF2F7"/>
                </a:solidFill>
                <a:latin typeface="Courier New"/>
              </a:defRPr>
            </a:pPr>
            <a:r>
              <a:t># 第06讲工作区 Agent 指令</a:t>
            </a:r>
            <a:br/>
            <a:br/>
            <a:r>
              <a:t>你是 CNKI 中文选题、C 刊迁移与中英文文献桥接助手。</a:t>
            </a:r>
            <a:br/>
            <a:br/>
            <a:r>
              <a:t>原则：</a:t>
            </a:r>
            <a:br/>
            <a:r>
              <a:t>- 禁止编造 CNKI 结果、中文文献、英文文献、DOI。</a:t>
            </a:r>
            <a:br/>
            <a:r>
              <a:t>- 不绕过 CNKI 验证码，不非法批量下载全文。</a:t>
            </a:r>
            <a:br/>
            <a:r>
              <a:t>- 政策材料只能作为语境，不能替代学术证据。</a:t>
            </a:r>
            <a:br/>
            <a:r>
              <a:t>- C 刊版本必须有中国问题意识、理论机制和方法路径。</a:t>
            </a:r>
            <a:br/>
            <a:r>
              <a:t>- SSCI/SCI 版本必须有国际理论缺口，不能只是“中国样本”。</a:t>
            </a:r>
            <a:br/>
            <a:r>
              <a:t>- 中英文桥接是构念、理论、机制和方法桥接，不是词汇翻译。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7728" y="1554480"/>
            <a:ext cx="4069080" cy="11887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7728" y="1554480"/>
            <a:ext cx="73152" cy="11887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682495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为什么要写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066543"/>
            <a:ext cx="3767328" cy="6035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本讲涉及中文平台和政策语境，最容易出现“热点即贡献”和“引用未核验”。AGENTS.md 用来提前设定边界。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3246120"/>
            <a:ext cx="40690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67728" y="324612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337413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可直接复制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758183"/>
            <a:ext cx="3767328" cy="1920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使用 lesson06_workspace_AGENTS_template.md，学生不需要从零写。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4480560"/>
            <a:ext cx="4069080" cy="77724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67728" y="4480560"/>
            <a:ext cx="73152" cy="7772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460857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不能省略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992624"/>
            <a:ext cx="3767328" cy="19202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没有约束时，Agent 可能把政策口号写成理论结论。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4：准备中英文关键词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4937760" cy="27432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1100">
                <a:solidFill>
                  <a:srgbClr val="EEF2F7"/>
                </a:solidFill>
                <a:latin typeface="Courier New"/>
              </a:defRPr>
            </a:pPr>
            <a:r>
              <a:t># input/cn_keywords.md</a:t>
            </a:r>
            <a:br/>
            <a:r>
              <a:t>## 主关键词</a:t>
            </a:r>
            <a:br/>
            <a:r>
              <a:t>## 同义词/近义词</a:t>
            </a:r>
            <a:br/>
            <a:r>
              <a:t>## 排除词</a:t>
            </a:r>
            <a:br/>
            <a:r>
              <a:t>## 学科范围</a:t>
            </a:r>
            <a:br/>
            <a:r>
              <a:t>## 目标发表</a:t>
            </a:r>
            <a:br/>
            <a:br/>
            <a:r>
              <a:t># input/en_keywords.md</a:t>
            </a:r>
            <a:br/>
            <a:r>
              <a:t>## 直接翻译</a:t>
            </a:r>
            <a:br/>
            <a:r>
              <a:t>## 国际构念</a:t>
            </a:r>
            <a:br/>
            <a:r>
              <a:t>## 国际理论</a:t>
            </a:r>
            <a:br/>
            <a:r>
              <a:t>## 方法词</a:t>
            </a:r>
            <a:br/>
            <a:r>
              <a:t>## 目标英文期刊或领域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029200" cy="987552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73152" cy="98755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9105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错误做法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75104"/>
            <a:ext cx="4727448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中文：新质生产力；英文：new quality productive forces。只做翻译，无法进入国际理论。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788920"/>
            <a:ext cx="5029200" cy="114300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788920"/>
            <a:ext cx="73152" cy="1143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916936"/>
            <a:ext cx="4754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正确方向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300984"/>
            <a:ext cx="4727448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先找国际构念：innovation capability、digital transformation、technology-enabled productivity，再判断中国情境是否提供新边界。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00600"/>
            <a:ext cx="10241280" cy="68580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800600"/>
            <a:ext cx="73152" cy="68580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928616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312664"/>
            <a:ext cx="9939528" cy="10058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英文关键词必须来自真实英文文献或领域惯用构念，不能凭中文直译。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5：构造 CNKI 检索策略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5806440" cy="233172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1050">
                <a:solidFill>
                  <a:srgbClr val="EEF2F7"/>
                </a:solidFill>
                <a:latin typeface="Courier New"/>
              </a:defRPr>
            </a:pPr>
            <a:r>
              <a:t># topic/cnki_search_strategy.md</a:t>
            </a:r>
            <a:br/>
            <a:br/>
            <a:r>
              <a:t>V1 宽检索：</a:t>
            </a:r>
            <a:br/>
            <a:r>
              <a:t>SU=('数据要素'+'数据资产'+'数据资源')</a:t>
            </a:r>
            <a:br/>
            <a:br/>
            <a:r>
              <a:t>V2 学科场景：</a:t>
            </a:r>
            <a:br/>
            <a:r>
              <a:t>SU=('数据要素'+'数据资产') and KY=('企业'+'创新'+'治理')</a:t>
            </a:r>
            <a:br/>
            <a:br/>
            <a:r>
              <a:t>V3 排除无关：</a:t>
            </a:r>
            <a:br/>
            <a:r>
              <a:t>SU=('数据要素'+'数据资产') and KY=('企业'+'创新') not KY=('会计准则')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03720" y="1417320"/>
          <a:ext cx="40690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50876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排序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发表时间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最新研究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CF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被引频次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权威研究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DFR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下载频次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热点研究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ZH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综合排序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相关研究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4251960"/>
            <a:ext cx="1014984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字段代码以 CNKI 或本地 Skill 字段表为准。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引号使用英文半角。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年份用参数，不写入检索式。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宽检索、学科检索、排除检索要分开保存。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6：运行 CNKI 趋势分析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10652760" cy="16002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1000">
                <a:solidFill>
                  <a:srgbClr val="EEF2F7"/>
                </a:solidFill>
                <a:latin typeface="Courier New"/>
              </a:defRPr>
            </a:pPr>
            <a:r>
              <a:t>cd "D:\AI科研训练营\第06讲_CNKI中文选题与C刊迁移工作区\skills\cnki-trend"</a:t>
            </a:r>
            <a:br/>
            <a:r>
              <a:t>python -m pip install -r scripts\requirements.txt</a:t>
            </a:r>
            <a:br/>
            <a:r>
              <a:t>python scripts\cnki_keyword_trend_report.py "数据要素" --output-dir "..\..\reports\cnki_trend\数据要素" --print-report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383280"/>
            <a:ext cx="5120640" cy="10972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383280"/>
            <a:ext cx="73152" cy="10972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51129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看什么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95344"/>
            <a:ext cx="4818888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年度趋势、近三年变化、学科分布、期刊分布、机构与基金信号。当前年份是 year-to-date。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383280"/>
            <a:ext cx="5120640" cy="109728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3383280"/>
            <a:ext cx="73152" cy="10972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1129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不能说什么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895344"/>
            <a:ext cx="4818888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趋势上升不等于因果关系；热点不等于学术贡献；当前年份数据不能直接与完整年份比较。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74920"/>
            <a:ext cx="10378440" cy="6400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74920"/>
            <a:ext cx="73152" cy="6400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2029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失败处理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586983"/>
            <a:ext cx="10076688" cy="548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网络、Cookie 或验证码失败时，记录在 qc/cnki_source_audit.md，改用手动导出。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7：整理中文文献筛选表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74419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699516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title / authors / journal / year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基础题录与来源核验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source_type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CSSCI/C刊/北核/普通期刊/学位论文等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theory / variables / method / data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判断是否有学术机制和可检验设计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contribution_claim / limitation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提取作者贡献与不足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c_journal_relevance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判断是否适合 C 刊选题参考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verification_status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已核验/待核验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303520"/>
            <a:ext cx="10378440" cy="64008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303520"/>
            <a:ext cx="731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4315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模板文件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15583"/>
            <a:ext cx="10076688" cy="548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cnki_literature_screening_template.xlsx 已放在本讲资料包中。学生复制后改名为 topic/cnki_literature_screening.xlsx。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8：生成中文主题地图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 CNKI 趋势、自动分析和中文文献筛选表整合成中文研究生态地图。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topic/cnki_topic_map.md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主题地图不是关键词云。它要能解释中文文献围绕什么问题展开。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19">
                <a:solidFill>
                  <a:srgbClr val="EEF2F7"/>
                </a:solidFill>
                <a:latin typeface="Courier New"/>
              </a:defRPr>
            </a:pPr>
            <a:r>
              <a:t>请基于 topic/cnki_literature_screening.xlsx、reports/cnki_trend 和 reports/cnki_auto，生成 topic/cnki_topic_map.md。</a:t>
            </a:r>
            <a:br/>
            <a:br/>
            <a:r>
              <a:t>按中文议题概览、年度趋势、学科分布、研究流派、理论方法、C 刊问题意识、中文研究不足、国际迁移可能性组织。</a:t>
            </a:r>
            <a:br/>
            <a:r>
              <a:t>不要逐篇摘要，不要把热点直接写成贡献。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有趋势判断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有研究流派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有理论和方法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 C 刊问题意识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有国际迁移可能性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中文主题地图结构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7442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823960"/>
              </a:tblGrid>
              <a:tr h="531495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要回答的问题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议题概览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这个中文议题是什么，边界在哪里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趋势分布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是否集中、扩散、上升或回落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研究流派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中文文献从哪些路线解释问题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理论方法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常用理论、变量、方法和数据是什么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 刊问题意识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哪些问题符合 C 刊讨论方式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研究不足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理论、机制、测量、数据或方法哪里不足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国际迁移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哪些问题能进入国际构念和理论机制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897880"/>
            <a:ext cx="10378440" cy="5029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897880"/>
            <a:ext cx="73152" cy="5029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02589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判断标准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409944"/>
            <a:ext cx="10076688" cy="-8229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读完主题地图，应能说清：这个议题不是因为热才值得做，而是因为现有解释仍有不足。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9：检索英文前沿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从中文议题中抽出国际构念、理论机制和方法词，而不是直接翻译关键词。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reports/english_frontier/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英文词表质量决定能否做 SSCI/SCI 迁移。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19">
                <a:solidFill>
                  <a:srgbClr val="EEF2F7"/>
                </a:solidFill>
                <a:latin typeface="Courier New"/>
              </a:defRPr>
            </a:pPr>
            <a:r>
              <a:t>请基于 input/cn_keywords.md、topic/cnki_topic_map.md 和第05讲输出，生成英文前沿检索策略。</a:t>
            </a:r>
            <a:br/>
            <a:br/>
            <a:r>
              <a:t>请输出：直译词、国际构念词、理论机制词、方法词、推荐检索式、推荐数据库或平台、需要核验的代表文献。</a:t>
            </a:r>
            <a:br/>
            <a:r>
              <a:t>不要只使用中文直译词。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有国际构念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有理论机制词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有代表英文文献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引用标注已核验或待核验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中英文桥接不是翻译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4937760" cy="9601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45336"/>
            <a:ext cx="4663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错误桥接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9384"/>
            <a:ext cx="463600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新质生产力 = new quality productive forces。只是词汇翻译，无法说明国际理论问题。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4937760" cy="114300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73152" cy="1143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45336"/>
            <a:ext cx="46634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正确桥接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9384"/>
            <a:ext cx="4636008" cy="5577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追问它对应国际文献中的哪个构念、机制或方法问题：innovation capability、digital transformation、technology-enabled productivity。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68680" y="3063240"/>
          <a:ext cx="102870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001000"/>
              </a:tblGrid>
              <a:tr h="484632"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中文议题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可能国际桥接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数据要素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data governance, data sharing, data-driven innovation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数字政府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e-government, algorithmic governance, public sector digital transformation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平台治理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platform governance, algorithmic control, ecosystem governance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智能制造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smart manufacturing, human-AI collaboration, industrial AI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10：生成中英文桥接表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把中文议题、国际构念、共同机制、中国情境和双版本选题放在同一张表里。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topic/cn_en_bridge_table.xlsx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桥接表是本讲最核心产物。没有桥接表，双版本选题容易变成空话。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19">
                <a:solidFill>
                  <a:srgbClr val="EEF2F7"/>
                </a:solidFill>
                <a:latin typeface="Courier New"/>
              </a:defRPr>
            </a:pPr>
            <a:r>
              <a:t>请基于 topic/cnki_topic_map.md 和 reports/english_frontier，生成 topic/cn_en_bridge_table.xlsx 的内容草稿。</a:t>
            </a:r>
            <a:br/>
            <a:br/>
            <a:r>
              <a:t>每一行说明：中文议题、中文语境、CNKI代表文献、国际构念、英文关键词、国际代表文献、国际理论、共同机制、中国情境新增了什么、C刊版本、SSCI/SCI版本、迁移风险。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不是词汇翻译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有共同机制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说明中国情境新增了什么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有迁移风险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有人工核验项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桥接表关键字段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7442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549640"/>
              </a:tblGrid>
              <a:tr h="531495"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中文议题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中国语境中的问题对象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国际构念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英文文献可识别的学术概念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共同机制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中英文文献都能理解的解释链条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中国情境新增了什么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新边界、新机制、新数据或新制度条件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C刊版本选题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中国问题意识优先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SSCI/SCI版本选题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国际理论缺口优先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迁移风险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是否只是样本替换、构念错配或贡献夸大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897880"/>
            <a:ext cx="10378440" cy="50292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897880"/>
            <a:ext cx="73152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02589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模板文件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409944"/>
            <a:ext cx="10076688" cy="-8229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cn_en_bridge_table_template.xlsx 已生成，学生可以直接复制到工作区 topic/ 下填写。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11：生成 C 刊选题库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从中文主题地图和桥接表中生成 5-8 个可讨论的 C 刊选题候选。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topic/c_journal_idea_bank.md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C 刊选题也必须有学术机制，不是政策作文。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19">
                <a:solidFill>
                  <a:srgbClr val="EEF2F7"/>
                </a:solidFill>
                <a:latin typeface="Courier New"/>
              </a:defRPr>
            </a:pPr>
            <a:r>
              <a:t>请基于 topic/cnki_topic_map.md 和 topic/cn_en_bridge_table.xlsx，生成 topic/c_journal_idea_bank.md。</a:t>
            </a:r>
            <a:br/>
            <a:br/>
            <a:r>
              <a:t>生成 5-8 个 C 刊选题候选。每个选题包含中文题目、问题意识、中国情境、学术缺口、理论机制、变量方法、数据来源、目标 C 刊方向、可迁移 SSCI/SCI 版本和审稿风险。</a:t>
            </a:r>
            <a:br/>
            <a:r>
              <a:t>禁止只写宏大题目。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题目不宏大空泛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有中国问题意识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有理论机制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有变量和方法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有审稿风险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弱选题与可修改版本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4709160" cy="82296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463040"/>
            <a:ext cx="73152" cy="8229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91056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弱选题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75104"/>
            <a:ext cx="4407408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数字经济赋能企业高质量发展研究。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651760"/>
            <a:ext cx="47091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51760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79776"/>
            <a:ext cx="44348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63824"/>
            <a:ext cx="440740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变量太泛；理论机制不清楚；方法无法确定；容易同质化。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463040"/>
            <a:ext cx="5120640" cy="105156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463040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59105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C 刊版本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75104"/>
            <a:ext cx="481888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数据要素市场化配置如何影响企业数字创新绩效？基于跨组织协同不确定性的机制解释。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2880360"/>
            <a:ext cx="5120640" cy="105156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288036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008376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SSCI/SCI 版本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392424"/>
            <a:ext cx="481888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How data marketization reduces inter-organizational coordination uncertainty and improves digital innovation performance.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709160"/>
            <a:ext cx="10332720" cy="73152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4709160"/>
            <a:ext cx="73152" cy="73152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837176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仍需核验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221224"/>
            <a:ext cx="1003096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CNKI 是否已有类似题目；国际文献是否已有成熟解释；中国情境是否提供新制度边界；数据是否可得。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12：生成双版本选题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将最强选题分别写成 C 刊版本和 SSCI/SCI 版本，并说明差异。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topic/c_vs_ssci_topic_versions.md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同一中文议题可以有两种发表逻辑，但不能只有一套论证。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19">
                <a:solidFill>
                  <a:srgbClr val="EEF2F7"/>
                </a:solidFill>
                <a:latin typeface="Courier New"/>
              </a:defRPr>
            </a:pPr>
            <a:r>
              <a:t>请基于 topic/c_journal_idea_bank.md，选择最强 2 个选题，生成 topic/c_vs_ssci_topic_versions.md。</a:t>
            </a:r>
            <a:br/>
            <a:br/>
            <a:r>
              <a:t>每个选题输出 C 刊版本和 SSCI/SCI 版本。C刊版本写中国问题意识、政策/实践语境、中文文献基础、理论机制、方法设计、贡献边界；SSCI/SCI版本写 international research question、theoretical gap、why Chinese context matters、mechanism、research design、contribution boundary。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两个版本不是互译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C 刊版本不是政策作文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SSCI/SCI 版本不是中国样本替换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都有贡献边界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C 刊版本与 SSCI/SCI 版本差异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417320"/>
          <a:ext cx="10744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663440"/>
                <a:gridCol w="4663440"/>
              </a:tblGrid>
              <a:tr h="655320"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 刊版本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SSCI/SCI 版本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起点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中国实践、制度、政策、治理场景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国际理论、普遍机制、跨情境解释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贡献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解释中国情境中的新问题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推进理论机制或边界条件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文献基础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中文核心/CSSCI + 必要英文前沿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SSCI/SCI 顶刊 + 可迁移中国情境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方法重点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严谨数据、识别和政策/实践解释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理论贡献、识别策略和可推广性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常见风险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政策表述多，理论机制弱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中国情境被认为只是样本替换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715000"/>
            <a:ext cx="10378440" cy="59436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715000"/>
            <a:ext cx="73152" cy="5943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84301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课堂判断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227064"/>
            <a:ext cx="10076688" cy="91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如果两个版本只是语言不同，说明你还没有完成学术迁移。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13：迁移风险审计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用导师和审稿人视角检查双版本选题是否站得住。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qc/topic_migration_audit.md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5156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0">
                <a:solidFill>
                  <a:srgbClr val="202A36"/>
                </a:solidFill>
                <a:latin typeface="Microsoft YaHei"/>
              </a:defRPr>
            </a:pPr>
            <a:r>
              <a:t>迁移审计的目标不是否定选题，而是避免错误投稿路径。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68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19">
                <a:solidFill>
                  <a:srgbClr val="EEF2F7"/>
                </a:solidFill>
                <a:latin typeface="Courier New"/>
              </a:defRPr>
            </a:pPr>
            <a:r>
              <a:t>请以严格导师和审稿人视角，审计 topic/c_vs_ssci_topic_versions.md，生成 qc/topic_migration_audit.md。</a:t>
            </a:r>
            <a:br/>
            <a:br/>
            <a:r>
              <a:t>检查：中文热点是否被误写成学术贡献、政策材料是否被误写成理论证据、C刊版本是否有问题意识和机制、SSCI/SCI版本是否只是中国样本替换、中英文构念是否真正对应、方法是否能支撑结论、引用是否真实可核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3891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列出致命问题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列出重要问题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推荐优先版本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70">
                <a:solidFill>
                  <a:srgbClr val="202A36"/>
                </a:solidFill>
                <a:latin typeface="Microsoft YaHei"/>
              </a:defRPr>
            </a:pPr>
            <a:r>
              <a:t>给出补充检索清单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CNKI 来源与合规审计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669280" cy="246888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不绕过验证码，不规避机构授权限制。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不非法批量下载全文；课堂只整理题录、摘要和元数据。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记录检索日期、检索式、排序、年份范围和数据来源。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脚本失败时记录网络、Cookie、验证码或权限原因。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00">
                <a:solidFill>
                  <a:srgbClr val="202A36"/>
                </a:solidFill>
                <a:latin typeface="Microsoft YaHei"/>
              </a:defRPr>
            </a:pPr>
            <a:r>
              <a:t>CNKI 结果需要人工复核：来源类型、期刊、作者、年份、摘要。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508760"/>
            <a:ext cx="4389120" cy="25146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1000">
                <a:solidFill>
                  <a:srgbClr val="EEF2F7"/>
                </a:solidFill>
                <a:latin typeface="Courier New"/>
              </a:defRPr>
            </a:pPr>
            <a:r>
              <a:t># qc/cnki_source_audit.md</a:t>
            </a:r>
            <a:br/>
            <a:br/>
            <a:r>
              <a:t>- 检索日期：</a:t>
            </a:r>
            <a:br/>
            <a:r>
              <a:t>- 检索式：</a:t>
            </a:r>
            <a:br/>
            <a:r>
              <a:t>- 数据来源：CNKI / 手动导出 / Skill 报告</a:t>
            </a:r>
            <a:br/>
            <a:r>
              <a:t>- 是否遇到验证码：</a:t>
            </a:r>
            <a:br/>
            <a:r>
              <a:t>- 是否只整理元数据：</a:t>
            </a:r>
            <a:br/>
            <a:r>
              <a:t>- 来源核验问题：</a:t>
            </a:r>
            <a:br/>
            <a:r>
              <a:t>- 待补充核验：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800600"/>
            <a:ext cx="10332720" cy="64008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800600"/>
            <a:ext cx="73152" cy="6400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28616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664"/>
            <a:ext cx="10030968" cy="548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300" b="0">
                <a:solidFill>
                  <a:srgbClr val="202A36"/>
                </a:solidFill>
                <a:latin typeface="Microsoft YaHei"/>
              </a:defRPr>
            </a:pPr>
            <a:r>
              <a:t>技术能力不能替代合规边界。CNKI 的访问限制必须尊重。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常见错误与修正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7160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703320"/>
                <a:gridCol w="484632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把政策热词当研究问题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只有现实意义，没有学术机制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落到变量、机制、方法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只看 CNKI 热度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选题同质化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结合英文前沿和目标期刊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英文词只做直译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找不到国际文献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转成国际构念和理论机制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C刊/SSCI版本互译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发表逻辑错位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分别写问题意识和理论缺口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中国情境夸大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被认为只是样本替换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说明新边界或新机制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引用未核验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学术风险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逐条核验题名、作者、年份、来源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课后提交要求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16002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提交文件夹：姓名_第06讲_CNKI中文选题与C刊迁移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必须包含检索策略、中文主题地图、中文文献筛选表、中英文桥接表、C 刊选题库、双版本选题、合规审计和迁移审计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附 300 字反思：中文议题如何被英文前沿、国际理论或 C 刊语境修正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50">
                <a:solidFill>
                  <a:srgbClr val="202A36"/>
                </a:solidFill>
                <a:latin typeface="Microsoft YaHei"/>
              </a:defRPr>
            </a:pPr>
            <a:r>
              <a:t>所有未核验引用必须保留“待核验”标记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65960" y="3474720"/>
          <a:ext cx="8092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05740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评分项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CNKI 检索策略与来源合规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中文主题地图质量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中英文桥接表质量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双版本选题质量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反思与审计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60120" y="5806440"/>
            <a:ext cx="10195560" cy="566928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5806440"/>
            <a:ext cx="73152" cy="566928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934455"/>
            <a:ext cx="9921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最低合格线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318504"/>
            <a:ext cx="989380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能说清：中文议题为什么值得做，国际文献对应什么构念，中国情境新增了什么，两个版本分别怎么投稿。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237744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06 讲 · CNKI 中文选题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教师课堂收尾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241280" cy="105156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36776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今天真正完成的事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0824"/>
            <a:ext cx="993952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不是让学生学会抓 CNKI，而是学会把中文议题变成可发表的问题结构，并判断它能否迁移到国际理论。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中文热点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4421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0997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CNKI地图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4693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74443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1019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C刊逻辑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64715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54465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1041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英文前沿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44737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34486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1062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桥接表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24758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14508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1084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双版本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04780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94530" y="3200400"/>
            <a:ext cx="1361149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31106" y="3328416"/>
            <a:ext cx="1287997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迁移审计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84802" y="3520440"/>
            <a:ext cx="91440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400" y="4736592"/>
            <a:ext cx="10241280" cy="8686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4736592"/>
            <a:ext cx="73152" cy="8686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4864607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248656"/>
            <a:ext cx="99395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补充真实文献核验，修改双版本选题，选择更适合当前资源和发表目标的版本优先推进。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